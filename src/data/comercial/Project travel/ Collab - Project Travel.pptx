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Lato"/>
      <p:regular r:id="rId25"/>
      <p:bold r:id="rId26"/>
      <p:italic r:id="rId27"/>
      <p:boldItalic r:id="rId28"/>
    </p:embeddedFont>
    <p:embeddedFont>
      <p:font typeface="Tahoma"/>
      <p:regular r:id="rId29"/>
      <p:bold r:id="rId30"/>
    </p:embeddedFont>
    <p:embeddedFont>
      <p:font typeface="Nunito Sans"/>
      <p:regular r:id="rId31"/>
      <p:bold r:id="rId32"/>
      <p:italic r:id="rId33"/>
      <p:boldItalic r:id="rId34"/>
    </p:embeddedFon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417">
          <p15:clr>
            <a:srgbClr val="747775"/>
          </p15:clr>
        </p15:guide>
      </p15:sldGuideLst>
    </p:ext>
    <p:ext uri="GoogleSlidesCustomDataVersion2">
      <go:slidesCustomData xmlns:go="http://customooxmlschemas.google.com/" r:id="rId39" roundtripDataSignature="AMtx7mjEnoM+EqN0Nurf9vvxH+wn12SE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F1E0AC-46CA-4597-A7B3-E328FA48EAB3}">
  <a:tblStyle styleId="{32F1E0AC-46CA-4597-A7B3-E328FA48EAB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1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Tahoma-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unitoSans-regular.fntdata"/><Relationship Id="rId30" Type="http://schemas.openxmlformats.org/officeDocument/2006/relationships/font" Target="fonts/Tahoma-bold.fntdata"/><Relationship Id="rId11" Type="http://schemas.openxmlformats.org/officeDocument/2006/relationships/slide" Target="slides/slide4.xml"/><Relationship Id="rId33" Type="http://schemas.openxmlformats.org/officeDocument/2006/relationships/font" Target="fonts/NunitoSans-italic.fntdata"/><Relationship Id="rId10" Type="http://schemas.openxmlformats.org/officeDocument/2006/relationships/slide" Target="slides/slide3.xml"/><Relationship Id="rId32" Type="http://schemas.openxmlformats.org/officeDocument/2006/relationships/font" Target="fonts/NunitoSans-bold.fntdata"/><Relationship Id="rId13" Type="http://schemas.openxmlformats.org/officeDocument/2006/relationships/slide" Target="slides/slide6.xml"/><Relationship Id="rId35" Type="http://schemas.openxmlformats.org/officeDocument/2006/relationships/font" Target="fonts/CenturyGothic-regular.fntdata"/><Relationship Id="rId12" Type="http://schemas.openxmlformats.org/officeDocument/2006/relationships/slide" Target="slides/slide5.xml"/><Relationship Id="rId34" Type="http://schemas.openxmlformats.org/officeDocument/2006/relationships/font" Target="fonts/NunitoSans-boldItalic.fntdata"/><Relationship Id="rId15" Type="http://schemas.openxmlformats.org/officeDocument/2006/relationships/slide" Target="slides/slide8.xml"/><Relationship Id="rId37" Type="http://schemas.openxmlformats.org/officeDocument/2006/relationships/font" Target="fonts/CenturyGothic-italic.fntdata"/><Relationship Id="rId14" Type="http://schemas.openxmlformats.org/officeDocument/2006/relationships/slide" Target="slides/slide7.xml"/><Relationship Id="rId36" Type="http://schemas.openxmlformats.org/officeDocument/2006/relationships/font" Target="fonts/CenturyGothic-bold.fntdata"/><Relationship Id="rId17" Type="http://schemas.openxmlformats.org/officeDocument/2006/relationships/slide" Target="slides/slide10.xml"/><Relationship Id="rId39" Type="http://customschemas.google.com/relationships/presentationmetadata" Target="metadata"/><Relationship Id="rId16" Type="http://schemas.openxmlformats.org/officeDocument/2006/relationships/slide" Target="slides/slide9.xml"/><Relationship Id="rId38" Type="http://schemas.openxmlformats.org/officeDocument/2006/relationships/font" Target="fonts/CenturyGothic-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331c9436a_0_1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9331c9436a_0_1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331c9436a_0_3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9331c9436a_0_31: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331c9436a_0_4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39331c9436a_0_41: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331c9436a_0_4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g39331c9436a_0_4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331c9436a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9331c9436a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2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24: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15" name="Google Shape;21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331c9436a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33" name="Google Shape;233;g39331c9436a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331c9436a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9331c9436a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331c9436a_0_7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9331c9436a_0_73: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331c9436a_0_8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9331c9436a_0_8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9331c9436a_0_9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9331c9436a_0_91: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76c59d471_0_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g3a76c59d471_0_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1467adb57_0_0: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g391467adb57_0_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5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 name="Shape 11"/>
        <p:cNvGrpSpPr/>
        <p:nvPr/>
      </p:nvGrpSpPr>
      <p:grpSpPr>
        <a:xfrm>
          <a:off x="0" y="0"/>
          <a:ext cx="0" cy="0"/>
          <a:chOff x="0" y="0"/>
          <a:chExt cx="0" cy="0"/>
        </a:xfrm>
      </p:grpSpPr>
      <p:sp>
        <p:nvSpPr>
          <p:cNvPr id="12" name="Google Shape;12;p56"/>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 name="Google Shape;13;p56"/>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56"/>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15000"/>
              </a:lnSpc>
              <a:spcBef>
                <a:spcPts val="600"/>
              </a:spcBef>
              <a:spcAft>
                <a:spcPts val="0"/>
              </a:spcAft>
              <a:buClr>
                <a:srgbClr val="CCCCCC"/>
              </a:buClr>
              <a:buSzPts val="2400"/>
              <a:buFont typeface="Georgia"/>
              <a:buNone/>
              <a:defRPr b="0" i="1"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pic>
        <p:nvPicPr>
          <p:cNvPr id="15" name="Google Shape;15;p5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6" name="Google Shape;16;p5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17" name="Shape 17"/>
        <p:cNvGrpSpPr/>
        <p:nvPr/>
      </p:nvGrpSpPr>
      <p:grpSpPr>
        <a:xfrm>
          <a:off x="0" y="0"/>
          <a:ext cx="0" cy="0"/>
          <a:chOff x="0" y="0"/>
          <a:chExt cx="0" cy="0"/>
        </a:xfrm>
      </p:grpSpPr>
      <p:sp>
        <p:nvSpPr>
          <p:cNvPr id="18" name="Google Shape;18;p58"/>
          <p:cNvSpPr/>
          <p:nvPr/>
        </p:nvSpPr>
        <p:spPr>
          <a:xfrm>
            <a:off x="0" y="4434879"/>
            <a:ext cx="9144000" cy="708660"/>
          </a:xfrm>
          <a:custGeom>
            <a:rect b="b" l="l" r="r" t="t"/>
            <a:pathLst>
              <a:path extrusionOk="0" h="708660" w="9144000">
                <a:moveTo>
                  <a:pt x="0" y="708619"/>
                </a:moveTo>
                <a:lnTo>
                  <a:pt x="9144000" y="708619"/>
                </a:lnTo>
                <a:lnTo>
                  <a:pt x="9144000" y="0"/>
                </a:lnTo>
                <a:lnTo>
                  <a:pt x="0" y="0"/>
                </a:lnTo>
                <a:lnTo>
                  <a:pt x="0" y="708619"/>
                </a:lnTo>
                <a:close/>
              </a:path>
            </a:pathLst>
          </a:custGeom>
          <a:solidFill>
            <a:srgbClr val="F1BB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58"/>
          <p:cNvSpPr/>
          <p:nvPr/>
        </p:nvSpPr>
        <p:spPr>
          <a:xfrm>
            <a:off x="0" y="0"/>
            <a:ext cx="9144635" cy="4435475"/>
          </a:xfrm>
          <a:custGeom>
            <a:rect b="b" l="l" r="r" t="t"/>
            <a:pathLst>
              <a:path extrusionOk="0" h="4435475" w="9144635">
                <a:moveTo>
                  <a:pt x="9144074" y="0"/>
                </a:moveTo>
                <a:lnTo>
                  <a:pt x="0" y="0"/>
                </a:lnTo>
                <a:lnTo>
                  <a:pt x="0" y="4434879"/>
                </a:lnTo>
                <a:lnTo>
                  <a:pt x="9144074" y="4434879"/>
                </a:lnTo>
                <a:lnTo>
                  <a:pt x="914407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0" name="Google Shape;20;p58"/>
          <p:cNvPicPr preferRelativeResize="0"/>
          <p:nvPr/>
        </p:nvPicPr>
        <p:blipFill rotWithShape="1">
          <a:blip r:embed="rId2">
            <a:alphaModFix/>
          </a:blip>
          <a:srcRect b="0" l="0" r="0" t="0"/>
          <a:stretch/>
        </p:blipFill>
        <p:spPr>
          <a:xfrm>
            <a:off x="0" y="4319015"/>
            <a:ext cx="9144000" cy="118871"/>
          </a:xfrm>
          <a:prstGeom prst="rect">
            <a:avLst/>
          </a:prstGeom>
          <a:noFill/>
          <a:ln>
            <a:noFill/>
          </a:ln>
        </p:spPr>
      </p:pic>
      <p:pic>
        <p:nvPicPr>
          <p:cNvPr id="21" name="Google Shape;21;p58"/>
          <p:cNvPicPr preferRelativeResize="0"/>
          <p:nvPr/>
        </p:nvPicPr>
        <p:blipFill rotWithShape="1">
          <a:blip r:embed="rId3">
            <a:alphaModFix/>
          </a:blip>
          <a:srcRect b="0" l="0" r="0" t="0"/>
          <a:stretch/>
        </p:blipFill>
        <p:spPr>
          <a:xfrm>
            <a:off x="341375" y="4520183"/>
            <a:ext cx="1301496" cy="457200"/>
          </a:xfrm>
          <a:prstGeom prst="rect">
            <a:avLst/>
          </a:prstGeom>
          <a:noFill/>
          <a:ln>
            <a:noFill/>
          </a:ln>
        </p:spPr>
      </p:pic>
      <p:pic>
        <p:nvPicPr>
          <p:cNvPr id="22" name="Google Shape;22;p58"/>
          <p:cNvPicPr preferRelativeResize="0"/>
          <p:nvPr/>
        </p:nvPicPr>
        <p:blipFill rotWithShape="1">
          <a:blip r:embed="rId4">
            <a:alphaModFix/>
          </a:blip>
          <a:srcRect b="0" l="0" r="0" t="0"/>
          <a:stretch/>
        </p:blipFill>
        <p:spPr>
          <a:xfrm>
            <a:off x="7835972" y="4451088"/>
            <a:ext cx="850850" cy="510511"/>
          </a:xfrm>
          <a:prstGeom prst="rect">
            <a:avLst/>
          </a:prstGeom>
          <a:noFill/>
          <a:ln>
            <a:noFill/>
          </a:ln>
        </p:spPr>
      </p:pic>
      <p:sp>
        <p:nvSpPr>
          <p:cNvPr id="23" name="Google Shape;23;p58"/>
          <p:cNvSpPr txBox="1"/>
          <p:nvPr>
            <p:ph type="title"/>
          </p:nvPr>
        </p:nvSpPr>
        <p:spPr>
          <a:xfrm>
            <a:off x="2879092" y="615188"/>
            <a:ext cx="3385800" cy="299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1" sz="1800">
                <a:solidFill>
                  <a:srgbClr val="F1C23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8"/>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58"/>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58"/>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p5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5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F1BB00"/>
        </a:solidFill>
      </p:bgPr>
    </p:bg>
    <p:spTree>
      <p:nvGrpSpPr>
        <p:cNvPr id="29" name="Shape 29"/>
        <p:cNvGrpSpPr/>
        <p:nvPr/>
      </p:nvGrpSpPr>
      <p:grpSpPr>
        <a:xfrm>
          <a:off x="0" y="0"/>
          <a:ext cx="0" cy="0"/>
          <a:chOff x="0" y="0"/>
          <a:chExt cx="0" cy="0"/>
        </a:xfrm>
      </p:grpSpPr>
      <p:sp>
        <p:nvSpPr>
          <p:cNvPr id="30" name="Google Shape;30;p96"/>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 name="Google Shape;31;p96"/>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96"/>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33" name="Google Shape;33;p96"/>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Lato"/>
                <a:ea typeface="Lato"/>
                <a:cs typeface="Lato"/>
                <a:sym typeface="Lato"/>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34" name="Google Shape;34;p9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9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36" name="Google Shape;36;p9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37" name="Shape 37"/>
        <p:cNvGrpSpPr/>
        <p:nvPr/>
      </p:nvGrpSpPr>
      <p:grpSpPr>
        <a:xfrm>
          <a:off x="0" y="0"/>
          <a:ext cx="0" cy="0"/>
          <a:chOff x="0" y="0"/>
          <a:chExt cx="0" cy="0"/>
        </a:xfrm>
      </p:grpSpPr>
      <p:sp>
        <p:nvSpPr>
          <p:cNvPr id="38" name="Google Shape;38;p97"/>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97"/>
          <p:cNvSpPr txBox="1"/>
          <p:nvPr>
            <p:ph type="ctrTitle"/>
          </p:nvPr>
        </p:nvSpPr>
        <p:spPr>
          <a:xfrm>
            <a:off x="468925" y="2387250"/>
            <a:ext cx="3636600" cy="2259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67031"/>
              </a:buClr>
              <a:buSzPts val="3000"/>
              <a:buFont typeface="Nunito Sans"/>
              <a:buNone/>
              <a:defRPr b="1" i="0" sz="30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9pPr>
          </a:lstStyle>
          <a:p/>
        </p:txBody>
      </p:sp>
      <p:sp>
        <p:nvSpPr>
          <p:cNvPr id="40" name="Google Shape;40;p97"/>
          <p:cNvSpPr/>
          <p:nvPr/>
        </p:nvSpPr>
        <p:spPr>
          <a:xfrm>
            <a:off x="4574900" y="-150"/>
            <a:ext cx="185400" cy="5143500"/>
          </a:xfrm>
          <a:prstGeom prst="rect">
            <a:avLst/>
          </a:prstGeom>
          <a:gradFill>
            <a:gsLst>
              <a:gs pos="0">
                <a:srgbClr val="000014">
                  <a:alpha val="48235"/>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_1_1">
    <p:spTree>
      <p:nvGrpSpPr>
        <p:cNvPr id="41" name="Shape 41"/>
        <p:cNvGrpSpPr/>
        <p:nvPr/>
      </p:nvGrpSpPr>
      <p:grpSpPr>
        <a:xfrm>
          <a:off x="0" y="0"/>
          <a:ext cx="0" cy="0"/>
          <a:chOff x="0" y="0"/>
          <a:chExt cx="0" cy="0"/>
        </a:xfrm>
      </p:grpSpPr>
      <p:sp>
        <p:nvSpPr>
          <p:cNvPr id="42" name="Google Shape;42;p98"/>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98"/>
          <p:cNvSpPr/>
          <p:nvPr/>
        </p:nvSpPr>
        <p:spPr>
          <a:xfrm>
            <a:off x="4574903"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 name="Google Shape;44;p98"/>
          <p:cNvSpPr txBox="1"/>
          <p:nvPr>
            <p:ph type="title"/>
          </p:nvPr>
        </p:nvSpPr>
        <p:spPr>
          <a:xfrm>
            <a:off x="511425" y="575500"/>
            <a:ext cx="3517200" cy="973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45" name="Google Shape;45;p9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98"/>
          <p:cNvSpPr txBox="1"/>
          <p:nvPr>
            <p:ph idx="1" type="body"/>
          </p:nvPr>
        </p:nvSpPr>
        <p:spPr>
          <a:xfrm>
            <a:off x="511425" y="1598600"/>
            <a:ext cx="3517200" cy="29577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_2">
    <p:spTree>
      <p:nvGrpSpPr>
        <p:cNvPr id="47" name="Shape 47"/>
        <p:cNvGrpSpPr/>
        <p:nvPr/>
      </p:nvGrpSpPr>
      <p:grpSpPr>
        <a:xfrm>
          <a:off x="0" y="0"/>
          <a:ext cx="0" cy="0"/>
          <a:chOff x="0" y="0"/>
          <a:chExt cx="0" cy="0"/>
        </a:xfrm>
      </p:grpSpPr>
      <p:sp>
        <p:nvSpPr>
          <p:cNvPr id="48" name="Google Shape;48;p99"/>
          <p:cNvSpPr/>
          <p:nvPr/>
        </p:nvSpPr>
        <p:spPr>
          <a:xfrm flipH="1">
            <a:off x="4568412"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99"/>
          <p:cNvSpPr txBox="1"/>
          <p:nvPr>
            <p:ph idx="1" type="subTitle"/>
          </p:nvPr>
        </p:nvSpPr>
        <p:spPr>
          <a:xfrm>
            <a:off x="646550" y="1989500"/>
            <a:ext cx="3246900" cy="2126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Clr>
                <a:srgbClr val="FFFFFF"/>
              </a:buClr>
              <a:buSzPts val="1400"/>
              <a:buFont typeface="Georgia"/>
              <a:buNone/>
              <a:defRPr b="0" i="1" sz="1400" u="none" cap="none" strike="noStrike">
                <a:solidFill>
                  <a:srgbClr val="FFFFFF"/>
                </a:solidFill>
                <a:latin typeface="Lato"/>
                <a:ea typeface="Lato"/>
                <a:cs typeface="Lato"/>
                <a:sym typeface="Lato"/>
              </a:defRPr>
            </a:lvl1pPr>
            <a:lvl2pPr lvl="1"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2pPr>
            <a:lvl3pPr lvl="2"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3pPr>
            <a:lvl4pPr lvl="3"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4pPr>
            <a:lvl5pPr lvl="4"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5pPr>
            <a:lvl6pPr lvl="5"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6pPr>
            <a:lvl7pPr lvl="6"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7pPr>
            <a:lvl8pPr lvl="7"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8pPr>
            <a:lvl9pPr lvl="8"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9pPr>
          </a:lstStyle>
          <a:p/>
        </p:txBody>
      </p:sp>
      <p:sp>
        <p:nvSpPr>
          <p:cNvPr id="50" name="Google Shape;50;p9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99"/>
          <p:cNvSpPr/>
          <p:nvPr/>
        </p:nvSpPr>
        <p:spPr>
          <a:xfrm flipH="1">
            <a:off x="4455300"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2" name="Google Shape;52;p99"/>
          <p:cNvSpPr txBox="1"/>
          <p:nvPr>
            <p:ph idx="2" type="body"/>
          </p:nvPr>
        </p:nvSpPr>
        <p:spPr>
          <a:xfrm>
            <a:off x="5130225" y="1016000"/>
            <a:ext cx="3470700" cy="30999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F1BB00"/>
              </a:buClr>
              <a:buSzPts val="1800"/>
              <a:buFont typeface="Nunito Sans"/>
              <a:buAutoNum type="arabicPeriod"/>
              <a:defRPr b="0" i="0" sz="1800" u="none" cap="none" strike="noStrike">
                <a:solidFill>
                  <a:srgbClr val="666666"/>
                </a:solidFill>
                <a:latin typeface="Lato"/>
                <a:ea typeface="Lato"/>
                <a:cs typeface="Lato"/>
                <a:sym typeface="Lato"/>
              </a:defRPr>
            </a:lvl1pPr>
            <a:lvl2pPr indent="-317500" lvl="1" marL="914400" marR="0" algn="l">
              <a:lnSpc>
                <a:spcPct val="115000"/>
              </a:lnSpc>
              <a:spcBef>
                <a:spcPts val="1000"/>
              </a:spcBef>
              <a:spcAft>
                <a:spcPts val="0"/>
              </a:spcAft>
              <a:buClr>
                <a:srgbClr val="CCCCCC"/>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2pPr>
            <a:lvl3pPr indent="-317500" lvl="2" marL="1371600" marR="0" algn="l">
              <a:lnSpc>
                <a:spcPct val="115000"/>
              </a:lnSpc>
              <a:spcBef>
                <a:spcPts val="1000"/>
              </a:spcBef>
              <a:spcAft>
                <a:spcPts val="0"/>
              </a:spcAft>
              <a:buClr>
                <a:srgbClr val="CCCCCC"/>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3pPr>
            <a:lvl4pPr indent="-317500" lvl="3" marL="1828800" marR="0" algn="l">
              <a:lnSpc>
                <a:spcPct val="115000"/>
              </a:lnSpc>
              <a:spcBef>
                <a:spcPts val="1000"/>
              </a:spcBef>
              <a:spcAft>
                <a:spcPts val="0"/>
              </a:spcAft>
              <a:buClr>
                <a:srgbClr val="CCCCCC"/>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4pPr>
            <a:lvl5pPr indent="-317500" lvl="4" marL="22860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5pPr>
            <a:lvl6pPr indent="-317500" lvl="5" marL="2743200" marR="0" algn="l">
              <a:lnSpc>
                <a:spcPct val="115000"/>
              </a:lnSpc>
              <a:spcBef>
                <a:spcPts val="1000"/>
              </a:spcBef>
              <a:spcAft>
                <a:spcPts val="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6pPr>
            <a:lvl7pPr indent="-317500" lvl="6" marL="3200400" marR="0" algn="l">
              <a:lnSpc>
                <a:spcPct val="115000"/>
              </a:lnSpc>
              <a:spcBef>
                <a:spcPts val="1000"/>
              </a:spcBef>
              <a:spcAft>
                <a:spcPts val="0"/>
              </a:spcAft>
              <a:buClr>
                <a:srgbClr val="999999"/>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7pPr>
            <a:lvl8pPr indent="-317500" lvl="7" marL="36576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8pPr>
            <a:lvl9pPr indent="-317500" lvl="8" marL="4114800" marR="0" algn="l">
              <a:lnSpc>
                <a:spcPct val="115000"/>
              </a:lnSpc>
              <a:spcBef>
                <a:spcPts val="1000"/>
              </a:spcBef>
              <a:spcAft>
                <a:spcPts val="100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9pPr>
          </a:lstStyle>
          <a:p/>
        </p:txBody>
      </p:sp>
      <p:sp>
        <p:nvSpPr>
          <p:cNvPr id="53" name="Google Shape;53;p99"/>
          <p:cNvSpPr txBox="1"/>
          <p:nvPr>
            <p:ph type="title"/>
          </p:nvPr>
        </p:nvSpPr>
        <p:spPr>
          <a:xfrm>
            <a:off x="646573" y="1016000"/>
            <a:ext cx="3246900" cy="973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 + 3 columns">
    <p:spTree>
      <p:nvGrpSpPr>
        <p:cNvPr id="54" name="Shape 54"/>
        <p:cNvGrpSpPr/>
        <p:nvPr/>
      </p:nvGrpSpPr>
      <p:grpSpPr>
        <a:xfrm>
          <a:off x="0" y="0"/>
          <a:ext cx="0" cy="0"/>
          <a:chOff x="0" y="0"/>
          <a:chExt cx="0" cy="0"/>
        </a:xfrm>
      </p:grpSpPr>
      <p:sp>
        <p:nvSpPr>
          <p:cNvPr id="55" name="Google Shape;55;p100"/>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 name="Google Shape;56;p100"/>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00"/>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1"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58" name="Google Shape;58;p100"/>
          <p:cNvSpPr txBox="1"/>
          <p:nvPr>
            <p:ph idx="1" type="body"/>
          </p:nvPr>
        </p:nvSpPr>
        <p:spPr>
          <a:xfrm>
            <a:off x="3069325"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59" name="Google Shape;59;p100"/>
          <p:cNvSpPr txBox="1"/>
          <p:nvPr>
            <p:ph idx="2" type="body"/>
          </p:nvPr>
        </p:nvSpPr>
        <p:spPr>
          <a:xfrm>
            <a:off x="495100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60" name="Google Shape;60;p100"/>
          <p:cNvSpPr txBox="1"/>
          <p:nvPr>
            <p:ph idx="3" type="body"/>
          </p:nvPr>
        </p:nvSpPr>
        <p:spPr>
          <a:xfrm>
            <a:off x="683268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61" name="Google Shape;61;p100"/>
          <p:cNvSpPr txBox="1"/>
          <p:nvPr>
            <p:ph idx="12" type="sldNum"/>
          </p:nvPr>
        </p:nvSpPr>
        <p:spPr>
          <a:xfrm>
            <a:off x="8556784" y="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62" name="Google Shape;62;p100"/>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63" name="Google Shape;63;p100"/>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left">
  <p:cSld name="TITLE_AND_BODY_1_1">
    <p:bg>
      <p:bgPr>
        <a:solidFill>
          <a:srgbClr val="F1BB00"/>
        </a:solidFill>
      </p:bgPr>
    </p:bg>
    <p:spTree>
      <p:nvGrpSpPr>
        <p:cNvPr id="64" name="Shape 64"/>
        <p:cNvGrpSpPr/>
        <p:nvPr/>
      </p:nvGrpSpPr>
      <p:grpSpPr>
        <a:xfrm>
          <a:off x="0" y="0"/>
          <a:ext cx="0" cy="0"/>
          <a:chOff x="0" y="0"/>
          <a:chExt cx="0" cy="0"/>
        </a:xfrm>
      </p:grpSpPr>
      <p:sp>
        <p:nvSpPr>
          <p:cNvPr id="65" name="Google Shape;65;p101"/>
          <p:cNvSpPr/>
          <p:nvPr/>
        </p:nvSpPr>
        <p:spPr>
          <a:xfrm flipH="1">
            <a:off x="-7125" y="0"/>
            <a:ext cx="2592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01"/>
          <p:cNvSpPr/>
          <p:nvPr/>
        </p:nvSpPr>
        <p:spPr>
          <a:xfrm>
            <a:off x="2585478"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7" name="Google Shape;67;p101"/>
          <p:cNvSpPr txBox="1"/>
          <p:nvPr>
            <p:ph type="title"/>
          </p:nvPr>
        </p:nvSpPr>
        <p:spPr>
          <a:xfrm>
            <a:off x="234450" y="575500"/>
            <a:ext cx="2046300" cy="13641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68" name="Google Shape;68;p10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101"/>
          <p:cNvSpPr txBox="1"/>
          <p:nvPr>
            <p:ph idx="1" type="body"/>
          </p:nvPr>
        </p:nvSpPr>
        <p:spPr>
          <a:xfrm>
            <a:off x="234450" y="2004325"/>
            <a:ext cx="2046300" cy="25521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70" name="Shape 70"/>
        <p:cNvGrpSpPr/>
        <p:nvPr/>
      </p:nvGrpSpPr>
      <p:grpSpPr>
        <a:xfrm>
          <a:off x="0" y="0"/>
          <a:ext cx="0" cy="0"/>
          <a:chOff x="0" y="0"/>
          <a:chExt cx="0" cy="0"/>
        </a:xfrm>
      </p:grpSpPr>
      <p:sp>
        <p:nvSpPr>
          <p:cNvPr id="71" name="Google Shape;71;p102"/>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2" name="Google Shape;72;p102"/>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2"/>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381000" lvl="0" marL="457200" marR="0" algn="ctr">
              <a:lnSpc>
                <a:spcPct val="115000"/>
              </a:lnSpc>
              <a:spcBef>
                <a:spcPts val="60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sp>
        <p:nvSpPr>
          <p:cNvPr id="74" name="Google Shape;74;p10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75" name="Shape 75"/>
        <p:cNvGrpSpPr/>
        <p:nvPr/>
      </p:nvGrpSpPr>
      <p:grpSpPr>
        <a:xfrm>
          <a:off x="0" y="0"/>
          <a:ext cx="0" cy="0"/>
          <a:chOff x="0" y="0"/>
          <a:chExt cx="0" cy="0"/>
        </a:xfrm>
      </p:grpSpPr>
      <p:sp>
        <p:nvSpPr>
          <p:cNvPr id="76" name="Google Shape;76;p103"/>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7" name="Google Shape;77;p103"/>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03"/>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79" name="Google Shape;79;p103"/>
          <p:cNvSpPr txBox="1"/>
          <p:nvPr>
            <p:ph idx="1" type="body"/>
          </p:nvPr>
        </p:nvSpPr>
        <p:spPr>
          <a:xfrm>
            <a:off x="3062200"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80" name="Google Shape;80;p103"/>
          <p:cNvSpPr txBox="1"/>
          <p:nvPr>
            <p:ph idx="2" type="body"/>
          </p:nvPr>
        </p:nvSpPr>
        <p:spPr>
          <a:xfrm>
            <a:off x="5956701"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81" name="Google Shape;81;p10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5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88" name="Shape 88"/>
        <p:cNvGrpSpPr/>
        <p:nvPr/>
      </p:nvGrpSpPr>
      <p:grpSpPr>
        <a:xfrm>
          <a:off x="0" y="0"/>
          <a:ext cx="0" cy="0"/>
          <a:chOff x="0" y="0"/>
          <a:chExt cx="0" cy="0"/>
        </a:xfrm>
      </p:grpSpPr>
      <p:sp>
        <p:nvSpPr>
          <p:cNvPr id="89" name="Google Shape;89;p42"/>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0" name="Google Shape;90;p42"/>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2"/>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15000"/>
              </a:lnSpc>
              <a:spcBef>
                <a:spcPts val="600"/>
              </a:spcBef>
              <a:spcAft>
                <a:spcPts val="0"/>
              </a:spcAft>
              <a:buClr>
                <a:srgbClr val="CCCCCC"/>
              </a:buClr>
              <a:buSzPts val="2400"/>
              <a:buFont typeface="Georgia"/>
              <a:buNone/>
              <a:defRPr b="0" i="1"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pic>
        <p:nvPicPr>
          <p:cNvPr id="92" name="Google Shape;92;p42"/>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93" name="Google Shape;93;p42"/>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F1BB00"/>
        </a:solidFill>
      </p:bgPr>
    </p:bg>
    <p:spTree>
      <p:nvGrpSpPr>
        <p:cNvPr id="94" name="Shape 94"/>
        <p:cNvGrpSpPr/>
        <p:nvPr/>
      </p:nvGrpSpPr>
      <p:grpSpPr>
        <a:xfrm>
          <a:off x="0" y="0"/>
          <a:ext cx="0" cy="0"/>
          <a:chOff x="0" y="0"/>
          <a:chExt cx="0" cy="0"/>
        </a:xfrm>
      </p:grpSpPr>
      <p:sp>
        <p:nvSpPr>
          <p:cNvPr id="95" name="Google Shape;95;p53"/>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6" name="Google Shape;96;p53"/>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3"/>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98" name="Google Shape;98;p53"/>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Lato"/>
                <a:ea typeface="Lato"/>
                <a:cs typeface="Lato"/>
                <a:sym typeface="Lato"/>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99" name="Google Shape;99;p5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100" name="Google Shape;100;p53"/>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01" name="Google Shape;101;p53"/>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_1_1">
    <p:spTree>
      <p:nvGrpSpPr>
        <p:cNvPr id="102" name="Shape 102"/>
        <p:cNvGrpSpPr/>
        <p:nvPr/>
      </p:nvGrpSpPr>
      <p:grpSpPr>
        <a:xfrm>
          <a:off x="0" y="0"/>
          <a:ext cx="0" cy="0"/>
          <a:chOff x="0" y="0"/>
          <a:chExt cx="0" cy="0"/>
        </a:xfrm>
      </p:grpSpPr>
      <p:sp>
        <p:nvSpPr>
          <p:cNvPr id="103" name="Google Shape;103;p54"/>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4"/>
          <p:cNvSpPr/>
          <p:nvPr/>
        </p:nvSpPr>
        <p:spPr>
          <a:xfrm>
            <a:off x="4574903"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 name="Google Shape;105;p54"/>
          <p:cNvSpPr txBox="1"/>
          <p:nvPr>
            <p:ph type="title"/>
          </p:nvPr>
        </p:nvSpPr>
        <p:spPr>
          <a:xfrm>
            <a:off x="511425" y="575500"/>
            <a:ext cx="3517200" cy="973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106" name="Google Shape;106;p5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54"/>
          <p:cNvSpPr txBox="1"/>
          <p:nvPr>
            <p:ph idx="1" type="body"/>
          </p:nvPr>
        </p:nvSpPr>
        <p:spPr>
          <a:xfrm>
            <a:off x="511425" y="1598600"/>
            <a:ext cx="3517200" cy="29577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08" name="Shape 108"/>
        <p:cNvGrpSpPr/>
        <p:nvPr/>
      </p:nvGrpSpPr>
      <p:grpSpPr>
        <a:xfrm>
          <a:off x="0" y="0"/>
          <a:ext cx="0" cy="0"/>
          <a:chOff x="0" y="0"/>
          <a:chExt cx="0" cy="0"/>
        </a:xfrm>
      </p:grpSpPr>
      <p:sp>
        <p:nvSpPr>
          <p:cNvPr id="109" name="Google Shape;109;p104"/>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04"/>
          <p:cNvSpPr txBox="1"/>
          <p:nvPr>
            <p:ph type="ctrTitle"/>
          </p:nvPr>
        </p:nvSpPr>
        <p:spPr>
          <a:xfrm>
            <a:off x="468925" y="2387250"/>
            <a:ext cx="3636600" cy="2259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67031"/>
              </a:buClr>
              <a:buSzPts val="3000"/>
              <a:buFont typeface="Nunito Sans"/>
              <a:buNone/>
              <a:defRPr b="1" i="0" sz="30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9pPr>
          </a:lstStyle>
          <a:p/>
        </p:txBody>
      </p:sp>
      <p:sp>
        <p:nvSpPr>
          <p:cNvPr id="111" name="Google Shape;111;p104"/>
          <p:cNvSpPr/>
          <p:nvPr/>
        </p:nvSpPr>
        <p:spPr>
          <a:xfrm>
            <a:off x="4574900" y="-150"/>
            <a:ext cx="185400" cy="5143500"/>
          </a:xfrm>
          <a:prstGeom prst="rect">
            <a:avLst/>
          </a:prstGeom>
          <a:gradFill>
            <a:gsLst>
              <a:gs pos="0">
                <a:srgbClr val="000014">
                  <a:alpha val="48235"/>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_2">
    <p:spTree>
      <p:nvGrpSpPr>
        <p:cNvPr id="112" name="Shape 112"/>
        <p:cNvGrpSpPr/>
        <p:nvPr/>
      </p:nvGrpSpPr>
      <p:grpSpPr>
        <a:xfrm>
          <a:off x="0" y="0"/>
          <a:ext cx="0" cy="0"/>
          <a:chOff x="0" y="0"/>
          <a:chExt cx="0" cy="0"/>
        </a:xfrm>
      </p:grpSpPr>
      <p:sp>
        <p:nvSpPr>
          <p:cNvPr id="113" name="Google Shape;113;p105"/>
          <p:cNvSpPr/>
          <p:nvPr/>
        </p:nvSpPr>
        <p:spPr>
          <a:xfrm flipH="1">
            <a:off x="4568412"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05"/>
          <p:cNvSpPr txBox="1"/>
          <p:nvPr>
            <p:ph idx="1" type="subTitle"/>
          </p:nvPr>
        </p:nvSpPr>
        <p:spPr>
          <a:xfrm>
            <a:off x="646550" y="1989500"/>
            <a:ext cx="3246900" cy="2126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Clr>
                <a:srgbClr val="FFFFFF"/>
              </a:buClr>
              <a:buSzPts val="1400"/>
              <a:buFont typeface="Georgia"/>
              <a:buNone/>
              <a:defRPr b="0" i="1" sz="1400" u="none" cap="none" strike="noStrike">
                <a:solidFill>
                  <a:srgbClr val="FFFFFF"/>
                </a:solidFill>
                <a:latin typeface="Lato"/>
                <a:ea typeface="Lato"/>
                <a:cs typeface="Lato"/>
                <a:sym typeface="Lato"/>
              </a:defRPr>
            </a:lvl1pPr>
            <a:lvl2pPr lvl="1"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2pPr>
            <a:lvl3pPr lvl="2"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3pPr>
            <a:lvl4pPr lvl="3"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4pPr>
            <a:lvl5pPr lvl="4"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5pPr>
            <a:lvl6pPr lvl="5"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6pPr>
            <a:lvl7pPr lvl="6"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7pPr>
            <a:lvl8pPr lvl="7"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8pPr>
            <a:lvl9pPr lvl="8"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9pPr>
          </a:lstStyle>
          <a:p/>
        </p:txBody>
      </p:sp>
      <p:sp>
        <p:nvSpPr>
          <p:cNvPr id="115" name="Google Shape;115;p10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16" name="Google Shape;116;p105"/>
          <p:cNvSpPr/>
          <p:nvPr/>
        </p:nvSpPr>
        <p:spPr>
          <a:xfrm flipH="1">
            <a:off x="4455300"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7" name="Google Shape;117;p105"/>
          <p:cNvSpPr txBox="1"/>
          <p:nvPr>
            <p:ph idx="2" type="body"/>
          </p:nvPr>
        </p:nvSpPr>
        <p:spPr>
          <a:xfrm>
            <a:off x="5130225" y="1016000"/>
            <a:ext cx="3470700" cy="30999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F1BB00"/>
              </a:buClr>
              <a:buSzPts val="1800"/>
              <a:buFont typeface="Nunito Sans"/>
              <a:buAutoNum type="arabicPeriod"/>
              <a:defRPr b="0" i="0" sz="1800" u="none" cap="none" strike="noStrike">
                <a:solidFill>
                  <a:srgbClr val="666666"/>
                </a:solidFill>
                <a:latin typeface="Lato"/>
                <a:ea typeface="Lato"/>
                <a:cs typeface="Lato"/>
                <a:sym typeface="Lato"/>
              </a:defRPr>
            </a:lvl1pPr>
            <a:lvl2pPr indent="-317500" lvl="1" marL="914400" marR="0" algn="l">
              <a:lnSpc>
                <a:spcPct val="115000"/>
              </a:lnSpc>
              <a:spcBef>
                <a:spcPts val="1000"/>
              </a:spcBef>
              <a:spcAft>
                <a:spcPts val="0"/>
              </a:spcAft>
              <a:buClr>
                <a:srgbClr val="CCCCCC"/>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2pPr>
            <a:lvl3pPr indent="-317500" lvl="2" marL="1371600" marR="0" algn="l">
              <a:lnSpc>
                <a:spcPct val="115000"/>
              </a:lnSpc>
              <a:spcBef>
                <a:spcPts val="1000"/>
              </a:spcBef>
              <a:spcAft>
                <a:spcPts val="0"/>
              </a:spcAft>
              <a:buClr>
                <a:srgbClr val="CCCCCC"/>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3pPr>
            <a:lvl4pPr indent="-317500" lvl="3" marL="1828800" marR="0" algn="l">
              <a:lnSpc>
                <a:spcPct val="115000"/>
              </a:lnSpc>
              <a:spcBef>
                <a:spcPts val="1000"/>
              </a:spcBef>
              <a:spcAft>
                <a:spcPts val="0"/>
              </a:spcAft>
              <a:buClr>
                <a:srgbClr val="CCCCCC"/>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4pPr>
            <a:lvl5pPr indent="-317500" lvl="4" marL="22860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5pPr>
            <a:lvl6pPr indent="-317500" lvl="5" marL="2743200" marR="0" algn="l">
              <a:lnSpc>
                <a:spcPct val="115000"/>
              </a:lnSpc>
              <a:spcBef>
                <a:spcPts val="1000"/>
              </a:spcBef>
              <a:spcAft>
                <a:spcPts val="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6pPr>
            <a:lvl7pPr indent="-317500" lvl="6" marL="3200400" marR="0" algn="l">
              <a:lnSpc>
                <a:spcPct val="115000"/>
              </a:lnSpc>
              <a:spcBef>
                <a:spcPts val="1000"/>
              </a:spcBef>
              <a:spcAft>
                <a:spcPts val="0"/>
              </a:spcAft>
              <a:buClr>
                <a:srgbClr val="999999"/>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7pPr>
            <a:lvl8pPr indent="-317500" lvl="7" marL="36576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8pPr>
            <a:lvl9pPr indent="-317500" lvl="8" marL="4114800" marR="0" algn="l">
              <a:lnSpc>
                <a:spcPct val="115000"/>
              </a:lnSpc>
              <a:spcBef>
                <a:spcPts val="1000"/>
              </a:spcBef>
              <a:spcAft>
                <a:spcPts val="100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9pPr>
          </a:lstStyle>
          <a:p/>
        </p:txBody>
      </p:sp>
      <p:sp>
        <p:nvSpPr>
          <p:cNvPr id="118" name="Google Shape;118;p105"/>
          <p:cNvSpPr txBox="1"/>
          <p:nvPr>
            <p:ph type="title"/>
          </p:nvPr>
        </p:nvSpPr>
        <p:spPr>
          <a:xfrm>
            <a:off x="646573" y="1016000"/>
            <a:ext cx="3246900" cy="973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 + 3 columns">
    <p:spTree>
      <p:nvGrpSpPr>
        <p:cNvPr id="119" name="Shape 119"/>
        <p:cNvGrpSpPr/>
        <p:nvPr/>
      </p:nvGrpSpPr>
      <p:grpSpPr>
        <a:xfrm>
          <a:off x="0" y="0"/>
          <a:ext cx="0" cy="0"/>
          <a:chOff x="0" y="0"/>
          <a:chExt cx="0" cy="0"/>
        </a:xfrm>
      </p:grpSpPr>
      <p:sp>
        <p:nvSpPr>
          <p:cNvPr id="120" name="Google Shape;120;p106"/>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1" name="Google Shape;121;p106"/>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06"/>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1"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23" name="Google Shape;123;p106"/>
          <p:cNvSpPr txBox="1"/>
          <p:nvPr>
            <p:ph idx="1" type="body"/>
          </p:nvPr>
        </p:nvSpPr>
        <p:spPr>
          <a:xfrm>
            <a:off x="3069325"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4" name="Google Shape;124;p106"/>
          <p:cNvSpPr txBox="1"/>
          <p:nvPr>
            <p:ph idx="2" type="body"/>
          </p:nvPr>
        </p:nvSpPr>
        <p:spPr>
          <a:xfrm>
            <a:off x="495100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5" name="Google Shape;125;p106"/>
          <p:cNvSpPr txBox="1"/>
          <p:nvPr>
            <p:ph idx="3" type="body"/>
          </p:nvPr>
        </p:nvSpPr>
        <p:spPr>
          <a:xfrm>
            <a:off x="683268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6" name="Google Shape;126;p106"/>
          <p:cNvSpPr txBox="1"/>
          <p:nvPr>
            <p:ph idx="12" type="sldNum"/>
          </p:nvPr>
        </p:nvSpPr>
        <p:spPr>
          <a:xfrm>
            <a:off x="8556784" y="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127" name="Google Shape;127;p10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28" name="Google Shape;128;p10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left">
  <p:cSld name="TITLE_AND_BODY_1_1">
    <p:bg>
      <p:bgPr>
        <a:solidFill>
          <a:srgbClr val="F1BB00"/>
        </a:solidFill>
      </p:bgPr>
    </p:bg>
    <p:spTree>
      <p:nvGrpSpPr>
        <p:cNvPr id="129" name="Shape 129"/>
        <p:cNvGrpSpPr/>
        <p:nvPr/>
      </p:nvGrpSpPr>
      <p:grpSpPr>
        <a:xfrm>
          <a:off x="0" y="0"/>
          <a:ext cx="0" cy="0"/>
          <a:chOff x="0" y="0"/>
          <a:chExt cx="0" cy="0"/>
        </a:xfrm>
      </p:grpSpPr>
      <p:sp>
        <p:nvSpPr>
          <p:cNvPr id="130" name="Google Shape;130;p107"/>
          <p:cNvSpPr/>
          <p:nvPr/>
        </p:nvSpPr>
        <p:spPr>
          <a:xfrm flipH="1">
            <a:off x="-7125" y="0"/>
            <a:ext cx="2592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07"/>
          <p:cNvSpPr/>
          <p:nvPr/>
        </p:nvSpPr>
        <p:spPr>
          <a:xfrm>
            <a:off x="2585478"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2" name="Google Shape;132;p107"/>
          <p:cNvSpPr txBox="1"/>
          <p:nvPr>
            <p:ph type="title"/>
          </p:nvPr>
        </p:nvSpPr>
        <p:spPr>
          <a:xfrm>
            <a:off x="234450" y="575500"/>
            <a:ext cx="2046300" cy="13641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133" name="Google Shape;133;p10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34" name="Google Shape;134;p107"/>
          <p:cNvSpPr txBox="1"/>
          <p:nvPr>
            <p:ph idx="1" type="body"/>
          </p:nvPr>
        </p:nvSpPr>
        <p:spPr>
          <a:xfrm>
            <a:off x="234450" y="2004325"/>
            <a:ext cx="2046300" cy="25521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135" name="Shape 135"/>
        <p:cNvGrpSpPr/>
        <p:nvPr/>
      </p:nvGrpSpPr>
      <p:grpSpPr>
        <a:xfrm>
          <a:off x="0" y="0"/>
          <a:ext cx="0" cy="0"/>
          <a:chOff x="0" y="0"/>
          <a:chExt cx="0" cy="0"/>
        </a:xfrm>
      </p:grpSpPr>
      <p:sp>
        <p:nvSpPr>
          <p:cNvPr id="136" name="Google Shape;136;p108"/>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108"/>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08"/>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381000" lvl="0" marL="457200" marR="0" algn="ctr">
              <a:lnSpc>
                <a:spcPct val="115000"/>
              </a:lnSpc>
              <a:spcBef>
                <a:spcPts val="60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sp>
        <p:nvSpPr>
          <p:cNvPr id="139" name="Google Shape;139;p10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40" name="Shape 140"/>
        <p:cNvGrpSpPr/>
        <p:nvPr/>
      </p:nvGrpSpPr>
      <p:grpSpPr>
        <a:xfrm>
          <a:off x="0" y="0"/>
          <a:ext cx="0" cy="0"/>
          <a:chOff x="0" y="0"/>
          <a:chExt cx="0" cy="0"/>
        </a:xfrm>
      </p:grpSpPr>
      <p:sp>
        <p:nvSpPr>
          <p:cNvPr id="141" name="Google Shape;141;p109"/>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2" name="Google Shape;142;p109"/>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09"/>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44" name="Google Shape;144;p109"/>
          <p:cNvSpPr txBox="1"/>
          <p:nvPr>
            <p:ph idx="1" type="body"/>
          </p:nvPr>
        </p:nvSpPr>
        <p:spPr>
          <a:xfrm>
            <a:off x="3062200"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145" name="Google Shape;145;p109"/>
          <p:cNvSpPr txBox="1"/>
          <p:nvPr>
            <p:ph idx="2" type="body"/>
          </p:nvPr>
        </p:nvSpPr>
        <p:spPr>
          <a:xfrm>
            <a:off x="5956701"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146" name="Google Shape;146;p10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2.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F1BB00"/>
        </a:solidFill>
      </p:bgPr>
    </p:bg>
    <p:spTree>
      <p:nvGrpSpPr>
        <p:cNvPr id="5" name="Shape 5"/>
        <p:cNvGrpSpPr/>
        <p:nvPr/>
      </p:nvGrpSpPr>
      <p:grpSpPr>
        <a:xfrm>
          <a:off x="0" y="0"/>
          <a:ext cx="0" cy="0"/>
          <a:chOff x="0" y="0"/>
          <a:chExt cx="0" cy="0"/>
        </a:xfrm>
      </p:grpSpPr>
      <p:sp>
        <p:nvSpPr>
          <p:cNvPr id="6" name="Google Shape;6;p55"/>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7" name="Google Shape;7;p55"/>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1pPr>
            <a:lvl2pPr indent="-317500" lvl="1" marL="914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8" name="Google Shape;8;p5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F1BB00"/>
        </a:solidFill>
      </p:bgPr>
    </p:bg>
    <p:spTree>
      <p:nvGrpSpPr>
        <p:cNvPr id="82" name="Shape 82"/>
        <p:cNvGrpSpPr/>
        <p:nvPr/>
      </p:nvGrpSpPr>
      <p:grpSpPr>
        <a:xfrm>
          <a:off x="0" y="0"/>
          <a:ext cx="0" cy="0"/>
          <a:chOff x="0" y="0"/>
          <a:chExt cx="0" cy="0"/>
        </a:xfrm>
      </p:grpSpPr>
      <p:sp>
        <p:nvSpPr>
          <p:cNvPr id="83" name="Google Shape;83;p41"/>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84" name="Google Shape;84;p41"/>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1pPr>
            <a:lvl2pPr indent="-317500" lvl="1" marL="914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85" name="Google Shape;85;p4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0" name="Shape 150"/>
        <p:cNvGrpSpPr/>
        <p:nvPr/>
      </p:nvGrpSpPr>
      <p:grpSpPr>
        <a:xfrm>
          <a:off x="0" y="0"/>
          <a:ext cx="0" cy="0"/>
          <a:chOff x="0" y="0"/>
          <a:chExt cx="0" cy="0"/>
        </a:xfrm>
      </p:grpSpPr>
      <p:sp>
        <p:nvSpPr>
          <p:cNvPr id="151" name="Google Shape;151;p21"/>
          <p:cNvSpPr txBox="1"/>
          <p:nvPr>
            <p:ph idx="4294967295" type="title"/>
          </p:nvPr>
        </p:nvSpPr>
        <p:spPr>
          <a:xfrm>
            <a:off x="617225" y="100"/>
            <a:ext cx="7909500" cy="5143500"/>
          </a:xfrm>
          <a:prstGeom prst="rect">
            <a:avLst/>
          </a:prstGeom>
          <a:no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Contexto Actual -</a:t>
            </a:r>
            <a:endParaRPr b="1" i="1" sz="5100">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Project Travel</a:t>
            </a:r>
            <a:endParaRPr b="1" i="1" sz="510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g39331c9436a_0_18"/>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57" name="Google Shape;157;g39331c9436a_0_18"/>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Contexto general</a:t>
            </a:r>
            <a:endParaRPr>
              <a:solidFill>
                <a:schemeClr val="accent1"/>
              </a:solidFill>
              <a:latin typeface="Century Gothic"/>
              <a:ea typeface="Century Gothic"/>
              <a:cs typeface="Century Gothic"/>
              <a:sym typeface="Century Gothic"/>
            </a:endParaRPr>
          </a:p>
        </p:txBody>
      </p:sp>
      <p:sp>
        <p:nvSpPr>
          <p:cNvPr id="158" name="Google Shape;158;g39331c9436a_0_18"/>
          <p:cNvSpPr txBox="1"/>
          <p:nvPr>
            <p:ph idx="4294967295" type="body"/>
          </p:nvPr>
        </p:nvSpPr>
        <p:spPr>
          <a:xfrm>
            <a:off x="324600" y="1161875"/>
            <a:ext cx="7402800" cy="2652600"/>
          </a:xfrm>
          <a:prstGeom prst="rect">
            <a:avLst/>
          </a:prstGeom>
          <a:noFill/>
          <a:ln>
            <a:noFill/>
          </a:ln>
        </p:spPr>
        <p:txBody>
          <a:bodyPr anchorCtr="0" anchor="t" bIns="91425" lIns="91425" spcFirstLastPara="1" rIns="91425" wrap="square" tIns="91425">
            <a:spAutoFit/>
          </a:bodyPr>
          <a:lstStyle/>
          <a:p>
            <a:pPr indent="-368300" lvl="0" marL="457200" rtl="0" algn="just">
              <a:lnSpc>
                <a:spcPct val="100000"/>
              </a:lnSpc>
              <a:spcBef>
                <a:spcPts val="0"/>
              </a:spcBef>
              <a:spcAft>
                <a:spcPts val="0"/>
              </a:spcAft>
              <a:buClr>
                <a:schemeClr val="accent1"/>
              </a:buClr>
              <a:buSzPts val="2200"/>
              <a:buFont typeface="Century Gothic"/>
              <a:buChar char="o"/>
            </a:pPr>
            <a:r>
              <a:rPr b="1" lang="en-US">
                <a:solidFill>
                  <a:schemeClr val="dk2"/>
                </a:solidFill>
                <a:latin typeface="Century Gothic"/>
                <a:ea typeface="Century Gothic"/>
                <a:cs typeface="Century Gothic"/>
                <a:sym typeface="Century Gothic"/>
              </a:rPr>
              <a:t>Project Travel, </a:t>
            </a:r>
            <a:r>
              <a:rPr lang="en-US">
                <a:solidFill>
                  <a:schemeClr val="dk2"/>
                </a:solidFill>
                <a:latin typeface="Century Gothic"/>
                <a:ea typeface="Century Gothic"/>
                <a:cs typeface="Century Gothic"/>
                <a:sym typeface="Century Gothic"/>
              </a:rPr>
              <a:t>es una agencia de viajes ubicada en Popayán, Colombia que se especializa en la planificación de viajes nacionales e internacionales, incluyendo asesoría en trámites de visa. Ofrecen opciones personalizadas para turismo, aventura y descanso, enfocados en brindar experiencias únicas</a:t>
            </a:r>
            <a:endParaRPr>
              <a:solidFill>
                <a:schemeClr val="dk2"/>
              </a:solidFill>
              <a:latin typeface="Century Gothic"/>
              <a:ea typeface="Century Gothic"/>
              <a:cs typeface="Century Gothic"/>
              <a:sym typeface="Century Gothic"/>
            </a:endParaRPr>
          </a:p>
          <a:p>
            <a:pPr indent="0" lvl="0" marL="0" rtl="0" algn="just">
              <a:lnSpc>
                <a:spcPct val="100000"/>
              </a:lnSpc>
              <a:spcBef>
                <a:spcPts val="0"/>
              </a:spcBef>
              <a:spcAft>
                <a:spcPts val="0"/>
              </a:spcAft>
              <a:buNone/>
            </a:pPr>
            <a:r>
              <a:t/>
            </a:r>
            <a:endParaRPr>
              <a:solidFill>
                <a:schemeClr val="dk2"/>
              </a:solidFill>
              <a:latin typeface="Century Gothic"/>
              <a:ea typeface="Century Gothic"/>
              <a:cs typeface="Century Gothic"/>
              <a:sym typeface="Century Gothic"/>
            </a:endParaRPr>
          </a:p>
          <a:p>
            <a:pPr indent="-317500" lvl="0" marL="742950" marR="0" rtl="0" algn="just">
              <a:lnSpc>
                <a:spcPct val="100000"/>
              </a:lnSpc>
              <a:spcBef>
                <a:spcPts val="10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La atención general y oportuna de clientes es funcional con aspectos que presentan oportunidad de mejora, tanto a nivel operativo como de de promoción y posicionamiento de marca.</a:t>
            </a:r>
            <a:endParaRPr>
              <a:solidFill>
                <a:schemeClr val="dk2"/>
              </a:solidFill>
              <a:latin typeface="Century Gothic"/>
              <a:ea typeface="Century Gothic"/>
              <a:cs typeface="Century Gothic"/>
              <a:sym typeface="Century Gothic"/>
            </a:endParaRPr>
          </a:p>
          <a:p>
            <a:pPr indent="0" lvl="0" marL="171450" rtl="0" algn="just">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0" rtl="0" algn="just">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59" name="Google Shape;159;g39331c9436a_0_1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1000"/>
                                        <p:tgtEl>
                                          <p:spTgt spid="15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5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5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5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5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500"/>
                                        <p:tgtEl>
                                          <p:spTgt spid="15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g39331c9436a_0_31"/>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65" name="Google Shape;165;g39331c9436a_0_31"/>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Fricciones del proceso</a:t>
            </a:r>
            <a:endParaRPr>
              <a:solidFill>
                <a:schemeClr val="accent1"/>
              </a:solidFill>
              <a:latin typeface="Century Gothic"/>
              <a:ea typeface="Century Gothic"/>
              <a:cs typeface="Century Gothic"/>
              <a:sym typeface="Century Gothic"/>
            </a:endParaRPr>
          </a:p>
        </p:txBody>
      </p:sp>
      <p:sp>
        <p:nvSpPr>
          <p:cNvPr id="166" name="Google Shape;166;g39331c9436a_0_31"/>
          <p:cNvSpPr txBox="1"/>
          <p:nvPr>
            <p:ph idx="4294967295" type="body"/>
          </p:nvPr>
        </p:nvSpPr>
        <p:spPr>
          <a:xfrm>
            <a:off x="324600" y="1161875"/>
            <a:ext cx="7402800" cy="4899900"/>
          </a:xfrm>
          <a:prstGeom prst="rect">
            <a:avLst/>
          </a:prstGeom>
          <a:noFill/>
          <a:ln>
            <a:noFill/>
          </a:ln>
        </p:spPr>
        <p:txBody>
          <a:bodyPr anchorCtr="0" anchor="t" bIns="91425" lIns="91425" spcFirstLastPara="1" rIns="91425" wrap="square" tIns="91425">
            <a:spAutoFit/>
          </a:bodyPr>
          <a:lstStyle/>
          <a:p>
            <a:pPr indent="-215900" lvl="0" marL="685800" marR="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La atención digital depende de la carga operativa del restaurante</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En horas pico y shows, la respuesta digital pierde agilidad</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Solicitudes de último momento requieren validación manual, aun cuando hay disponibilidad</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Ajustes manuales y duplicidad ocasional de información en el CRM</a:t>
            </a:r>
            <a:endParaRPr>
              <a:solidFill>
                <a:schemeClr val="dk2"/>
              </a:solidFill>
              <a:latin typeface="Century Gothic"/>
              <a:ea typeface="Century Gothic"/>
              <a:cs typeface="Century Gothic"/>
              <a:sym typeface="Century Gothic"/>
            </a:endParaRPr>
          </a:p>
          <a:p>
            <a:pPr indent="0" lvl="0" marL="457200" marR="0" rtl="0" algn="just">
              <a:lnSpc>
                <a:spcPct val="100000"/>
              </a:lnSpc>
              <a:spcBef>
                <a:spcPts val="1000"/>
              </a:spcBef>
              <a:spcAft>
                <a:spcPts val="0"/>
              </a:spcAft>
              <a:buSzPts val="1400"/>
              <a:buNone/>
            </a:pPr>
            <a:r>
              <a:t/>
            </a:r>
            <a:endParaRPr>
              <a:solidFill>
                <a:schemeClr val="dk2"/>
              </a:solidFill>
              <a:latin typeface="Century Gothic"/>
              <a:ea typeface="Century Gothic"/>
              <a:cs typeface="Century Gothic"/>
              <a:sym typeface="Century Gothic"/>
            </a:endParaRPr>
          </a:p>
          <a:p>
            <a:pPr indent="0" lvl="0" marL="0" rtl="0" algn="just">
              <a:lnSpc>
                <a:spcPct val="100000"/>
              </a:lnSpc>
              <a:spcBef>
                <a:spcPts val="1000"/>
              </a:spcBef>
              <a:spcAft>
                <a:spcPts val="0"/>
              </a:spcAft>
              <a:buSzPts val="1400"/>
              <a:buNone/>
            </a:pPr>
            <a:r>
              <a:rPr b="1" lang="en-US" sz="1600">
                <a:solidFill>
                  <a:schemeClr val="accent1"/>
                </a:solidFill>
                <a:latin typeface="Century Gothic"/>
                <a:ea typeface="Century Gothic"/>
                <a:cs typeface="Century Gothic"/>
                <a:sym typeface="Century Gothic"/>
              </a:rPr>
              <a:t>Impacto:</a:t>
            </a:r>
            <a:endParaRPr b="1" sz="1600">
              <a:solidFill>
                <a:schemeClr val="accent1"/>
              </a:solidFill>
              <a:latin typeface="Century Gothic"/>
              <a:ea typeface="Century Gothic"/>
              <a:cs typeface="Century Gothic"/>
              <a:sym typeface="Century Gothic"/>
            </a:endParaRPr>
          </a:p>
          <a:p>
            <a:pPr indent="0" lvl="0" marL="0" rtl="0" algn="just">
              <a:lnSpc>
                <a:spcPct val="100000"/>
              </a:lnSpc>
              <a:spcBef>
                <a:spcPts val="1000"/>
              </a:spcBef>
              <a:spcAft>
                <a:spcPts val="0"/>
              </a:spcAft>
              <a:buSzPts val="1400"/>
              <a:buNone/>
            </a:pPr>
            <a:r>
              <a:t/>
            </a:r>
            <a:endParaRPr b="1" sz="1600">
              <a:solidFill>
                <a:schemeClr val="accent1"/>
              </a:solidFill>
              <a:latin typeface="Century Gothic"/>
              <a:ea typeface="Century Gothic"/>
              <a:cs typeface="Century Gothic"/>
              <a:sym typeface="Century Gothic"/>
            </a:endParaRPr>
          </a:p>
          <a:p>
            <a:pPr indent="-215900" lvl="0" marL="68580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Mayor carga operativa</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Riesgo de errores por multitarea</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Experiencia del cliente inconsistente en momentos críticos</a:t>
            </a:r>
            <a:endParaRPr>
              <a:solidFill>
                <a:schemeClr val="dk2"/>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SzPts val="1400"/>
              <a:buNone/>
            </a:pPr>
            <a:r>
              <a:t/>
            </a:r>
            <a:endParaRPr>
              <a:solidFill>
                <a:schemeClr val="dk2"/>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SzPts val="1400"/>
              <a:buNone/>
            </a:pPr>
            <a:r>
              <a:t/>
            </a:r>
            <a:endParaRPr b="1" sz="1600">
              <a:solidFill>
                <a:schemeClr val="accent1"/>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SzPts val="1400"/>
              <a:buNone/>
            </a:pPr>
            <a:r>
              <a:t/>
            </a:r>
            <a:endParaRPr>
              <a:solidFill>
                <a:schemeClr val="dk2"/>
              </a:solidFill>
              <a:latin typeface="Century Gothic"/>
              <a:ea typeface="Century Gothic"/>
              <a:cs typeface="Century Gothic"/>
              <a:sym typeface="Century Gothic"/>
            </a:endParaRPr>
          </a:p>
          <a:p>
            <a:pPr indent="0" lvl="0" marL="171450" rtl="0" algn="just">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0" rtl="0" algn="just">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67" name="Google Shape;167;g39331c9436a_0_3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1000"/>
                                        <p:tgtEl>
                                          <p:spTgt spid="16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animEffect filter="fade" transition="in">
                                      <p:cBhvr>
                                        <p:cTn dur="500"/>
                                        <p:tgtEl>
                                          <p:spTgt spid="1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animEffect filter="fade" transition="in">
                                      <p:cBhvr>
                                        <p:cTn dur="500"/>
                                        <p:tgtEl>
                                          <p:spTgt spid="1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animEffect filter="fade" transition="in">
                                      <p:cBhvr>
                                        <p:cTn dur="500"/>
                                        <p:tgtEl>
                                          <p:spTgt spid="1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animEffect filter="fade" transition="in">
                                      <p:cBhvr>
                                        <p:cTn dur="500"/>
                                        <p:tgtEl>
                                          <p:spTgt spid="1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animEffect filter="fade" transition="in">
                                      <p:cBhvr>
                                        <p:cTn dur="500"/>
                                        <p:tgtEl>
                                          <p:spTgt spid="1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5" st="5"/>
                                            </p:txEl>
                                          </p:spTgt>
                                        </p:tgtEl>
                                        <p:attrNameLst>
                                          <p:attrName>style.visibility</p:attrName>
                                        </p:attrNameLst>
                                      </p:cBhvr>
                                      <p:to>
                                        <p:strVal val="visible"/>
                                      </p:to>
                                    </p:set>
                                    <p:animEffect filter="fade" transition="in">
                                      <p:cBhvr>
                                        <p:cTn dur="500"/>
                                        <p:tgtEl>
                                          <p:spTgt spid="1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6" st="6"/>
                                            </p:txEl>
                                          </p:spTgt>
                                        </p:tgtEl>
                                        <p:attrNameLst>
                                          <p:attrName>style.visibility</p:attrName>
                                        </p:attrNameLst>
                                      </p:cBhvr>
                                      <p:to>
                                        <p:strVal val="visible"/>
                                      </p:to>
                                    </p:set>
                                    <p:animEffect filter="fade" transition="in">
                                      <p:cBhvr>
                                        <p:cTn dur="500"/>
                                        <p:tgtEl>
                                          <p:spTgt spid="16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7" st="7"/>
                                            </p:txEl>
                                          </p:spTgt>
                                        </p:tgtEl>
                                        <p:attrNameLst>
                                          <p:attrName>style.visibility</p:attrName>
                                        </p:attrNameLst>
                                      </p:cBhvr>
                                      <p:to>
                                        <p:strVal val="visible"/>
                                      </p:to>
                                    </p:set>
                                    <p:animEffect filter="fade" transition="in">
                                      <p:cBhvr>
                                        <p:cTn dur="500"/>
                                        <p:tgtEl>
                                          <p:spTgt spid="16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8" st="8"/>
                                            </p:txEl>
                                          </p:spTgt>
                                        </p:tgtEl>
                                        <p:attrNameLst>
                                          <p:attrName>style.visibility</p:attrName>
                                        </p:attrNameLst>
                                      </p:cBhvr>
                                      <p:to>
                                        <p:strVal val="visible"/>
                                      </p:to>
                                    </p:set>
                                    <p:animEffect filter="fade" transition="in">
                                      <p:cBhvr>
                                        <p:cTn dur="500"/>
                                        <p:tgtEl>
                                          <p:spTgt spid="16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9" st="9"/>
                                            </p:txEl>
                                          </p:spTgt>
                                        </p:tgtEl>
                                        <p:attrNameLst>
                                          <p:attrName>style.visibility</p:attrName>
                                        </p:attrNameLst>
                                      </p:cBhvr>
                                      <p:to>
                                        <p:strVal val="visible"/>
                                      </p:to>
                                    </p:set>
                                    <p:animEffect filter="fade" transition="in">
                                      <p:cBhvr>
                                        <p:cTn dur="500"/>
                                        <p:tgtEl>
                                          <p:spTgt spid="16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0" st="10"/>
                                            </p:txEl>
                                          </p:spTgt>
                                        </p:tgtEl>
                                        <p:attrNameLst>
                                          <p:attrName>style.visibility</p:attrName>
                                        </p:attrNameLst>
                                      </p:cBhvr>
                                      <p:to>
                                        <p:strVal val="visible"/>
                                      </p:to>
                                    </p:set>
                                    <p:animEffect filter="fade" transition="in">
                                      <p:cBhvr>
                                        <p:cTn dur="500"/>
                                        <p:tgtEl>
                                          <p:spTgt spid="16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1" st="11"/>
                                            </p:txEl>
                                          </p:spTgt>
                                        </p:tgtEl>
                                        <p:attrNameLst>
                                          <p:attrName>style.visibility</p:attrName>
                                        </p:attrNameLst>
                                      </p:cBhvr>
                                      <p:to>
                                        <p:strVal val="visible"/>
                                      </p:to>
                                    </p:set>
                                    <p:animEffect filter="fade" transition="in">
                                      <p:cBhvr>
                                        <p:cTn dur="500"/>
                                        <p:tgtEl>
                                          <p:spTgt spid="16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2" st="12"/>
                                            </p:txEl>
                                          </p:spTgt>
                                        </p:tgtEl>
                                        <p:attrNameLst>
                                          <p:attrName>style.visibility</p:attrName>
                                        </p:attrNameLst>
                                      </p:cBhvr>
                                      <p:to>
                                        <p:strVal val="visible"/>
                                      </p:to>
                                    </p:set>
                                    <p:animEffect filter="fade" transition="in">
                                      <p:cBhvr>
                                        <p:cTn dur="500"/>
                                        <p:tgtEl>
                                          <p:spTgt spid="16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3" st="13"/>
                                            </p:txEl>
                                          </p:spTgt>
                                        </p:tgtEl>
                                        <p:attrNameLst>
                                          <p:attrName>style.visibility</p:attrName>
                                        </p:attrNameLst>
                                      </p:cBhvr>
                                      <p:to>
                                        <p:strVal val="visible"/>
                                      </p:to>
                                    </p:set>
                                    <p:animEffect filter="fade" transition="in">
                                      <p:cBhvr>
                                        <p:cTn dur="500"/>
                                        <p:tgtEl>
                                          <p:spTgt spid="16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4" st="14"/>
                                            </p:txEl>
                                          </p:spTgt>
                                        </p:tgtEl>
                                        <p:attrNameLst>
                                          <p:attrName>style.visibility</p:attrName>
                                        </p:attrNameLst>
                                      </p:cBhvr>
                                      <p:to>
                                        <p:strVal val="visible"/>
                                      </p:to>
                                    </p:set>
                                    <p:animEffect filter="fade" transition="in">
                                      <p:cBhvr>
                                        <p:cTn dur="500"/>
                                        <p:tgtEl>
                                          <p:spTgt spid="166">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g39331c9436a_0_41"/>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73" name="Google Shape;173;g39331c9436a_0_41"/>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Oportunidad de mejora y prioridad estratégica</a:t>
            </a:r>
            <a:endParaRPr>
              <a:solidFill>
                <a:schemeClr val="accent1"/>
              </a:solidFill>
              <a:latin typeface="Century Gothic"/>
              <a:ea typeface="Century Gothic"/>
              <a:cs typeface="Century Gothic"/>
              <a:sym typeface="Century Gothic"/>
            </a:endParaRPr>
          </a:p>
        </p:txBody>
      </p:sp>
      <p:sp>
        <p:nvSpPr>
          <p:cNvPr id="174" name="Google Shape;174;g39331c9436a_0_41"/>
          <p:cNvSpPr txBox="1"/>
          <p:nvPr>
            <p:ph idx="4294967295" type="body"/>
          </p:nvPr>
        </p:nvSpPr>
        <p:spPr>
          <a:xfrm>
            <a:off x="324600" y="1161875"/>
            <a:ext cx="7402800" cy="4340700"/>
          </a:xfrm>
          <a:prstGeom prst="rect">
            <a:avLst/>
          </a:prstGeom>
          <a:noFill/>
          <a:ln>
            <a:noFill/>
          </a:ln>
        </p:spPr>
        <p:txBody>
          <a:bodyPr anchorCtr="0" anchor="t" bIns="91425" lIns="91425" spcFirstLastPara="1" rIns="91425" wrap="square" tIns="91425">
            <a:spAutoFit/>
          </a:bodyPr>
          <a:lstStyle/>
          <a:p>
            <a:pPr indent="-215900" lvl="0" marL="685800" marR="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Separar la atención digital de la operación presencial</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Filtrar y clasificar solicitudes desde el primer contacto</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Asegurar información completa y validada antes de llegar al CRM</a:t>
            </a:r>
            <a:endParaRPr>
              <a:solidFill>
                <a:schemeClr val="dk2"/>
              </a:solidFill>
              <a:latin typeface="Century Gothic"/>
              <a:ea typeface="Century Gothic"/>
              <a:cs typeface="Century Gothic"/>
              <a:sym typeface="Century Gothic"/>
            </a:endParaRPr>
          </a:p>
          <a:p>
            <a:pPr indent="0" lvl="0" marL="685800" marR="0" rtl="0" algn="just">
              <a:lnSpc>
                <a:spcPct val="100000"/>
              </a:lnSpc>
              <a:spcBef>
                <a:spcPts val="1000"/>
              </a:spcBef>
              <a:spcAft>
                <a:spcPts val="0"/>
              </a:spcAft>
              <a:buSzPts val="1400"/>
              <a:buNone/>
            </a:pPr>
            <a:r>
              <a:t/>
            </a:r>
            <a:endParaRPr>
              <a:solidFill>
                <a:schemeClr val="dk2"/>
              </a:solidFill>
              <a:latin typeface="Century Gothic"/>
              <a:ea typeface="Century Gothic"/>
              <a:cs typeface="Century Gothic"/>
              <a:sym typeface="Century Gothic"/>
            </a:endParaRPr>
          </a:p>
          <a:p>
            <a:pPr indent="0" lvl="0" marL="0" rtl="0" algn="just">
              <a:lnSpc>
                <a:spcPct val="100000"/>
              </a:lnSpc>
              <a:spcBef>
                <a:spcPts val="1000"/>
              </a:spcBef>
              <a:spcAft>
                <a:spcPts val="0"/>
              </a:spcAft>
              <a:buSzPts val="1400"/>
              <a:buNone/>
            </a:pPr>
            <a:r>
              <a:rPr b="1" lang="en-US" sz="1600">
                <a:solidFill>
                  <a:schemeClr val="accent1"/>
                </a:solidFill>
                <a:latin typeface="Century Gothic"/>
                <a:ea typeface="Century Gothic"/>
                <a:cs typeface="Century Gothic"/>
                <a:sym typeface="Century Gothic"/>
              </a:rPr>
              <a:t>Impacto organizacional:</a:t>
            </a:r>
            <a:endParaRPr b="1" sz="1600">
              <a:solidFill>
                <a:schemeClr val="accent1"/>
              </a:solidFill>
              <a:latin typeface="Century Gothic"/>
              <a:ea typeface="Century Gothic"/>
              <a:cs typeface="Century Gothic"/>
              <a:sym typeface="Century Gothic"/>
            </a:endParaRPr>
          </a:p>
          <a:p>
            <a:pPr indent="0" lvl="0" marL="0" rtl="0" algn="just">
              <a:lnSpc>
                <a:spcPct val="100000"/>
              </a:lnSpc>
              <a:spcBef>
                <a:spcPts val="1000"/>
              </a:spcBef>
              <a:spcAft>
                <a:spcPts val="0"/>
              </a:spcAft>
              <a:buSzPts val="1400"/>
              <a:buNone/>
            </a:pPr>
            <a:r>
              <a:t/>
            </a:r>
            <a:endParaRPr b="1" sz="1600">
              <a:solidFill>
                <a:schemeClr val="accent1"/>
              </a:solidFill>
              <a:latin typeface="Century Gothic"/>
              <a:ea typeface="Century Gothic"/>
              <a:cs typeface="Century Gothic"/>
              <a:sym typeface="Century Gothic"/>
            </a:endParaRPr>
          </a:p>
          <a:p>
            <a:pPr indent="-215900" lvl="0" marL="68580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Mayor control sobre la experiencia del cliente</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Equipos enfocados en tareas de alto impacto</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Operación más ordenada, medible y escalable</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Base sólida para crecer sin aumentar complejidad ni estructura interna</a:t>
            </a:r>
            <a:endParaRPr>
              <a:solidFill>
                <a:schemeClr val="dk2"/>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SzPts val="1400"/>
              <a:buNone/>
            </a:pPr>
            <a:r>
              <a:t/>
            </a:r>
            <a:endParaRPr b="1" sz="1600">
              <a:solidFill>
                <a:schemeClr val="accent1"/>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SzPts val="1400"/>
              <a:buNone/>
            </a:pPr>
            <a:r>
              <a:t/>
            </a:r>
            <a:endParaRPr>
              <a:solidFill>
                <a:schemeClr val="dk2"/>
              </a:solidFill>
              <a:latin typeface="Century Gothic"/>
              <a:ea typeface="Century Gothic"/>
              <a:cs typeface="Century Gothic"/>
              <a:sym typeface="Century Gothic"/>
            </a:endParaRPr>
          </a:p>
          <a:p>
            <a:pPr indent="0" lvl="0" marL="171450" rtl="0" algn="just">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0" rtl="0" algn="just">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75" name="Google Shape;175;g39331c9436a_0_4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73"/>
                                        </p:tgtEl>
                                        <p:attrNameLst>
                                          <p:attrName>style.visibility</p:attrName>
                                        </p:attrNameLst>
                                      </p:cBhvr>
                                      <p:to>
                                        <p:strVal val="visible"/>
                                      </p:to>
                                    </p:set>
                                    <p:anim calcmode="lin" valueType="num">
                                      <p:cBhvr additive="base">
                                        <p:cTn dur="1000"/>
                                        <p:tgtEl>
                                          <p:spTgt spid="1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5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animEffect filter="fade" transition="in">
                                      <p:cBhvr>
                                        <p:cTn dur="500"/>
                                        <p:tgtEl>
                                          <p:spTgt spid="1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animEffect filter="fade" transition="in">
                                      <p:cBhvr>
                                        <p:cTn dur="500"/>
                                        <p:tgtEl>
                                          <p:spTgt spid="1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animEffect filter="fade" transition="in">
                                      <p:cBhvr>
                                        <p:cTn dur="500"/>
                                        <p:tgtEl>
                                          <p:spTgt spid="1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animEffect filter="fade" transition="in">
                                      <p:cBhvr>
                                        <p:cTn dur="500"/>
                                        <p:tgtEl>
                                          <p:spTgt spid="1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animEffect filter="fade" transition="in">
                                      <p:cBhvr>
                                        <p:cTn dur="500"/>
                                        <p:tgtEl>
                                          <p:spTgt spid="1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animEffect filter="fade" transition="in">
                                      <p:cBhvr>
                                        <p:cTn dur="500"/>
                                        <p:tgtEl>
                                          <p:spTgt spid="1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animEffect filter="fade" transition="in">
                                      <p:cBhvr>
                                        <p:cTn dur="500"/>
                                        <p:tgtEl>
                                          <p:spTgt spid="1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8" st="8"/>
                                            </p:txEl>
                                          </p:spTgt>
                                        </p:tgtEl>
                                        <p:attrNameLst>
                                          <p:attrName>style.visibility</p:attrName>
                                        </p:attrNameLst>
                                      </p:cBhvr>
                                      <p:to>
                                        <p:strVal val="visible"/>
                                      </p:to>
                                    </p:set>
                                    <p:animEffect filter="fade" transition="in">
                                      <p:cBhvr>
                                        <p:cTn dur="500"/>
                                        <p:tgtEl>
                                          <p:spTgt spid="1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9" st="9"/>
                                            </p:txEl>
                                          </p:spTgt>
                                        </p:tgtEl>
                                        <p:attrNameLst>
                                          <p:attrName>style.visibility</p:attrName>
                                        </p:attrNameLst>
                                      </p:cBhvr>
                                      <p:to>
                                        <p:strVal val="visible"/>
                                      </p:to>
                                    </p:set>
                                    <p:animEffect filter="fade" transition="in">
                                      <p:cBhvr>
                                        <p:cTn dur="500"/>
                                        <p:tgtEl>
                                          <p:spTgt spid="17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0" st="10"/>
                                            </p:txEl>
                                          </p:spTgt>
                                        </p:tgtEl>
                                        <p:attrNameLst>
                                          <p:attrName>style.visibility</p:attrName>
                                        </p:attrNameLst>
                                      </p:cBhvr>
                                      <p:to>
                                        <p:strVal val="visible"/>
                                      </p:to>
                                    </p:set>
                                    <p:animEffect filter="fade" transition="in">
                                      <p:cBhvr>
                                        <p:cTn dur="500"/>
                                        <p:tgtEl>
                                          <p:spTgt spid="17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1" st="11"/>
                                            </p:txEl>
                                          </p:spTgt>
                                        </p:tgtEl>
                                        <p:attrNameLst>
                                          <p:attrName>style.visibility</p:attrName>
                                        </p:attrNameLst>
                                      </p:cBhvr>
                                      <p:to>
                                        <p:strVal val="visible"/>
                                      </p:to>
                                    </p:set>
                                    <p:animEffect filter="fade" transition="in">
                                      <p:cBhvr>
                                        <p:cTn dur="500"/>
                                        <p:tgtEl>
                                          <p:spTgt spid="17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2" st="12"/>
                                            </p:txEl>
                                          </p:spTgt>
                                        </p:tgtEl>
                                        <p:attrNameLst>
                                          <p:attrName>style.visibility</p:attrName>
                                        </p:attrNameLst>
                                      </p:cBhvr>
                                      <p:to>
                                        <p:strVal val="visible"/>
                                      </p:to>
                                    </p:set>
                                    <p:animEffect filter="fade" transition="in">
                                      <p:cBhvr>
                                        <p:cTn dur="500"/>
                                        <p:tgtEl>
                                          <p:spTgt spid="17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3" st="13"/>
                                            </p:txEl>
                                          </p:spTgt>
                                        </p:tgtEl>
                                        <p:attrNameLst>
                                          <p:attrName>style.visibility</p:attrName>
                                        </p:attrNameLst>
                                      </p:cBhvr>
                                      <p:to>
                                        <p:strVal val="visible"/>
                                      </p:to>
                                    </p:set>
                                    <p:animEffect filter="fade" transition="in">
                                      <p:cBhvr>
                                        <p:cTn dur="500"/>
                                        <p:tgtEl>
                                          <p:spTgt spid="174">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g39331c9436a_0_48"/>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81" name="Google Shape;181;g39331c9436a_0_48"/>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Visión estratégica:</a:t>
            </a:r>
            <a:endParaRPr>
              <a:solidFill>
                <a:schemeClr val="accent1"/>
              </a:solidFill>
              <a:latin typeface="Century Gothic"/>
              <a:ea typeface="Century Gothic"/>
              <a:cs typeface="Century Gothic"/>
              <a:sym typeface="Century Gothic"/>
            </a:endParaRPr>
          </a:p>
        </p:txBody>
      </p:sp>
      <p:sp>
        <p:nvSpPr>
          <p:cNvPr id="182" name="Google Shape;182;g39331c9436a_0_48"/>
          <p:cNvSpPr txBox="1"/>
          <p:nvPr>
            <p:ph idx="4294967295" type="body"/>
          </p:nvPr>
        </p:nvSpPr>
        <p:spPr>
          <a:xfrm>
            <a:off x="324600" y="1986900"/>
            <a:ext cx="7402800" cy="1169700"/>
          </a:xfrm>
          <a:prstGeom prst="rect">
            <a:avLst/>
          </a:prstGeom>
          <a:noFill/>
          <a:ln>
            <a:noFill/>
          </a:ln>
        </p:spPr>
        <p:txBody>
          <a:bodyPr anchorCtr="0" anchor="t" bIns="91425" lIns="91425" spcFirstLastPara="1" rIns="91425" wrap="square" tIns="91425">
            <a:spAutoFit/>
          </a:bodyPr>
          <a:lstStyle/>
          <a:p>
            <a:pPr indent="-215900" lvl="0" marL="685800" marR="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Atención digital estandarizada y predecible</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WhatsApp operando como canal estratégico, no como carga operativa</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Filtro automático de demanda antes de llegar al equipo humano</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Información estructurada desde el primer contacto</a:t>
            </a:r>
            <a:endParaRPr sz="1200">
              <a:latin typeface="Century Gothic"/>
              <a:ea typeface="Century Gothic"/>
              <a:cs typeface="Century Gothic"/>
              <a:sym typeface="Century Gothic"/>
            </a:endParaRPr>
          </a:p>
        </p:txBody>
      </p:sp>
      <p:sp>
        <p:nvSpPr>
          <p:cNvPr id="183" name="Google Shape;183;g39331c9436a_0_4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1000"/>
                                        <p:tgtEl>
                                          <p:spTgt spid="18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Effect filter="fade" transition="in">
                                      <p:cBhvr>
                                        <p:cTn dur="500"/>
                                        <p:tgtEl>
                                          <p:spTgt spid="1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Effect filter="fade" transition="in">
                                      <p:cBhvr>
                                        <p:cTn dur="500"/>
                                        <p:tgtEl>
                                          <p:spTgt spid="1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Effect filter="fade" transition="in">
                                      <p:cBhvr>
                                        <p:cTn dur="500"/>
                                        <p:tgtEl>
                                          <p:spTgt spid="1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Effect filter="fade" transition="in">
                                      <p:cBhvr>
                                        <p:cTn dur="500"/>
                                        <p:tgtEl>
                                          <p:spTgt spid="18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87" name="Shape 187"/>
        <p:cNvGrpSpPr/>
        <p:nvPr/>
      </p:nvGrpSpPr>
      <p:grpSpPr>
        <a:xfrm>
          <a:off x="0" y="0"/>
          <a:ext cx="0" cy="0"/>
          <a:chOff x="0" y="0"/>
          <a:chExt cx="0" cy="0"/>
        </a:xfrm>
      </p:grpSpPr>
      <p:sp>
        <p:nvSpPr>
          <p:cNvPr id="188" name="Google Shape;188;g39331c9436a_0_27"/>
          <p:cNvSpPr txBox="1"/>
          <p:nvPr>
            <p:ph idx="4294967295" type="title"/>
          </p:nvPr>
        </p:nvSpPr>
        <p:spPr>
          <a:xfrm>
            <a:off x="617225" y="100"/>
            <a:ext cx="7909500" cy="5143500"/>
          </a:xfrm>
          <a:prstGeom prst="rect">
            <a:avLst/>
          </a:prstGeom>
          <a:no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Agente de IA -</a:t>
            </a:r>
            <a:endParaRPr b="1" i="1" sz="5100">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Project Travel</a:t>
            </a:r>
            <a:endParaRPr b="1" i="1" sz="5100">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2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94" name="Google Shape;194;p22"/>
          <p:cNvSpPr txBox="1"/>
          <p:nvPr>
            <p:ph idx="4294967295" type="title"/>
          </p:nvPr>
        </p:nvSpPr>
        <p:spPr>
          <a:xfrm>
            <a:off x="324600" y="279475"/>
            <a:ext cx="8494800" cy="7518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Atiende más rápido, vende más y sin contratar personal adicional.</a:t>
            </a:r>
            <a:endParaRPr sz="2000">
              <a:solidFill>
                <a:schemeClr val="accent1"/>
              </a:solidFill>
              <a:highlight>
                <a:srgbClr val="FFFFFF"/>
              </a:highlight>
              <a:latin typeface="Century Gothic"/>
              <a:ea typeface="Century Gothic"/>
              <a:cs typeface="Century Gothic"/>
              <a:sym typeface="Century Gothic"/>
            </a:endParaRPr>
          </a:p>
        </p:txBody>
      </p:sp>
      <p:sp>
        <p:nvSpPr>
          <p:cNvPr id="195" name="Google Shape;195;p22"/>
          <p:cNvSpPr txBox="1"/>
          <p:nvPr>
            <p:ph idx="4294967295" type="body"/>
          </p:nvPr>
        </p:nvSpPr>
        <p:spPr>
          <a:xfrm>
            <a:off x="324600" y="1405650"/>
            <a:ext cx="5733000" cy="3345300"/>
          </a:xfrm>
          <a:prstGeom prst="rect">
            <a:avLst/>
          </a:prstGeom>
          <a:noFill/>
          <a:ln>
            <a:noFill/>
          </a:ln>
        </p:spPr>
        <p:txBody>
          <a:bodyPr anchorCtr="0" anchor="t" bIns="91425" lIns="91425" spcFirstLastPara="1" rIns="91425" wrap="square" tIns="91425">
            <a:spAutoFit/>
          </a:bodyPr>
          <a:lstStyle/>
          <a:p>
            <a:pPr indent="-368300" lvl="0" marL="457200" rtl="0" algn="l">
              <a:lnSpc>
                <a:spcPct val="100000"/>
              </a:lnSpc>
              <a:spcBef>
                <a:spcPts val="0"/>
              </a:spcBef>
              <a:spcAft>
                <a:spcPts val="0"/>
              </a:spcAft>
              <a:buClr>
                <a:schemeClr val="accent1"/>
              </a:buClr>
              <a:buSzPts val="2200"/>
              <a:buFont typeface="Century Gothic"/>
              <a:buChar char="o"/>
            </a:pPr>
            <a:r>
              <a:rPr b="1" lang="en-US" sz="1500">
                <a:solidFill>
                  <a:schemeClr val="dk2"/>
                </a:solidFill>
                <a:latin typeface="Century Gothic"/>
                <a:ea typeface="Century Gothic"/>
                <a:cs typeface="Century Gothic"/>
                <a:sym typeface="Century Gothic"/>
              </a:rPr>
              <a:t>Es Ideal para empresas que dependen de la atención oportuna de sus canales digitales para vender más:</a:t>
            </a:r>
            <a:endParaRPr b="1" sz="1500">
              <a:solidFill>
                <a:schemeClr val="dk2"/>
              </a:solidFill>
              <a:latin typeface="Century Gothic"/>
              <a:ea typeface="Century Gothic"/>
              <a:cs typeface="Century Gothic"/>
              <a:sym typeface="Century Gothic"/>
            </a:endParaRPr>
          </a:p>
          <a:p>
            <a:pPr indent="0" lvl="0" marL="457200" rtl="0" algn="l">
              <a:lnSpc>
                <a:spcPct val="100000"/>
              </a:lnSpc>
              <a:spcBef>
                <a:spcPts val="0"/>
              </a:spcBef>
              <a:spcAft>
                <a:spcPts val="0"/>
              </a:spcAft>
              <a:buSzPts val="1400"/>
              <a:buNone/>
            </a:pPr>
            <a:r>
              <a:t/>
            </a:r>
            <a:endParaRPr b="1" sz="1500">
              <a:solidFill>
                <a:schemeClr val="dk2"/>
              </a:solidFill>
              <a:latin typeface="Century Gothic"/>
              <a:ea typeface="Century Gothic"/>
              <a:cs typeface="Century Gothic"/>
              <a:sym typeface="Century Gothic"/>
            </a:endParaRPr>
          </a:p>
          <a:p>
            <a:pPr indent="-317500" lvl="0" marL="742950" marR="0" rtl="0" algn="l">
              <a:lnSpc>
                <a:spcPct val="100000"/>
              </a:lnSpc>
              <a:spcBef>
                <a:spcPts val="10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Aumentar su capacidad de respuesta.</a:t>
            </a:r>
            <a:endParaRPr>
              <a:solidFill>
                <a:schemeClr val="dk2"/>
              </a:solidFill>
              <a:latin typeface="Century Gothic"/>
              <a:ea typeface="Century Gothic"/>
              <a:cs typeface="Century Gothic"/>
              <a:sym typeface="Century Gothic"/>
            </a:endParaRPr>
          </a:p>
          <a:p>
            <a:pPr indent="-317500" lvl="0" marL="742950" marR="0" rtl="0" algn="l">
              <a:lnSpc>
                <a:spcPct val="100000"/>
              </a:lnSpc>
              <a:spcBef>
                <a:spcPts val="6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Acelerar el ciclo de ventas.</a:t>
            </a:r>
            <a:endParaRPr>
              <a:solidFill>
                <a:schemeClr val="dk2"/>
              </a:solidFill>
              <a:latin typeface="Century Gothic"/>
              <a:ea typeface="Century Gothic"/>
              <a:cs typeface="Century Gothic"/>
              <a:sym typeface="Century Gothic"/>
            </a:endParaRPr>
          </a:p>
          <a:p>
            <a:pPr indent="-317500" lvl="0" marL="742950" marR="0" rtl="0" algn="l">
              <a:lnSpc>
                <a:spcPct val="100000"/>
              </a:lnSpc>
              <a:spcBef>
                <a:spcPts val="6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Mejorar la experiencia del cliente desde el primer contacto.</a:t>
            </a:r>
            <a:endParaRPr>
              <a:solidFill>
                <a:schemeClr val="dk2"/>
              </a:solidFill>
              <a:latin typeface="Century Gothic"/>
              <a:ea typeface="Century Gothic"/>
              <a:cs typeface="Century Gothic"/>
              <a:sym typeface="Century Gothic"/>
            </a:endParaRPr>
          </a:p>
          <a:p>
            <a:pPr indent="0" lvl="0" marL="171450" rtl="0" algn="l">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171450" rtl="0" algn="l">
              <a:lnSpc>
                <a:spcPct val="100000"/>
              </a:lnSpc>
              <a:spcBef>
                <a:spcPts val="0"/>
              </a:spcBef>
              <a:spcAft>
                <a:spcPts val="0"/>
              </a:spcAft>
              <a:buSzPts val="1400"/>
              <a:buNone/>
            </a:pPr>
            <a:r>
              <a:t/>
            </a:r>
            <a:endParaRPr b="1" i="1" sz="1300">
              <a:solidFill>
                <a:srgbClr val="F1BB00"/>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rPr b="1" i="1" lang="en-US" sz="1700">
                <a:solidFill>
                  <a:schemeClr val="accent1"/>
                </a:solidFill>
                <a:latin typeface="Century Gothic"/>
                <a:ea typeface="Century Gothic"/>
                <a:cs typeface="Century Gothic"/>
                <a:sym typeface="Century Gothic"/>
              </a:rPr>
              <a:t>¡Escala la atención de tus clientes de manera eficiente y personalizada!</a:t>
            </a:r>
            <a:endParaRPr i="1" sz="1300">
              <a:solidFill>
                <a:schemeClr val="accent1"/>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96" name="Google Shape;196;p2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Lato"/>
                <a:ea typeface="Lato"/>
                <a:cs typeface="Lato"/>
                <a:sym typeface="Lato"/>
              </a:rPr>
              <a:t>AI Agents | </a:t>
            </a:r>
            <a:r>
              <a:rPr b="1" i="1" lang="en-US" sz="2200" u="none" cap="none" strike="noStrike">
                <a:solidFill>
                  <a:srgbClr val="FFFFFF"/>
                </a:solidFill>
                <a:latin typeface="Lato"/>
                <a:ea typeface="Lato"/>
                <a:cs typeface="Lato"/>
                <a:sym typeface="Lato"/>
              </a:rPr>
              <a:t>nombrecliente</a:t>
            </a:r>
            <a:endParaRPr b="0" i="1" sz="2200" u="none" cap="none" strike="noStrike">
              <a:solidFill>
                <a:srgbClr val="000000"/>
              </a:solidFill>
              <a:latin typeface="Lato"/>
              <a:ea typeface="Lato"/>
              <a:cs typeface="Lato"/>
              <a:sym typeface="Lato"/>
            </a:endParaRPr>
          </a:p>
        </p:txBody>
      </p:sp>
      <p:sp>
        <p:nvSpPr>
          <p:cNvPr id="197" name="Google Shape;197;p2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98" name="Google Shape;198;p22"/>
          <p:cNvPicPr preferRelativeResize="0"/>
          <p:nvPr/>
        </p:nvPicPr>
        <p:blipFill rotWithShape="1">
          <a:blip r:embed="rId3">
            <a:alphaModFix/>
          </a:blip>
          <a:srcRect b="0" l="-6052" r="-6039" t="-12095"/>
          <a:stretch/>
        </p:blipFill>
        <p:spPr>
          <a:xfrm>
            <a:off x="5976850" y="1180950"/>
            <a:ext cx="2781600" cy="278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94"/>
                                        </p:tgtEl>
                                        <p:attrNameLst>
                                          <p:attrName>style.visibility</p:attrName>
                                        </p:attrNameLst>
                                      </p:cBhvr>
                                      <p:to>
                                        <p:strVal val="visible"/>
                                      </p:to>
                                    </p:set>
                                    <p:anim calcmode="lin" valueType="num">
                                      <p:cBhvr additive="base">
                                        <p:cTn dur="1000"/>
                                        <p:tgtEl>
                                          <p:spTgt spid="19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animEffect filter="fade" transition="in">
                                      <p:cBhvr>
                                        <p:cTn dur="500"/>
                                        <p:tgtEl>
                                          <p:spTgt spid="1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animEffect filter="fade" transition="in">
                                      <p:cBhvr>
                                        <p:cTn dur="500"/>
                                        <p:tgtEl>
                                          <p:spTgt spid="1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animEffect filter="fade" transition="in">
                                      <p:cBhvr>
                                        <p:cTn dur="500"/>
                                        <p:tgtEl>
                                          <p:spTgt spid="1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animEffect filter="fade" transition="in">
                                      <p:cBhvr>
                                        <p:cTn dur="500"/>
                                        <p:tgtEl>
                                          <p:spTgt spid="1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animEffect filter="fade" transition="in">
                                      <p:cBhvr>
                                        <p:cTn dur="500"/>
                                        <p:tgtEl>
                                          <p:spTgt spid="1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animEffect filter="fade" transition="in">
                                      <p:cBhvr>
                                        <p:cTn dur="500"/>
                                        <p:tgtEl>
                                          <p:spTgt spid="1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animEffect filter="fade" transition="in">
                                      <p:cBhvr>
                                        <p:cTn dur="500"/>
                                        <p:tgtEl>
                                          <p:spTgt spid="1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7" st="7"/>
                                            </p:txEl>
                                          </p:spTgt>
                                        </p:tgtEl>
                                        <p:attrNameLst>
                                          <p:attrName>style.visibility</p:attrName>
                                        </p:attrNameLst>
                                      </p:cBhvr>
                                      <p:to>
                                        <p:strVal val="visible"/>
                                      </p:to>
                                    </p:set>
                                    <p:animEffect filter="fade" transition="in">
                                      <p:cBhvr>
                                        <p:cTn dur="500"/>
                                        <p:tgtEl>
                                          <p:spTgt spid="1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8" st="8"/>
                                            </p:txEl>
                                          </p:spTgt>
                                        </p:tgtEl>
                                        <p:attrNameLst>
                                          <p:attrName>style.visibility</p:attrName>
                                        </p:attrNameLst>
                                      </p:cBhvr>
                                      <p:to>
                                        <p:strVal val="visible"/>
                                      </p:to>
                                    </p:set>
                                    <p:animEffect filter="fade" transition="in">
                                      <p:cBhvr>
                                        <p:cTn dur="500"/>
                                        <p:tgtEl>
                                          <p:spTgt spid="19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24"/>
          <p:cNvSpPr txBox="1"/>
          <p:nvPr>
            <p:ph idx="4294967295" type="body"/>
          </p:nvPr>
        </p:nvSpPr>
        <p:spPr>
          <a:xfrm>
            <a:off x="471775" y="1241350"/>
            <a:ext cx="6048900" cy="2816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400"/>
              <a:buNone/>
            </a:pPr>
            <a:r>
              <a:rPr b="1" lang="en-US" sz="1300">
                <a:solidFill>
                  <a:schemeClr val="dk2"/>
                </a:solidFill>
                <a:latin typeface="Century Gothic"/>
                <a:ea typeface="Century Gothic"/>
                <a:cs typeface="Century Gothic"/>
                <a:sym typeface="Century Gothic"/>
              </a:rPr>
              <a:t>Nuestros agentes de IA están diseñados para:</a:t>
            </a:r>
            <a:endParaRPr b="1" sz="1300">
              <a:solidFill>
                <a:schemeClr val="dk2"/>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t/>
            </a:r>
            <a:endParaRPr b="1" sz="13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Responder de inmediato a consultas frecuentes.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Calificar prospectos en tiempo real usando tus propios criterios comerciales.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Agendar reservas automáticamente en los calendarios de tus representantes comerciales.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Enviar confirmaciones automáticas por WhatsApp y correo electrónico, tanto para clientes como para tu equipo comercial.</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60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Notificar a tu equipo comercial o de soporte sobre tareas, seguimientos o clientes calientes, para que nada se quede sin atender.</a:t>
            </a:r>
            <a:endParaRPr sz="1200">
              <a:solidFill>
                <a:schemeClr val="dk2"/>
              </a:solidFill>
              <a:latin typeface="Century Gothic"/>
              <a:ea typeface="Century Gothic"/>
              <a:cs typeface="Century Gothic"/>
              <a:sym typeface="Century Gothic"/>
            </a:endParaRPr>
          </a:p>
        </p:txBody>
      </p:sp>
      <p:sp>
        <p:nvSpPr>
          <p:cNvPr id="204" name="Google Shape;204;p24"/>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05" name="Google Shape;205;p24"/>
          <p:cNvSpPr txBox="1"/>
          <p:nvPr>
            <p:ph idx="4294967295" type="title"/>
          </p:nvPr>
        </p:nvSpPr>
        <p:spPr>
          <a:xfrm>
            <a:off x="340775" y="303850"/>
            <a:ext cx="8494800" cy="628500"/>
          </a:xfrm>
          <a:prstGeom prst="rect">
            <a:avLst/>
          </a:prstGeom>
          <a:noFill/>
          <a:ln>
            <a:noFill/>
          </a:ln>
        </p:spPr>
        <p:txBody>
          <a:bodyPr anchorCtr="0" anchor="t" bIns="0" lIns="0" spcFirstLastPara="1" rIns="0" wrap="square" tIns="12700">
            <a:spAutoFit/>
          </a:bodyPr>
          <a:lstStyle/>
          <a:p>
            <a:pPr indent="0" lvl="0" marL="241933"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Integración Omnicanal, atención inmediata y fluidez en tu operación comercial</a:t>
            </a:r>
            <a:endParaRPr sz="2000">
              <a:solidFill>
                <a:schemeClr val="accent1"/>
              </a:solidFill>
              <a:highlight>
                <a:srgbClr val="FFFFFF"/>
              </a:highlight>
              <a:latin typeface="Century Gothic"/>
              <a:ea typeface="Century Gothic"/>
              <a:cs typeface="Century Gothic"/>
              <a:sym typeface="Century Gothic"/>
            </a:endParaRPr>
          </a:p>
        </p:txBody>
      </p:sp>
      <p:sp>
        <p:nvSpPr>
          <p:cNvPr id="206" name="Google Shape;206;p24"/>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a:t>
            </a:r>
            <a:endParaRPr b="0" i="1" sz="2200" u="none" cap="none" strike="noStrike">
              <a:solidFill>
                <a:schemeClr val="accent1"/>
              </a:solidFill>
              <a:latin typeface="Century Gothic"/>
              <a:ea typeface="Century Gothic"/>
              <a:cs typeface="Century Gothic"/>
              <a:sym typeface="Century Gothic"/>
            </a:endParaRPr>
          </a:p>
        </p:txBody>
      </p:sp>
      <p:sp>
        <p:nvSpPr>
          <p:cNvPr id="207" name="Google Shape;207;p2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1000"/>
                                        <p:tgtEl>
                                          <p:spTgt spid="20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5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5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500"/>
                                        <p:tgtEl>
                                          <p:spTgt spid="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animEffect filter="fade" transition="in">
                                      <p:cBhvr>
                                        <p:cTn dur="500"/>
                                        <p:tgtEl>
                                          <p:spTgt spid="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animEffect filter="fade" transition="in">
                                      <p:cBhvr>
                                        <p:cTn dur="500"/>
                                        <p:tgtEl>
                                          <p:spTgt spid="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animEffect filter="fade" transition="in">
                                      <p:cBhvr>
                                        <p:cTn dur="500"/>
                                        <p:tgtEl>
                                          <p:spTgt spid="2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6" st="6"/>
                                            </p:txEl>
                                          </p:spTgt>
                                        </p:tgtEl>
                                        <p:attrNameLst>
                                          <p:attrName>style.visibility</p:attrName>
                                        </p:attrNameLst>
                                      </p:cBhvr>
                                      <p:to>
                                        <p:strVal val="visible"/>
                                      </p:to>
                                    </p:set>
                                    <p:animEffect filter="fade" transition="in">
                                      <p:cBhvr>
                                        <p:cTn dur="500"/>
                                        <p:tgtEl>
                                          <p:spTgt spid="20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11" name="Shape 211"/>
        <p:cNvGrpSpPr/>
        <p:nvPr/>
      </p:nvGrpSpPr>
      <p:grpSpPr>
        <a:xfrm>
          <a:off x="0" y="0"/>
          <a:ext cx="0" cy="0"/>
          <a:chOff x="0" y="0"/>
          <a:chExt cx="0" cy="0"/>
        </a:xfrm>
      </p:grpSpPr>
      <p:sp>
        <p:nvSpPr>
          <p:cNvPr id="212" name="Google Shape;212;p29"/>
          <p:cNvSpPr txBox="1"/>
          <p:nvPr>
            <p:ph idx="4294967295" type="ctrTitle"/>
          </p:nvPr>
        </p:nvSpPr>
        <p:spPr>
          <a:xfrm>
            <a:off x="685802" y="1991846"/>
            <a:ext cx="7772400" cy="115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2400"/>
              <a:buFont typeface="Nunito Sans"/>
              <a:buNone/>
            </a:pPr>
            <a:r>
              <a:rPr b="1" i="0" lang="en-US" sz="3000" u="none" cap="none" strike="noStrike">
                <a:solidFill>
                  <a:srgbClr val="FFFFFF"/>
                </a:solidFill>
                <a:latin typeface="Century Gothic"/>
                <a:ea typeface="Century Gothic"/>
                <a:cs typeface="Century Gothic"/>
                <a:sym typeface="Century Gothic"/>
              </a:rPr>
              <a:t>Alcance de la propuesta -</a:t>
            </a:r>
            <a:endParaRPr b="1" i="0" sz="3000" u="none" cap="none" strike="noStrike">
              <a:solidFill>
                <a:srgbClr val="FFFFFF"/>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FFFFFF"/>
              </a:buClr>
              <a:buSzPts val="2400"/>
              <a:buFont typeface="Nunito Sans"/>
              <a:buNone/>
            </a:pPr>
            <a:r>
              <a:rPr b="1" i="1" lang="en-US" sz="3000" u="none" cap="none" strike="noStrike">
                <a:solidFill>
                  <a:srgbClr val="FFFFFF"/>
                </a:solidFill>
                <a:latin typeface="Century Gothic"/>
                <a:ea typeface="Century Gothic"/>
                <a:cs typeface="Century Gothic"/>
                <a:sym typeface="Century Gothic"/>
              </a:rPr>
              <a:t>Agentes de IA </a:t>
            </a:r>
            <a:endParaRPr b="0" i="0" sz="3000" u="none" cap="none" strike="noStrike">
              <a:solidFill>
                <a:srgbClr val="FFFFFF"/>
              </a:solidFill>
              <a:latin typeface="Century Gothic"/>
              <a:ea typeface="Century Gothic"/>
              <a:cs typeface="Century Gothic"/>
              <a:sym typeface="Century Gothic"/>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graphicFrame>
        <p:nvGraphicFramePr>
          <p:cNvPr id="217" name="Google Shape;217;p31"/>
          <p:cNvGraphicFramePr/>
          <p:nvPr/>
        </p:nvGraphicFramePr>
        <p:xfrm>
          <a:off x="590700" y="1196222"/>
          <a:ext cx="3000000" cy="3000000"/>
        </p:xfrm>
        <a:graphic>
          <a:graphicData uri="http://schemas.openxmlformats.org/drawingml/2006/table">
            <a:tbl>
              <a:tblPr>
                <a:noFill/>
                <a:tableStyleId>{32F1E0AC-46CA-4597-A7B3-E328FA48EAB3}</a:tableStyleId>
              </a:tblPr>
              <a:tblGrid>
                <a:gridCol w="5445150"/>
                <a:gridCol w="839150"/>
                <a:gridCol w="839150"/>
                <a:gridCol w="839150"/>
              </a:tblGrid>
              <a:tr h="262875">
                <a:tc>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solidFill>
                            <a:srgbClr val="FFFFFF"/>
                          </a:solidFill>
                          <a:latin typeface="Century Gothic"/>
                          <a:ea typeface="Century Gothic"/>
                          <a:cs typeface="Century Gothic"/>
                          <a:sym typeface="Century Gothic"/>
                        </a:rPr>
                        <a:t>Plataforma integral de atención y automatización para empresas</a:t>
                      </a:r>
                      <a:endParaRPr b="1" sz="1200" u="none" cap="none" strike="noStrike">
                        <a:solidFill>
                          <a:srgbClr val="FFFFFF"/>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u="none" cap="none" strike="noStrike">
                          <a:solidFill>
                            <a:srgbClr val="FFFFFF"/>
                          </a:solidFill>
                          <a:latin typeface="Lato"/>
                          <a:ea typeface="Lato"/>
                          <a:cs typeface="Lato"/>
                          <a:sym typeface="Lato"/>
                        </a:rPr>
                        <a:t>Piloto</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u="none" cap="none" strike="noStrike">
                          <a:solidFill>
                            <a:srgbClr val="FFFFFF"/>
                          </a:solidFill>
                          <a:latin typeface="Lato"/>
                          <a:ea typeface="Lato"/>
                          <a:cs typeface="Lato"/>
                          <a:sym typeface="Lato"/>
                        </a:rPr>
                        <a:t>Premium</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u="none" cap="none" strike="noStrike">
                          <a:solidFill>
                            <a:srgbClr val="FFFFFF"/>
                          </a:solidFill>
                          <a:latin typeface="Lato"/>
                          <a:ea typeface="Lato"/>
                          <a:cs typeface="Lato"/>
                          <a:sym typeface="Lato"/>
                        </a:rPr>
                        <a:t>Profesional</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r h="387350">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Acceso</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1 cuenta automatizada para la empresa con asesores ilimitados.CRM: categorización, métricas y reportes.</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Seguimiento y filtración de usuarios</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Integraciones de IA omnicanal</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chemeClr val="dk2"/>
                          </a:solidFill>
                          <a:latin typeface="Century Gothic"/>
                          <a:ea typeface="Century Gothic"/>
                          <a:cs typeface="Century Gothic"/>
                          <a:sym typeface="Century Gothic"/>
                        </a:rPr>
                        <a:t>Meta: WhatsApp</a:t>
                      </a:r>
                      <a:endParaRPr sz="800" u="none" cap="none" strike="noStrike">
                        <a:solidFill>
                          <a:schemeClr val="dk2"/>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Meta: Facebook, </a:t>
                      </a:r>
                      <a:r>
                        <a:rPr lang="en-US" sz="800" u="none" cap="none" strike="noStrike">
                          <a:solidFill>
                            <a:schemeClr val="dk2"/>
                          </a:solidFill>
                          <a:latin typeface="Century Gothic"/>
                          <a:ea typeface="Century Gothic"/>
                          <a:cs typeface="Century Gothic"/>
                          <a:sym typeface="Century Gothic"/>
                        </a:rPr>
                        <a:t>Messenger &amp; </a:t>
                      </a:r>
                      <a:r>
                        <a:rPr lang="en-US" sz="800" u="none" cap="none" strike="noStrike">
                          <a:solidFill>
                            <a:srgbClr val="666666"/>
                          </a:solidFill>
                          <a:latin typeface="Century Gothic"/>
                          <a:ea typeface="Century Gothic"/>
                          <a:cs typeface="Century Gothic"/>
                          <a:sym typeface="Century Gothic"/>
                        </a:rPr>
                        <a:t>Instagram </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TikTok, Telegram, y otras (Aplicable para mensajes y comentarios con excepciones)</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50000"/>
                        </a:lnSpc>
                        <a:spcBef>
                          <a:spcPts val="0"/>
                        </a:spcBef>
                        <a:spcAft>
                          <a:spcPts val="0"/>
                        </a:spcAft>
                        <a:buClr>
                          <a:srgbClr val="000000"/>
                        </a:buClr>
                        <a:buSzPts val="1100"/>
                        <a:buFont typeface="Arial"/>
                        <a:buNone/>
                      </a:pPr>
                      <a:r>
                        <a:rPr b="1" lang="en-US" sz="1000" u="none" cap="none" strike="noStrike">
                          <a:solidFill>
                            <a:srgbClr val="666666"/>
                          </a:solidFill>
                          <a:latin typeface="Century Gothic"/>
                          <a:ea typeface="Century Gothic"/>
                          <a:cs typeface="Century Gothic"/>
                          <a:sym typeface="Century Gothic"/>
                        </a:rPr>
                        <a:t>Desarrollo e Implementación de Estrategia de Conversión</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Atención inmediata de clientes potenciales vía WhatsApp</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2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Implementación de proceso de calificación y agendamiento automático.</a:t>
                      </a:r>
                      <a:endParaRPr sz="800" u="none" cap="none" strike="noStrike">
                        <a:solidFill>
                          <a:schemeClr val="dk2"/>
                        </a:solidFill>
                        <a:latin typeface="Century Gothic"/>
                        <a:ea typeface="Century Gothic"/>
                        <a:cs typeface="Century Gothic"/>
                        <a:sym typeface="Century Gothic"/>
                      </a:endParaRPr>
                    </a:p>
                    <a:p>
                      <a:pPr indent="0" lvl="0" marL="0" marR="0" rtl="0" algn="l">
                        <a:lnSpc>
                          <a:spcPct val="150000"/>
                        </a:lnSpc>
                        <a:spcBef>
                          <a:spcPts val="0"/>
                        </a:spcBef>
                        <a:spcAft>
                          <a:spcPts val="0"/>
                        </a:spcAft>
                        <a:buClr>
                          <a:schemeClr val="dk1"/>
                        </a:buClr>
                        <a:buSzPts val="1100"/>
                        <a:buFont typeface="Arial"/>
                        <a:buNone/>
                      </a:pPr>
                      <a:r>
                        <a:rPr lang="en-US" sz="800" u="none" cap="none" strike="noStrike">
                          <a:solidFill>
                            <a:schemeClr val="dk2"/>
                          </a:solidFill>
                          <a:latin typeface="Century Gothic"/>
                          <a:ea typeface="Century Gothic"/>
                          <a:cs typeface="Century Gothic"/>
                          <a:sym typeface="Century Gothic"/>
                        </a:rPr>
                        <a:t>Disponibilidad de minutos (Depende el paquete) en atención de solicitudes vía llamada</a:t>
                      </a:r>
                      <a:endParaRPr sz="800" u="none" cap="none" strike="noStrike">
                        <a:solidFill>
                          <a:schemeClr val="dk2"/>
                        </a:solidFill>
                        <a:latin typeface="Century Gothic"/>
                        <a:ea typeface="Century Gothic"/>
                        <a:cs typeface="Century Gothic"/>
                        <a:sym typeface="Century Gothic"/>
                      </a:endParaRPr>
                    </a:p>
                    <a:p>
                      <a:pPr indent="0" lvl="0" marL="0" marR="0" rtl="0" algn="l">
                        <a:lnSpc>
                          <a:spcPct val="150000"/>
                        </a:lnSpc>
                        <a:spcBef>
                          <a:spcPts val="0"/>
                        </a:spcBef>
                        <a:spcAft>
                          <a:spcPts val="0"/>
                        </a:spcAft>
                        <a:buClr>
                          <a:schemeClr val="dk1"/>
                        </a:buClr>
                        <a:buSzPts val="1100"/>
                        <a:buFont typeface="Arial"/>
                        <a:buNone/>
                      </a:pPr>
                      <a:r>
                        <a:rPr lang="en-US" sz="800" u="none" cap="none" strike="noStrike">
                          <a:solidFill>
                            <a:schemeClr val="dk2"/>
                          </a:solidFill>
                          <a:latin typeface="Century Gothic"/>
                          <a:ea typeface="Century Gothic"/>
                          <a:cs typeface="Century Gothic"/>
                          <a:sym typeface="Century Gothic"/>
                        </a:rPr>
                        <a:t>Integración a CRM</a:t>
                      </a:r>
                      <a:endParaRPr sz="800" u="none" cap="none" strike="noStrike">
                        <a:solidFill>
                          <a:schemeClr val="dk2"/>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1,000</a:t>
                      </a:r>
                      <a:r>
                        <a:rPr lang="en-US" sz="800" u="none" cap="none" strike="noStrike">
                          <a:solidFill>
                            <a:srgbClr val="666666"/>
                          </a:solidFill>
                          <a:latin typeface="Lato"/>
                          <a:ea typeface="Lato"/>
                          <a:cs typeface="Lato"/>
                          <a:sym typeface="Lato"/>
                        </a:rPr>
                        <a:t> </a:t>
                      </a:r>
                      <a:endParaRPr sz="8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u="none" cap="none" strike="noStrike">
                          <a:solidFill>
                            <a:srgbClr val="666666"/>
                          </a:solidFill>
                          <a:latin typeface="Lato"/>
                          <a:ea typeface="Lato"/>
                          <a:cs typeface="Lato"/>
                          <a:sym typeface="Lato"/>
                        </a:rPr>
                        <a:t>0</a:t>
                      </a:r>
                      <a:endParaRPr b="1"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1,500 </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u="none" cap="none" strike="noStrike">
                          <a:solidFill>
                            <a:srgbClr val="666666"/>
                          </a:solidFill>
                          <a:latin typeface="Lato"/>
                          <a:ea typeface="Lato"/>
                          <a:cs typeface="Lato"/>
                          <a:sym typeface="Lato"/>
                        </a:rPr>
                        <a:t>200</a:t>
                      </a:r>
                      <a:endParaRPr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ilimitados</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u="none" cap="none" strike="noStrike">
                          <a:solidFill>
                            <a:srgbClr val="666666"/>
                          </a:solidFill>
                          <a:latin typeface="Lato"/>
                          <a:ea typeface="Lato"/>
                          <a:cs typeface="Lato"/>
                          <a:sym typeface="Lato"/>
                        </a:rPr>
                        <a:t>500</a:t>
                      </a:r>
                      <a:endParaRPr sz="1000" u="none" cap="none" strike="noStrike">
                        <a:solidFill>
                          <a:srgbClr val="666666"/>
                        </a:solidFill>
                        <a:latin typeface="Lato"/>
                        <a:ea typeface="Lato"/>
                        <a:cs typeface="Lato"/>
                        <a:sym typeface="Lato"/>
                      </a:endParaRPr>
                    </a:p>
                    <a:p>
                      <a:pPr indent="0" lvl="0" marL="0" marR="0" rtl="0" algn="l">
                        <a:lnSpc>
                          <a:spcPct val="115000"/>
                        </a:lnSpc>
                        <a:spcBef>
                          <a:spcPts val="300"/>
                        </a:spcBef>
                        <a:spcAft>
                          <a:spcPts val="0"/>
                        </a:spcAft>
                        <a:buClr>
                          <a:srgbClr val="000000"/>
                        </a:buClr>
                        <a:buSzPts val="800"/>
                        <a:buFont typeface="Arial"/>
                        <a:buNone/>
                      </a:pPr>
                      <a:r>
                        <a:t/>
                      </a:r>
                      <a:endParaRPr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253150">
                <a:tc>
                  <a:txBody>
                    <a:bodyPr/>
                    <a:lstStyle/>
                    <a:p>
                      <a:pPr indent="0" lvl="0" marL="0" marR="0" rtl="0" algn="l">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t/>
                      </a:r>
                      <a:endParaRPr sz="600" u="none" cap="none" strike="noStrike">
                        <a:solidFill>
                          <a:schemeClr val="dk2"/>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bl>
          </a:graphicData>
        </a:graphic>
      </p:graphicFrame>
      <p:sp>
        <p:nvSpPr>
          <p:cNvPr id="218" name="Google Shape;218;p31"/>
          <p:cNvSpPr txBox="1"/>
          <p:nvPr/>
        </p:nvSpPr>
        <p:spPr>
          <a:xfrm>
            <a:off x="620900" y="661788"/>
            <a:ext cx="77769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200" u="none" cap="none" strike="noStrike">
                <a:solidFill>
                  <a:schemeClr val="accent1"/>
                </a:solidFill>
                <a:latin typeface="Century Gothic"/>
                <a:ea typeface="Century Gothic"/>
                <a:cs typeface="Century Gothic"/>
                <a:sym typeface="Century Gothic"/>
              </a:rPr>
              <a:t>Presupuesto | Agentes de </a:t>
            </a:r>
            <a:r>
              <a:rPr b="1" i="1" lang="en-US" sz="2200" u="none" cap="none" strike="noStrike">
                <a:solidFill>
                  <a:schemeClr val="accent1"/>
                </a:solidFill>
                <a:latin typeface="Century Gothic"/>
                <a:ea typeface="Century Gothic"/>
                <a:cs typeface="Century Gothic"/>
                <a:sym typeface="Century Gothic"/>
              </a:rPr>
              <a:t>IA </a:t>
            </a:r>
            <a:endParaRPr b="1" i="0" sz="2200" u="none" cap="none" strike="noStrike">
              <a:solidFill>
                <a:schemeClr val="accent1"/>
              </a:solidFill>
              <a:latin typeface="Century Gothic"/>
              <a:ea typeface="Century Gothic"/>
              <a:cs typeface="Century Gothic"/>
              <a:sym typeface="Century Gothic"/>
            </a:endParaRPr>
          </a:p>
        </p:txBody>
      </p:sp>
      <p:sp>
        <p:nvSpPr>
          <p:cNvPr id="219" name="Google Shape;219;p31"/>
          <p:cNvSpPr/>
          <p:nvPr/>
        </p:nvSpPr>
        <p:spPr>
          <a:xfrm>
            <a:off x="6359675" y="1599013"/>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20" name="Google Shape;220;p31"/>
          <p:cNvSpPr/>
          <p:nvPr/>
        </p:nvSpPr>
        <p:spPr>
          <a:xfrm>
            <a:off x="7276289" y="1599013"/>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21" name="Google Shape;221;p31"/>
          <p:cNvSpPr/>
          <p:nvPr/>
        </p:nvSpPr>
        <p:spPr>
          <a:xfrm>
            <a:off x="8156438" y="1599013"/>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22" name="Google Shape;222;p31"/>
          <p:cNvSpPr/>
          <p:nvPr/>
        </p:nvSpPr>
        <p:spPr>
          <a:xfrm>
            <a:off x="6359675" y="2096792"/>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23" name="Google Shape;223;p31"/>
          <p:cNvSpPr/>
          <p:nvPr/>
        </p:nvSpPr>
        <p:spPr>
          <a:xfrm>
            <a:off x="7268999" y="2096800"/>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24" name="Google Shape;224;p31"/>
          <p:cNvSpPr/>
          <p:nvPr/>
        </p:nvSpPr>
        <p:spPr>
          <a:xfrm>
            <a:off x="8178319" y="2096805"/>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25" name="Google Shape;225;p31"/>
          <p:cNvSpPr/>
          <p:nvPr/>
        </p:nvSpPr>
        <p:spPr>
          <a:xfrm>
            <a:off x="8178319" y="2272254"/>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26" name="Google Shape;226;p31"/>
          <p:cNvSpPr/>
          <p:nvPr/>
        </p:nvSpPr>
        <p:spPr>
          <a:xfrm>
            <a:off x="8178319" y="243341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27" name="Google Shape;227;p31"/>
          <p:cNvSpPr/>
          <p:nvPr/>
        </p:nvSpPr>
        <p:spPr>
          <a:xfrm>
            <a:off x="7276310" y="2272254"/>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28" name="Google Shape;228;p31"/>
          <p:cNvSpPr/>
          <p:nvPr/>
        </p:nvSpPr>
        <p:spPr>
          <a:xfrm>
            <a:off x="7276289" y="176018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29" name="Google Shape;229;p31"/>
          <p:cNvSpPr/>
          <p:nvPr/>
        </p:nvSpPr>
        <p:spPr>
          <a:xfrm>
            <a:off x="8156438" y="176018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3" u="none" cap="none" strike="noStrike">
              <a:solidFill>
                <a:srgbClr val="000000"/>
              </a:solidFill>
              <a:latin typeface="Nunito Sans"/>
              <a:ea typeface="Nunito Sans"/>
              <a:cs typeface="Nunito Sans"/>
              <a:sym typeface="Nunito Sans"/>
            </a:endParaRPr>
          </a:p>
        </p:txBody>
      </p:sp>
      <p:sp>
        <p:nvSpPr>
          <p:cNvPr id="230" name="Google Shape;230;p31"/>
          <p:cNvSpPr/>
          <p:nvPr/>
        </p:nvSpPr>
        <p:spPr>
          <a:xfrm>
            <a:off x="2116075" y="3911650"/>
            <a:ext cx="1790700" cy="55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Ticket Promedio: $180,000,000  Apartamentos</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atención actual: 53%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Cierre: 70%</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Margen Operativo: 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Ciclo de Venta: 1 semana</a:t>
            </a:r>
            <a:endParaRPr b="1" i="0" sz="600" u="none" cap="none" strike="noStrike">
              <a:solidFill>
                <a:srgbClr val="FFFFFF"/>
              </a:solidFill>
              <a:latin typeface="Lato"/>
              <a:ea typeface="Lato"/>
              <a:cs typeface="Lato"/>
              <a:sym typeface="Lato"/>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graphicFrame>
        <p:nvGraphicFramePr>
          <p:cNvPr id="235" name="Google Shape;235;g39331c9436a_0_55"/>
          <p:cNvGraphicFramePr/>
          <p:nvPr/>
        </p:nvGraphicFramePr>
        <p:xfrm>
          <a:off x="590700" y="1196222"/>
          <a:ext cx="3000000" cy="3000000"/>
        </p:xfrm>
        <a:graphic>
          <a:graphicData uri="http://schemas.openxmlformats.org/drawingml/2006/table">
            <a:tbl>
              <a:tblPr>
                <a:noFill/>
                <a:tableStyleId>{32F1E0AC-46CA-4597-A7B3-E328FA48EAB3}</a:tableStyleId>
              </a:tblPr>
              <a:tblGrid>
                <a:gridCol w="5445150"/>
                <a:gridCol w="1216975"/>
              </a:tblGrid>
              <a:tr h="262875">
                <a:tc>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solidFill>
                            <a:srgbClr val="FFFFFF"/>
                          </a:solidFill>
                          <a:latin typeface="Century Gothic"/>
                          <a:ea typeface="Century Gothic"/>
                          <a:cs typeface="Century Gothic"/>
                          <a:sym typeface="Century Gothic"/>
                        </a:rPr>
                        <a:t>Plataforma integral de atención y automatización para empresas</a:t>
                      </a:r>
                      <a:endParaRPr b="1" sz="1200" u="none" cap="none" strike="noStrike">
                        <a:solidFill>
                          <a:srgbClr val="FFFFFF"/>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u="none" cap="none" strike="noStrike">
                          <a:solidFill>
                            <a:srgbClr val="FFFFFF"/>
                          </a:solidFill>
                          <a:latin typeface="Lato"/>
                          <a:ea typeface="Lato"/>
                          <a:cs typeface="Lato"/>
                          <a:sym typeface="Lato"/>
                        </a:rPr>
                        <a:t>Piloto</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r h="387350">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Acceso</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1 cuenta automatizada para la empresa con asesores ilimitados.CRM: categorización, métricas y reportes.</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Seguimiento y filtración de usuarios</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Integraciones de IA omnicanal</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chemeClr val="dk2"/>
                          </a:solidFill>
                          <a:latin typeface="Century Gothic"/>
                          <a:ea typeface="Century Gothic"/>
                          <a:cs typeface="Century Gothic"/>
                          <a:sym typeface="Century Gothic"/>
                        </a:rPr>
                        <a:t>Meta: WhatsApp</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50000"/>
                        </a:lnSpc>
                        <a:spcBef>
                          <a:spcPts val="0"/>
                        </a:spcBef>
                        <a:spcAft>
                          <a:spcPts val="0"/>
                        </a:spcAft>
                        <a:buClr>
                          <a:srgbClr val="000000"/>
                        </a:buClr>
                        <a:buSzPts val="1100"/>
                        <a:buFont typeface="Arial"/>
                        <a:buNone/>
                      </a:pPr>
                      <a:r>
                        <a:rPr b="1" lang="en-US" sz="1000" u="none" cap="none" strike="noStrike">
                          <a:solidFill>
                            <a:srgbClr val="666666"/>
                          </a:solidFill>
                          <a:latin typeface="Century Gothic"/>
                          <a:ea typeface="Century Gothic"/>
                          <a:cs typeface="Century Gothic"/>
                          <a:sym typeface="Century Gothic"/>
                        </a:rPr>
                        <a:t>Desarrollo e Implementación de Estrategia de Conversión</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Atención inmediata de clientes potenciales vía WhatsApp</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2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Implementación de proceso de calificación y agendamiento automático.</a:t>
                      </a:r>
                      <a:endParaRPr sz="800" u="none" cap="none" strike="noStrike">
                        <a:solidFill>
                          <a:schemeClr val="dk2"/>
                        </a:solidFill>
                        <a:latin typeface="Century Gothic"/>
                        <a:ea typeface="Century Gothic"/>
                        <a:cs typeface="Century Gothic"/>
                        <a:sym typeface="Century Gothic"/>
                      </a:endParaRPr>
                    </a:p>
                    <a:p>
                      <a:pPr indent="0" lvl="0" marL="0" marR="0" rtl="0" algn="l">
                        <a:lnSpc>
                          <a:spcPct val="150000"/>
                        </a:lnSpc>
                        <a:spcBef>
                          <a:spcPts val="0"/>
                        </a:spcBef>
                        <a:spcAft>
                          <a:spcPts val="0"/>
                        </a:spcAft>
                        <a:buClr>
                          <a:schemeClr val="dk1"/>
                        </a:buClr>
                        <a:buSzPts val="1100"/>
                        <a:buFont typeface="Arial"/>
                        <a:buNone/>
                      </a:pPr>
                      <a:r>
                        <a:rPr lang="en-US" sz="800" u="none" cap="none" strike="noStrike">
                          <a:solidFill>
                            <a:schemeClr val="dk2"/>
                          </a:solidFill>
                          <a:latin typeface="Century Gothic"/>
                          <a:ea typeface="Century Gothic"/>
                          <a:cs typeface="Century Gothic"/>
                          <a:sym typeface="Century Gothic"/>
                        </a:rPr>
                        <a:t>Integración a CRM</a:t>
                      </a:r>
                      <a:endParaRPr sz="800" u="none" cap="none" strike="noStrike">
                        <a:solidFill>
                          <a:schemeClr val="dk2"/>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1,000</a:t>
                      </a:r>
                      <a:r>
                        <a:rPr lang="en-US" sz="800" u="none" cap="none" strike="noStrike">
                          <a:solidFill>
                            <a:srgbClr val="666666"/>
                          </a:solidFill>
                          <a:latin typeface="Lato"/>
                          <a:ea typeface="Lato"/>
                          <a:cs typeface="Lato"/>
                          <a:sym typeface="Lato"/>
                        </a:rPr>
                        <a:t> </a:t>
                      </a:r>
                      <a:endParaRPr sz="8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t/>
                      </a:r>
                      <a:endParaRPr b="1"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bl>
          </a:graphicData>
        </a:graphic>
      </p:graphicFrame>
      <p:sp>
        <p:nvSpPr>
          <p:cNvPr id="236" name="Google Shape;236;g39331c9436a_0_55"/>
          <p:cNvSpPr txBox="1"/>
          <p:nvPr/>
        </p:nvSpPr>
        <p:spPr>
          <a:xfrm>
            <a:off x="620900" y="661788"/>
            <a:ext cx="77769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200" u="none" cap="none" strike="noStrike">
                <a:solidFill>
                  <a:schemeClr val="accent1"/>
                </a:solidFill>
                <a:latin typeface="Century Gothic"/>
                <a:ea typeface="Century Gothic"/>
                <a:cs typeface="Century Gothic"/>
                <a:sym typeface="Century Gothic"/>
              </a:rPr>
              <a:t>Presupuesto | Agentes de </a:t>
            </a:r>
            <a:r>
              <a:rPr b="1" i="1" lang="en-US" sz="2200" u="none" cap="none" strike="noStrike">
                <a:solidFill>
                  <a:schemeClr val="accent1"/>
                </a:solidFill>
                <a:latin typeface="Century Gothic"/>
                <a:ea typeface="Century Gothic"/>
                <a:cs typeface="Century Gothic"/>
                <a:sym typeface="Century Gothic"/>
              </a:rPr>
              <a:t>IA </a:t>
            </a:r>
            <a:endParaRPr b="1" i="0" sz="2200" u="none" cap="none" strike="noStrike">
              <a:solidFill>
                <a:schemeClr val="accent1"/>
              </a:solidFill>
              <a:latin typeface="Century Gothic"/>
              <a:ea typeface="Century Gothic"/>
              <a:cs typeface="Century Gothic"/>
              <a:sym typeface="Century Gothic"/>
            </a:endParaRPr>
          </a:p>
        </p:txBody>
      </p:sp>
      <p:sp>
        <p:nvSpPr>
          <p:cNvPr id="237" name="Google Shape;237;g39331c9436a_0_55"/>
          <p:cNvSpPr/>
          <p:nvPr/>
        </p:nvSpPr>
        <p:spPr>
          <a:xfrm>
            <a:off x="6627825" y="158313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38" name="Google Shape;238;g39331c9436a_0_55"/>
          <p:cNvSpPr/>
          <p:nvPr/>
        </p:nvSpPr>
        <p:spPr>
          <a:xfrm>
            <a:off x="6627825" y="2106842"/>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39" name="Google Shape;239;g39331c9436a_0_55"/>
          <p:cNvSpPr/>
          <p:nvPr/>
        </p:nvSpPr>
        <p:spPr>
          <a:xfrm>
            <a:off x="2116075" y="3911650"/>
            <a:ext cx="1790700" cy="55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Ticket Promedio: $180,000,000  Apartamentos</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atención actual: 53%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Cierre: 70%</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Margen Operativo: 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Ciclo de Venta: 1 semana</a:t>
            </a:r>
            <a:endParaRPr b="1" i="0" sz="600" u="none" cap="none" strike="noStrike">
              <a:solidFill>
                <a:srgbClr val="FFFFFF"/>
              </a:solidFill>
              <a:latin typeface="Lato"/>
              <a:ea typeface="Lato"/>
              <a:cs typeface="Lato"/>
              <a:sym typeface="Lato"/>
            </a:endParaRPr>
          </a:p>
        </p:txBody>
      </p:sp>
      <p:graphicFrame>
        <p:nvGraphicFramePr>
          <p:cNvPr id="240" name="Google Shape;240;g39331c9436a_0_55"/>
          <p:cNvGraphicFramePr/>
          <p:nvPr/>
        </p:nvGraphicFramePr>
        <p:xfrm>
          <a:off x="590700" y="3262096"/>
          <a:ext cx="3000000" cy="3000000"/>
        </p:xfrm>
        <a:graphic>
          <a:graphicData uri="http://schemas.openxmlformats.org/drawingml/2006/table">
            <a:tbl>
              <a:tblPr>
                <a:noFill/>
                <a:tableStyleId>{32F1E0AC-46CA-4597-A7B3-E328FA48EAB3}</a:tableStyleId>
              </a:tblPr>
              <a:tblGrid>
                <a:gridCol w="5772525"/>
                <a:gridCol w="889600"/>
              </a:tblGrid>
              <a:tr h="244325">
                <a:tc>
                  <a:txBody>
                    <a:bodyPr/>
                    <a:lstStyle/>
                    <a:p>
                      <a:pPr indent="0" lvl="0" marL="0" marR="0" rtl="0" algn="r">
                        <a:lnSpc>
                          <a:spcPct val="115000"/>
                        </a:lnSpc>
                        <a:spcBef>
                          <a:spcPts val="0"/>
                        </a:spcBef>
                        <a:spcAft>
                          <a:spcPts val="0"/>
                        </a:spcAft>
                        <a:buClr>
                          <a:schemeClr val="dk1"/>
                        </a:buClr>
                        <a:buSzPts val="1400"/>
                        <a:buFont typeface="Arial"/>
                        <a:buNone/>
                      </a:pPr>
                      <a:r>
                        <a:rPr b="1" lang="en-US" sz="1200" u="none" cap="none" strike="noStrike">
                          <a:solidFill>
                            <a:schemeClr val="lt1"/>
                          </a:solidFill>
                          <a:latin typeface="Century Gothic"/>
                          <a:ea typeface="Century Gothic"/>
                          <a:cs typeface="Century Gothic"/>
                          <a:sym typeface="Century Gothic"/>
                        </a:rPr>
                        <a:t>TOTAL INVERSIÓN MENSUAL *</a:t>
                      </a:r>
                      <a:endParaRPr b="1" sz="900" u="none" cap="none" strike="noStrike">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chemeClr val="dk1"/>
                        </a:buClr>
                        <a:buSzPts val="1400"/>
                        <a:buFont typeface="Arial"/>
                        <a:buNone/>
                      </a:pPr>
                      <a:r>
                        <a:rPr b="1" lang="en-US" sz="1100" u="none" cap="none" strike="noStrike">
                          <a:solidFill>
                            <a:schemeClr val="lt1"/>
                          </a:solidFill>
                          <a:latin typeface="Century Gothic"/>
                          <a:ea typeface="Century Gothic"/>
                          <a:cs typeface="Century Gothic"/>
                          <a:sym typeface="Century Gothic"/>
                        </a:rPr>
                        <a:t>$1’1200,000</a:t>
                      </a:r>
                      <a:endParaRPr b="1" sz="800" u="none" cap="none" strike="noStrike">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bl>
          </a:graphicData>
        </a:graphic>
      </p:graphicFrame>
      <p:sp>
        <p:nvSpPr>
          <p:cNvPr id="241" name="Google Shape;241;g39331c9436a_0_55"/>
          <p:cNvSpPr/>
          <p:nvPr/>
        </p:nvSpPr>
        <p:spPr>
          <a:xfrm>
            <a:off x="6627825" y="2933592"/>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45" name="Shape 245"/>
        <p:cNvGrpSpPr/>
        <p:nvPr/>
      </p:nvGrpSpPr>
      <p:grpSpPr>
        <a:xfrm>
          <a:off x="0" y="0"/>
          <a:ext cx="0" cy="0"/>
          <a:chOff x="0" y="0"/>
          <a:chExt cx="0" cy="0"/>
        </a:xfrm>
      </p:grpSpPr>
      <p:sp>
        <p:nvSpPr>
          <p:cNvPr id="246" name="Google Shape;246;g39331c9436a_0_177"/>
          <p:cNvSpPr txBox="1"/>
          <p:nvPr>
            <p:ph idx="4294967295" type="ctrTitle"/>
          </p:nvPr>
        </p:nvSpPr>
        <p:spPr>
          <a:xfrm>
            <a:off x="685802" y="1991846"/>
            <a:ext cx="7772400" cy="115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2400"/>
              <a:buFont typeface="Nunito Sans"/>
              <a:buNone/>
            </a:pPr>
            <a:r>
              <a:rPr b="1" i="0" lang="en-US" sz="3000" u="none" cap="none" strike="noStrike">
                <a:solidFill>
                  <a:srgbClr val="FFFFFF"/>
                </a:solidFill>
                <a:latin typeface="Century Gothic"/>
                <a:ea typeface="Century Gothic"/>
                <a:cs typeface="Century Gothic"/>
                <a:sym typeface="Century Gothic"/>
              </a:rPr>
              <a:t>Métricas de éxito</a:t>
            </a:r>
            <a:r>
              <a:rPr b="1" i="1" lang="en-US" sz="3000" u="none" cap="none" strike="noStrike">
                <a:solidFill>
                  <a:srgbClr val="FFFFFF"/>
                </a:solidFill>
                <a:latin typeface="Century Gothic"/>
                <a:ea typeface="Century Gothic"/>
                <a:cs typeface="Century Gothic"/>
                <a:sym typeface="Century Gothic"/>
              </a:rPr>
              <a:t> </a:t>
            </a:r>
            <a:endParaRPr b="0" i="0" sz="3000" u="none" cap="none" strike="noStrike">
              <a:solidFill>
                <a:srgbClr val="FFFFFF"/>
              </a:solidFill>
              <a:latin typeface="Century Gothic"/>
              <a:ea typeface="Century Gothic"/>
              <a:cs typeface="Century Gothic"/>
              <a:sym typeface="Century Gothic"/>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g39331c9436a_0_73"/>
          <p:cNvSpPr txBox="1"/>
          <p:nvPr>
            <p:ph idx="4294967295" type="body"/>
          </p:nvPr>
        </p:nvSpPr>
        <p:spPr>
          <a:xfrm>
            <a:off x="340775" y="1083975"/>
            <a:ext cx="4100100" cy="3078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SzPts val="1400"/>
              <a:buNone/>
            </a:pPr>
            <a:r>
              <a:rPr b="1" lang="en-US" sz="1600">
                <a:solidFill>
                  <a:schemeClr val="accent1"/>
                </a:solidFill>
                <a:latin typeface="Century Gothic"/>
                <a:ea typeface="Century Gothic"/>
                <a:cs typeface="Century Gothic"/>
                <a:sym typeface="Century Gothic"/>
              </a:rPr>
              <a:t> Eficiencia de Atención</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rPr b="1" lang="en-US" sz="1200">
                <a:solidFill>
                  <a:schemeClr val="dk2"/>
                </a:solidFill>
                <a:latin typeface="Century Gothic"/>
                <a:ea typeface="Century Gothic"/>
                <a:cs typeface="Century Gothic"/>
                <a:sym typeface="Century Gothic"/>
              </a:rPr>
              <a:t>% de conversaciones atendidas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70%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Operación descargada, IA absorbe la demanda estándar.</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50% – 69%</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Buen avance, ajustes de flujos y respuestas.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&lt; 50%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Dependencia excesiva del equipo humano.</a:t>
            </a:r>
            <a:endParaRPr sz="1200">
              <a:solidFill>
                <a:schemeClr val="dk2"/>
              </a:solidFill>
              <a:latin typeface="Century Gothic"/>
              <a:ea typeface="Century Gothic"/>
              <a:cs typeface="Century Gothic"/>
              <a:sym typeface="Century Gothic"/>
            </a:endParaRPr>
          </a:p>
        </p:txBody>
      </p:sp>
      <p:sp>
        <p:nvSpPr>
          <p:cNvPr id="252" name="Google Shape;252;g39331c9436a_0_73"/>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53" name="Google Shape;253;g39331c9436a_0_73"/>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54" name="Google Shape;254;g39331c9436a_0_73"/>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a:t>
            </a:r>
            <a:endParaRPr b="0" i="1" sz="2200" u="none" cap="none" strike="noStrike">
              <a:solidFill>
                <a:schemeClr val="accent1"/>
              </a:solidFill>
              <a:latin typeface="Century Gothic"/>
              <a:ea typeface="Century Gothic"/>
              <a:cs typeface="Century Gothic"/>
              <a:sym typeface="Century Gothic"/>
            </a:endParaRPr>
          </a:p>
        </p:txBody>
      </p:sp>
      <p:sp>
        <p:nvSpPr>
          <p:cNvPr id="255" name="Google Shape;255;g39331c9436a_0_7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56" name="Google Shape;256;g39331c9436a_0_73"/>
          <p:cNvSpPr txBox="1"/>
          <p:nvPr>
            <p:ph idx="4294967295" type="body"/>
          </p:nvPr>
        </p:nvSpPr>
        <p:spPr>
          <a:xfrm>
            <a:off x="4735475" y="1083975"/>
            <a:ext cx="41001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SzPts val="1400"/>
              <a:buNone/>
            </a:pPr>
            <a:r>
              <a:rPr b="1" lang="en-US" sz="1600">
                <a:solidFill>
                  <a:schemeClr val="accent1"/>
                </a:solidFill>
                <a:latin typeface="Century Gothic"/>
                <a:ea typeface="Century Gothic"/>
                <a:cs typeface="Century Gothic"/>
                <a:sym typeface="Century Gothic"/>
              </a:rPr>
              <a:t>Velocidad de Respuesta</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rPr b="1" lang="en-US" sz="1200">
                <a:solidFill>
                  <a:schemeClr val="dk2"/>
                </a:solidFill>
                <a:latin typeface="Century Gothic"/>
                <a:ea typeface="Century Gothic"/>
                <a:cs typeface="Century Gothic"/>
                <a:sym typeface="Century Gothic"/>
              </a:rPr>
              <a:t>Tiempo promedio de primera respuesta</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&lt; 1 minuto</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Experiencia inmediata y diferencial.</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1 – 3 minutos</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Aceptable, pero aún dependiente de carga operativa.</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&gt; 3 minutos</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Riesgo directo a experiencia y conversión.</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1000"/>
                                        <p:tgtEl>
                                          <p:spTgt spid="25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5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5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5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5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5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5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6" st="6"/>
                                            </p:txEl>
                                          </p:spTgt>
                                        </p:tgtEl>
                                        <p:attrNameLst>
                                          <p:attrName>style.visibility</p:attrName>
                                        </p:attrNameLst>
                                      </p:cBhvr>
                                      <p:to>
                                        <p:strVal val="visible"/>
                                      </p:to>
                                    </p:set>
                                    <p:animEffect filter="fade" transition="in">
                                      <p:cBhvr>
                                        <p:cTn dur="500"/>
                                        <p:tgtEl>
                                          <p:spTgt spid="2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7" st="7"/>
                                            </p:txEl>
                                          </p:spTgt>
                                        </p:tgtEl>
                                        <p:attrNameLst>
                                          <p:attrName>style.visibility</p:attrName>
                                        </p:attrNameLst>
                                      </p:cBhvr>
                                      <p:to>
                                        <p:strVal val="visible"/>
                                      </p:to>
                                    </p:set>
                                    <p:animEffect filter="fade" transition="in">
                                      <p:cBhvr>
                                        <p:cTn dur="500"/>
                                        <p:tgtEl>
                                          <p:spTgt spid="2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8" st="8"/>
                                            </p:txEl>
                                          </p:spTgt>
                                        </p:tgtEl>
                                        <p:attrNameLst>
                                          <p:attrName>style.visibility</p:attrName>
                                        </p:attrNameLst>
                                      </p:cBhvr>
                                      <p:to>
                                        <p:strVal val="visible"/>
                                      </p:to>
                                    </p:set>
                                    <p:animEffect filter="fade" transition="in">
                                      <p:cBhvr>
                                        <p:cTn dur="500"/>
                                        <p:tgtEl>
                                          <p:spTgt spid="25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g39331c9436a_0_82"/>
          <p:cNvSpPr txBox="1"/>
          <p:nvPr>
            <p:ph idx="4294967295" type="body"/>
          </p:nvPr>
        </p:nvSpPr>
        <p:spPr>
          <a:xfrm>
            <a:off x="340775" y="1083975"/>
            <a:ext cx="41001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SzPts val="1400"/>
              <a:buNone/>
            </a:pPr>
            <a:r>
              <a:rPr b="1" lang="en-US" sz="1600">
                <a:solidFill>
                  <a:schemeClr val="accent1"/>
                </a:solidFill>
                <a:latin typeface="Century Gothic"/>
                <a:ea typeface="Century Gothic"/>
                <a:cs typeface="Century Gothic"/>
                <a:sym typeface="Century Gothic"/>
              </a:rPr>
              <a:t> Calidad de Información</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rPr b="1" lang="en-US" sz="1200">
                <a:solidFill>
                  <a:schemeClr val="dk2"/>
                </a:solidFill>
                <a:latin typeface="Century Gothic"/>
                <a:ea typeface="Century Gothic"/>
                <a:cs typeface="Century Gothic"/>
                <a:sym typeface="Century Gothic"/>
              </a:rPr>
              <a:t>% de reservas con datos completos y correctos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95%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Información confiable para la operación.</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85% – 94%</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Requiere afinación de preguntas y validaciones.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&lt; 85%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Genera reprocesos y fricción interna.</a:t>
            </a:r>
            <a:endParaRPr sz="1200">
              <a:solidFill>
                <a:schemeClr val="dk2"/>
              </a:solidFill>
              <a:latin typeface="Century Gothic"/>
              <a:ea typeface="Century Gothic"/>
              <a:cs typeface="Century Gothic"/>
              <a:sym typeface="Century Gothic"/>
            </a:endParaRPr>
          </a:p>
        </p:txBody>
      </p:sp>
      <p:sp>
        <p:nvSpPr>
          <p:cNvPr id="262" name="Google Shape;262;g39331c9436a_0_8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63" name="Google Shape;263;g39331c9436a_0_82"/>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64" name="Google Shape;264;g39331c9436a_0_8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a:t>
            </a:r>
            <a:endParaRPr b="0" i="1" sz="2200" u="none" cap="none" strike="noStrike">
              <a:solidFill>
                <a:schemeClr val="accent1"/>
              </a:solidFill>
              <a:latin typeface="Century Gothic"/>
              <a:ea typeface="Century Gothic"/>
              <a:cs typeface="Century Gothic"/>
              <a:sym typeface="Century Gothic"/>
            </a:endParaRPr>
          </a:p>
        </p:txBody>
      </p:sp>
      <p:sp>
        <p:nvSpPr>
          <p:cNvPr id="265" name="Google Shape;265;g39331c9436a_0_8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66" name="Google Shape;266;g39331c9436a_0_82"/>
          <p:cNvSpPr txBox="1"/>
          <p:nvPr>
            <p:ph idx="4294967295" type="body"/>
          </p:nvPr>
        </p:nvSpPr>
        <p:spPr>
          <a:xfrm>
            <a:off x="4735475" y="1083975"/>
            <a:ext cx="4100100" cy="270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SzPts val="1400"/>
              <a:buNone/>
            </a:pPr>
            <a:r>
              <a:rPr b="1" lang="en-US" sz="1600">
                <a:solidFill>
                  <a:schemeClr val="accent1"/>
                </a:solidFill>
                <a:latin typeface="Century Gothic"/>
                <a:ea typeface="Century Gothic"/>
                <a:cs typeface="Century Gothic"/>
                <a:sym typeface="Century Gothic"/>
              </a:rPr>
              <a:t>Foco del Equipo Humano</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rPr b="1" lang="en-US" sz="1200">
                <a:solidFill>
                  <a:schemeClr val="dk2"/>
                </a:solidFill>
                <a:latin typeface="Century Gothic"/>
                <a:ea typeface="Century Gothic"/>
                <a:cs typeface="Century Gothic"/>
                <a:sym typeface="Century Gothic"/>
              </a:rPr>
              <a:t>% de conversaciones derivadas a humano</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Verde: 15% – 25%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Derivaciones estratégicas y de alto valor.</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26% – 40%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Aún hay ruido operativo.</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&gt; 40%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La IA no está filtrando correctamente.</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1000"/>
                                        <p:tgtEl>
                                          <p:spTgt spid="2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Effect filter="fade" transition="in">
                                      <p:cBhvr>
                                        <p:cTn dur="500"/>
                                        <p:tgtEl>
                                          <p:spTgt spid="2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animEffect filter="fade" transition="in">
                                      <p:cBhvr>
                                        <p:cTn dur="500"/>
                                        <p:tgtEl>
                                          <p:spTgt spid="2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animEffect filter="fade" transition="in">
                                      <p:cBhvr>
                                        <p:cTn dur="500"/>
                                        <p:tgtEl>
                                          <p:spTgt spid="2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animEffect filter="fade" transition="in">
                                      <p:cBhvr>
                                        <p:cTn dur="500"/>
                                        <p:tgtEl>
                                          <p:spTgt spid="2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animEffect filter="fade" transition="in">
                                      <p:cBhvr>
                                        <p:cTn dur="500"/>
                                        <p:tgtEl>
                                          <p:spTgt spid="2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animEffect filter="fade" transition="in">
                                      <p:cBhvr>
                                        <p:cTn dur="500"/>
                                        <p:tgtEl>
                                          <p:spTgt spid="2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animEffect filter="fade" transition="in">
                                      <p:cBhvr>
                                        <p:cTn dur="500"/>
                                        <p:tgtEl>
                                          <p:spTgt spid="2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7" st="7"/>
                                            </p:txEl>
                                          </p:spTgt>
                                        </p:tgtEl>
                                        <p:attrNameLst>
                                          <p:attrName>style.visibility</p:attrName>
                                        </p:attrNameLst>
                                      </p:cBhvr>
                                      <p:to>
                                        <p:strVal val="visible"/>
                                      </p:to>
                                    </p:set>
                                    <p:animEffect filter="fade" transition="in">
                                      <p:cBhvr>
                                        <p:cTn dur="500"/>
                                        <p:tgtEl>
                                          <p:spTgt spid="2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8" st="8"/>
                                            </p:txEl>
                                          </p:spTgt>
                                        </p:tgtEl>
                                        <p:attrNameLst>
                                          <p:attrName>style.visibility</p:attrName>
                                        </p:attrNameLst>
                                      </p:cBhvr>
                                      <p:to>
                                        <p:strVal val="visible"/>
                                      </p:to>
                                    </p:set>
                                    <p:animEffect filter="fade" transition="in">
                                      <p:cBhvr>
                                        <p:cTn dur="500"/>
                                        <p:tgtEl>
                                          <p:spTgt spid="26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g39331c9436a_0_91"/>
          <p:cNvSpPr txBox="1"/>
          <p:nvPr>
            <p:ph idx="4294967295" type="body"/>
          </p:nvPr>
        </p:nvSpPr>
        <p:spPr>
          <a:xfrm>
            <a:off x="340775" y="1083975"/>
            <a:ext cx="4100100" cy="297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SzPts val="1400"/>
              <a:buNone/>
            </a:pPr>
            <a:r>
              <a:rPr b="1" lang="en-US" sz="1600">
                <a:solidFill>
                  <a:schemeClr val="accent1"/>
                </a:solidFill>
                <a:latin typeface="Century Gothic"/>
                <a:ea typeface="Century Gothic"/>
                <a:cs typeface="Century Gothic"/>
                <a:sym typeface="Century Gothic"/>
              </a:rPr>
              <a:t> Gestión de Reservas Especiales</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rPr b="1" lang="en-US" sz="1200">
                <a:solidFill>
                  <a:schemeClr val="dk2"/>
                </a:solidFill>
                <a:latin typeface="Century Gothic"/>
                <a:ea typeface="Century Gothic"/>
                <a:cs typeface="Century Gothic"/>
                <a:sym typeface="Century Gothic"/>
              </a:rPr>
              <a:t>% de reservas especiales bien calificadas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Eventos, celebraciones, +30 personas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90%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Equipo comercial recibe oportunidades listas.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75% – 89%</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Mejora incremental necesaria.</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&lt; 75%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Pérdida de valor comercial.</a:t>
            </a:r>
            <a:endParaRPr sz="1200">
              <a:solidFill>
                <a:schemeClr val="dk2"/>
              </a:solidFill>
              <a:latin typeface="Century Gothic"/>
              <a:ea typeface="Century Gothic"/>
              <a:cs typeface="Century Gothic"/>
              <a:sym typeface="Century Gothic"/>
            </a:endParaRPr>
          </a:p>
        </p:txBody>
      </p:sp>
      <p:sp>
        <p:nvSpPr>
          <p:cNvPr id="272" name="Google Shape;272;g39331c9436a_0_91"/>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73" name="Google Shape;273;g39331c9436a_0_91"/>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74" name="Google Shape;274;g39331c9436a_0_91"/>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a:t>
            </a:r>
            <a:endParaRPr b="0" i="1" sz="2200" u="none" cap="none" strike="noStrike">
              <a:solidFill>
                <a:schemeClr val="accent1"/>
              </a:solidFill>
              <a:latin typeface="Century Gothic"/>
              <a:ea typeface="Century Gothic"/>
              <a:cs typeface="Century Gothic"/>
              <a:sym typeface="Century Gothic"/>
            </a:endParaRPr>
          </a:p>
        </p:txBody>
      </p:sp>
      <p:sp>
        <p:nvSpPr>
          <p:cNvPr id="275" name="Google Shape;275;g39331c9436a_0_9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76" name="Google Shape;276;g39331c9436a_0_91"/>
          <p:cNvSpPr txBox="1"/>
          <p:nvPr>
            <p:ph idx="4294967295" type="body"/>
          </p:nvPr>
        </p:nvSpPr>
        <p:spPr>
          <a:xfrm>
            <a:off x="4735475" y="1607325"/>
            <a:ext cx="4100100" cy="192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SzPts val="1400"/>
              <a:buNone/>
            </a:pPr>
            <a:r>
              <a:rPr b="1" lang="en-US" sz="1600">
                <a:solidFill>
                  <a:schemeClr val="accent1"/>
                </a:solidFill>
                <a:latin typeface="Century Gothic"/>
                <a:ea typeface="Century Gothic"/>
                <a:cs typeface="Century Gothic"/>
                <a:sym typeface="Century Gothic"/>
              </a:rPr>
              <a:t>Impacto Organizacional</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rPr b="1" lang="en-US" sz="1200">
                <a:solidFill>
                  <a:schemeClr val="dk2"/>
                </a:solidFill>
                <a:latin typeface="Century Gothic"/>
                <a:ea typeface="Century Gothic"/>
                <a:cs typeface="Century Gothic"/>
                <a:sym typeface="Century Gothic"/>
              </a:rPr>
              <a:t>Percepción del equipo operativo (Interno)</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SzPts val="1400"/>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Ahorro claro de tiempo + menor estrés operativo</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Ahorro parcial, aún ajustes necesarios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60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No se percibe mejora real</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1000"/>
                                        <p:tgtEl>
                                          <p:spTgt spid="2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5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5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5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500"/>
                                        <p:tgtEl>
                                          <p:spTgt spid="2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animEffect filter="fade" transition="in">
                                      <p:cBhvr>
                                        <p:cTn dur="500"/>
                                        <p:tgtEl>
                                          <p:spTgt spid="2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animEffect filter="fade" transition="in">
                                      <p:cBhvr>
                                        <p:cTn dur="500"/>
                                        <p:tgtEl>
                                          <p:spTgt spid="2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6" st="6"/>
                                            </p:txEl>
                                          </p:spTgt>
                                        </p:tgtEl>
                                        <p:attrNameLst>
                                          <p:attrName>style.visibility</p:attrName>
                                        </p:attrNameLst>
                                      </p:cBhvr>
                                      <p:to>
                                        <p:strVal val="visible"/>
                                      </p:to>
                                    </p:set>
                                    <p:animEffect filter="fade" transition="in">
                                      <p:cBhvr>
                                        <p:cTn dur="500"/>
                                        <p:tgtEl>
                                          <p:spTgt spid="2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7" st="7"/>
                                            </p:txEl>
                                          </p:spTgt>
                                        </p:tgtEl>
                                        <p:attrNameLst>
                                          <p:attrName>style.visibility</p:attrName>
                                        </p:attrNameLst>
                                      </p:cBhvr>
                                      <p:to>
                                        <p:strVal val="visible"/>
                                      </p:to>
                                    </p:set>
                                    <p:animEffect filter="fade" transition="in">
                                      <p:cBhvr>
                                        <p:cTn dur="500"/>
                                        <p:tgtEl>
                                          <p:spTgt spid="2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8" st="8"/>
                                            </p:txEl>
                                          </p:spTgt>
                                        </p:tgtEl>
                                        <p:attrNameLst>
                                          <p:attrName>style.visibility</p:attrName>
                                        </p:attrNameLst>
                                      </p:cBhvr>
                                      <p:to>
                                        <p:strVal val="visible"/>
                                      </p:to>
                                    </p:set>
                                    <p:animEffect filter="fade" transition="in">
                                      <p:cBhvr>
                                        <p:cTn dur="500"/>
                                        <p:tgtEl>
                                          <p:spTgt spid="27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9" st="9"/>
                                            </p:txEl>
                                          </p:spTgt>
                                        </p:tgtEl>
                                        <p:attrNameLst>
                                          <p:attrName>style.visibility</p:attrName>
                                        </p:attrNameLst>
                                      </p:cBhvr>
                                      <p:to>
                                        <p:strVal val="visible"/>
                                      </p:to>
                                    </p:set>
                                    <p:animEffect filter="fade" transition="in">
                                      <p:cBhvr>
                                        <p:cTn dur="500"/>
                                        <p:tgtEl>
                                          <p:spTgt spid="27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g3a76c59d471_0_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82" name="Google Shape;282;g3a76c59d471_0_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 |</a:t>
            </a:r>
            <a:endParaRPr b="0" i="1" sz="2200" u="none" cap="none" strike="noStrike">
              <a:solidFill>
                <a:schemeClr val="accent1"/>
              </a:solidFill>
              <a:latin typeface="Century Gothic"/>
              <a:ea typeface="Century Gothic"/>
              <a:cs typeface="Century Gothic"/>
              <a:sym typeface="Century Gothic"/>
            </a:endParaRPr>
          </a:p>
        </p:txBody>
      </p:sp>
      <p:sp>
        <p:nvSpPr>
          <p:cNvPr id="283" name="Google Shape;283;g3a76c59d471_0_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84" name="Google Shape;284;g3a76c59d471_0_2"/>
          <p:cNvSpPr txBox="1"/>
          <p:nvPr/>
        </p:nvSpPr>
        <p:spPr>
          <a:xfrm>
            <a:off x="814950" y="304350"/>
            <a:ext cx="6323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Lato"/>
                <a:ea typeface="Lato"/>
                <a:cs typeface="Lato"/>
                <a:sym typeface="Lato"/>
              </a:rPr>
              <a:t>Condiciones de Servicios de Agentes de IA</a:t>
            </a:r>
            <a:endParaRPr b="1" i="0" sz="2200" u="none" cap="none" strike="noStrike">
              <a:solidFill>
                <a:schemeClr val="accent1"/>
              </a:solidFill>
              <a:latin typeface="Lato"/>
              <a:ea typeface="Lato"/>
              <a:cs typeface="Lato"/>
              <a:sym typeface="Lato"/>
            </a:endParaRPr>
          </a:p>
        </p:txBody>
      </p:sp>
      <p:graphicFrame>
        <p:nvGraphicFramePr>
          <p:cNvPr id="285" name="Google Shape;285;g3a76c59d471_0_2"/>
          <p:cNvGraphicFramePr/>
          <p:nvPr/>
        </p:nvGraphicFramePr>
        <p:xfrm>
          <a:off x="1282650" y="1060088"/>
          <a:ext cx="3000000" cy="3000000"/>
        </p:xfrm>
        <a:graphic>
          <a:graphicData uri="http://schemas.openxmlformats.org/drawingml/2006/table">
            <a:tbl>
              <a:tblPr>
                <a:noFill/>
                <a:tableStyleId>{32F1E0AC-46CA-4597-A7B3-E328FA48EAB3}</a:tableStyleId>
              </a:tblPr>
              <a:tblGrid>
                <a:gridCol w="1738975"/>
                <a:gridCol w="5478175"/>
              </a:tblGrid>
              <a:tr h="12326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Precios:</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El precio dispuesto podrá variar tanto por aumento de requerimientos mensuales, así como por aumentos anuales de inflación, situación que se comunicará con antelación para mediar nuevas condiciones. Todos los precios en este documento son en pesos colombianos (COP). </a:t>
                      </a:r>
                      <a:endParaRPr sz="1100" u="none" cap="none" strike="noStrike">
                        <a:solidFill>
                          <a:srgbClr val="666666"/>
                        </a:solidFill>
                        <a:latin typeface="Lato"/>
                        <a:ea typeface="Lato"/>
                        <a:cs typeface="Lato"/>
                        <a:sym typeface="Lato"/>
                      </a:endParaRPr>
                    </a:p>
                  </a:txBody>
                  <a:tcPr marT="91425" marB="91425" marR="68575" marL="68575"/>
                </a:tc>
              </a:tr>
              <a:tr h="594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Forma de Pago: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Mensual anticipada.</a:t>
                      </a:r>
                      <a:endParaRPr sz="1100" u="none" cap="none" strike="noStrike">
                        <a:solidFill>
                          <a:srgbClr val="666666"/>
                        </a:solidFill>
                        <a:latin typeface="Lato"/>
                        <a:ea typeface="Lato"/>
                        <a:cs typeface="Lato"/>
                        <a:sym typeface="Lato"/>
                      </a:endParaRPr>
                    </a:p>
                  </a:txBody>
                  <a:tcPr marT="91425" marB="91425" marR="68575" marL="68575"/>
                </a:tc>
              </a:tr>
              <a:tr h="402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Plazo de Contrato: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Trimestral. El servicio podrá cancelarse con 30 días de antelación, por medio de notificación escrita por correo electrónico. Una vez enviada la notificación, el cliente no queda exonerado del pago de los gastos incurridos hasta la finalización del contrato. Para el ejercicio de este piloto, el periodo de operación es de 2 meses mínimo a partir de la firma del contrato y podrá ser cancelado dentro los primeros 30 días.</a:t>
                      </a:r>
                      <a:endParaRPr sz="1100" u="none" cap="none" strike="noStrike">
                        <a:solidFill>
                          <a:srgbClr val="666666"/>
                        </a:solidFill>
                        <a:latin typeface="Lato"/>
                        <a:ea typeface="Lato"/>
                        <a:cs typeface="Lato"/>
                        <a:sym typeface="Lato"/>
                      </a:endParaRPr>
                    </a:p>
                  </a:txBody>
                  <a:tcPr marT="91425" marB="91425" marR="68575" marL="68575"/>
                </a:tc>
              </a:tr>
              <a:tr h="3540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Vigencia de oferta:</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15 días a partir de la fecha de este documento.</a:t>
                      </a:r>
                      <a:endParaRPr sz="1100" u="none" cap="none" strike="noStrike">
                        <a:solidFill>
                          <a:srgbClr val="666666"/>
                        </a:solidFill>
                        <a:latin typeface="Lato"/>
                        <a:ea typeface="Lato"/>
                        <a:cs typeface="Lato"/>
                        <a:sym typeface="Lato"/>
                      </a:endParaRPr>
                    </a:p>
                  </a:txBody>
                  <a:tcPr marT="91425" marB="91425" marR="68575" marL="68575"/>
                </a:tc>
              </a:tr>
            </a:tbl>
          </a:graphicData>
        </a:graphic>
      </p:graphicFrame>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g391467adb57_0_0"/>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91" name="Google Shape;291;g391467adb57_0_0"/>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 |Llamadas</a:t>
            </a:r>
            <a:endParaRPr b="0" i="1" sz="2200" u="none" cap="none" strike="noStrike">
              <a:solidFill>
                <a:schemeClr val="accent1"/>
              </a:solidFill>
              <a:latin typeface="Century Gothic"/>
              <a:ea typeface="Century Gothic"/>
              <a:cs typeface="Century Gothic"/>
              <a:sym typeface="Century Gothic"/>
            </a:endParaRPr>
          </a:p>
        </p:txBody>
      </p:sp>
      <p:sp>
        <p:nvSpPr>
          <p:cNvPr id="292" name="Google Shape;292;g391467adb57_0_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93" name="Google Shape;293;g391467adb57_0_0"/>
          <p:cNvSpPr txBox="1"/>
          <p:nvPr/>
        </p:nvSpPr>
        <p:spPr>
          <a:xfrm>
            <a:off x="814950" y="304350"/>
            <a:ext cx="6323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Lato"/>
                <a:ea typeface="Lato"/>
                <a:cs typeface="Lato"/>
                <a:sym typeface="Lato"/>
              </a:rPr>
              <a:t>Llamadas salientes con IA</a:t>
            </a:r>
            <a:endParaRPr b="1" i="0" sz="2200" u="none" cap="none" strike="noStrike">
              <a:solidFill>
                <a:schemeClr val="accent1"/>
              </a:solidFill>
              <a:latin typeface="Lato"/>
              <a:ea typeface="Lato"/>
              <a:cs typeface="Lato"/>
              <a:sym typeface="Lato"/>
            </a:endParaRPr>
          </a:p>
        </p:txBody>
      </p:sp>
      <p:graphicFrame>
        <p:nvGraphicFramePr>
          <p:cNvPr id="294" name="Google Shape;294;g391467adb57_0_0"/>
          <p:cNvGraphicFramePr/>
          <p:nvPr/>
        </p:nvGraphicFramePr>
        <p:xfrm>
          <a:off x="1282650" y="1060088"/>
          <a:ext cx="3000000" cy="3000000"/>
        </p:xfrm>
        <a:graphic>
          <a:graphicData uri="http://schemas.openxmlformats.org/drawingml/2006/table">
            <a:tbl>
              <a:tblPr>
                <a:noFill/>
                <a:tableStyleId>{32F1E0AC-46CA-4597-A7B3-E328FA48EAB3}</a:tableStyleId>
              </a:tblPr>
              <a:tblGrid>
                <a:gridCol w="1738975"/>
                <a:gridCol w="5478175"/>
              </a:tblGrid>
              <a:tr h="12326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Precios:</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El precio dispuesto podrá variar tanto por aumento de requerimientos mensuales, así como por aumentos anuales de inflación, situación que se comunicará con antelación para mediar nuevas condiciones. Todos los precios en este documento son en pesos colombianos (COP). </a:t>
                      </a:r>
                      <a:endParaRPr sz="1100" u="none" cap="none" strike="noStrike">
                        <a:solidFill>
                          <a:srgbClr val="666666"/>
                        </a:solidFill>
                        <a:latin typeface="Lato"/>
                        <a:ea typeface="Lato"/>
                        <a:cs typeface="Lato"/>
                        <a:sym typeface="Lato"/>
                      </a:endParaRPr>
                    </a:p>
                  </a:txBody>
                  <a:tcPr marT="91425" marB="91425" marR="68575" marL="68575"/>
                </a:tc>
              </a:tr>
              <a:tr h="594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Forma de Pago: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Costo por minuto - modelo “Pay as you go”, donde pagas por lo que uses, llama a tus clientes para ofrecer nuevos productos, recibir opiniones, informar sobre novedades sobre sus pedidos,  y todo lo que tu empresa quiera comunicar.</a:t>
                      </a:r>
                      <a:endParaRPr sz="1100" u="none" cap="none" strike="noStrike">
                        <a:solidFill>
                          <a:srgbClr val="666666"/>
                        </a:solidFill>
                        <a:latin typeface="Lato"/>
                        <a:ea typeface="Lato"/>
                        <a:cs typeface="Lato"/>
                        <a:sym typeface="Lato"/>
                      </a:endParaRPr>
                    </a:p>
                  </a:txBody>
                  <a:tcPr marT="91425" marB="91425" marR="68575" marL="68575"/>
                </a:tc>
              </a:tr>
              <a:tr h="402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Plazo de Contrato: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700 pesos el minuto. Incluye IA GPT 5, Transcripción, Grabación de llamada, extracción de información de la llamada, voz realista y humana o clonación de voz si así lo desean (1 sola clonación de voz, voces posteriores a 50.000 la modificación)</a:t>
                      </a:r>
                      <a:endParaRPr sz="1100" u="none" cap="none" strike="noStrike">
                        <a:solidFill>
                          <a:srgbClr val="666666"/>
                        </a:solidFill>
                        <a:latin typeface="Lato"/>
                        <a:ea typeface="Lato"/>
                        <a:cs typeface="Lato"/>
                        <a:sym typeface="Lato"/>
                      </a:endParaRPr>
                    </a:p>
                  </a:txBody>
                  <a:tcPr marT="91425" marB="91425" marR="68575" marL="68575"/>
                </a:tc>
              </a:tr>
              <a:tr h="3540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Vigencia de oferta:</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15 días a partir de la fecha de este documento.</a:t>
                      </a:r>
                      <a:endParaRPr sz="1100" u="none" cap="none" strike="noStrike">
                        <a:solidFill>
                          <a:srgbClr val="666666"/>
                        </a:solidFill>
                        <a:latin typeface="Lato"/>
                        <a:ea typeface="Lato"/>
                        <a:cs typeface="Lato"/>
                        <a:sym typeface="Lato"/>
                      </a:endParaRPr>
                    </a:p>
                  </a:txBody>
                  <a:tcPr marT="91425" marB="91425" marR="68575" marL="68575"/>
                </a:tc>
              </a:tr>
            </a:tbl>
          </a:graphicData>
        </a:graphic>
      </p:graphicFrame>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lysse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lysse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