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Lato"/>
      <p:regular r:id="rId25"/>
      <p:bold r:id="rId26"/>
      <p:italic r:id="rId27"/>
      <p:boldItalic r:id="rId28"/>
    </p:embeddedFont>
    <p:embeddedFont>
      <p:font typeface="Tahoma"/>
      <p:regular r:id="rId29"/>
      <p:bold r:id="rId30"/>
    </p:embeddedFont>
    <p:embeddedFont>
      <p:font typeface="Nunito Sans"/>
      <p:regular r:id="rId31"/>
      <p:bold r:id="rId32"/>
      <p:italic r:id="rId33"/>
      <p:boldItalic r:id="rId34"/>
    </p:embeddedFont>
    <p:embeddedFont>
      <p:font typeface="Century Gothic"/>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os="417">
          <p15:clr>
            <a:srgbClr val="747775"/>
          </p15:clr>
        </p15:guide>
      </p15:sldGuideLst>
    </p:ext>
    <p:ext uri="GoogleSlidesCustomDataVersion2">
      <go:slidesCustomData xmlns:go="http://customooxmlschemas.google.com/" r:id="rId39" roundtripDataSignature="AMtx7mg1vE1eajcit1Cnf1FP16cOGMso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FA19D8-3AE0-40E6-8482-E8CE6FBBE91D}">
  <a:tblStyle styleId="{EFFA19D8-3AE0-40E6-8482-E8CE6FBBE91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41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Tahoma-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NunitoSans-regular.fntdata"/><Relationship Id="rId30" Type="http://schemas.openxmlformats.org/officeDocument/2006/relationships/font" Target="fonts/Tahoma-bold.fntdata"/><Relationship Id="rId11" Type="http://schemas.openxmlformats.org/officeDocument/2006/relationships/slide" Target="slides/slide4.xml"/><Relationship Id="rId33" Type="http://schemas.openxmlformats.org/officeDocument/2006/relationships/font" Target="fonts/NunitoSans-italic.fntdata"/><Relationship Id="rId10" Type="http://schemas.openxmlformats.org/officeDocument/2006/relationships/slide" Target="slides/slide3.xml"/><Relationship Id="rId32" Type="http://schemas.openxmlformats.org/officeDocument/2006/relationships/font" Target="fonts/NunitoSans-bold.fntdata"/><Relationship Id="rId13" Type="http://schemas.openxmlformats.org/officeDocument/2006/relationships/slide" Target="slides/slide6.xml"/><Relationship Id="rId35" Type="http://schemas.openxmlformats.org/officeDocument/2006/relationships/font" Target="fonts/CenturyGothic-regular.fntdata"/><Relationship Id="rId12" Type="http://schemas.openxmlformats.org/officeDocument/2006/relationships/slide" Target="slides/slide5.xml"/><Relationship Id="rId34" Type="http://schemas.openxmlformats.org/officeDocument/2006/relationships/font" Target="fonts/NunitoSans-boldItalic.fntdata"/><Relationship Id="rId15" Type="http://schemas.openxmlformats.org/officeDocument/2006/relationships/slide" Target="slides/slide8.xml"/><Relationship Id="rId37" Type="http://schemas.openxmlformats.org/officeDocument/2006/relationships/font" Target="fonts/CenturyGothic-italic.fntdata"/><Relationship Id="rId14" Type="http://schemas.openxmlformats.org/officeDocument/2006/relationships/slide" Target="slides/slide7.xml"/><Relationship Id="rId36" Type="http://schemas.openxmlformats.org/officeDocument/2006/relationships/font" Target="fonts/CenturyGothic-bold.fntdata"/><Relationship Id="rId17" Type="http://schemas.openxmlformats.org/officeDocument/2006/relationships/slide" Target="slides/slide10.xml"/><Relationship Id="rId39" Type="http://customschemas.google.com/relationships/presentationmetadata" Target="metadata"/><Relationship Id="rId16" Type="http://schemas.openxmlformats.org/officeDocument/2006/relationships/slide" Target="slides/slide9.xml"/><Relationship Id="rId38" Type="http://schemas.openxmlformats.org/officeDocument/2006/relationships/font" Target="fonts/CenturyGothic-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331c9436a_0_18: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9331c9436a_0_18: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331c9436a_0_3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9331c9436a_0_31: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331c9436a_0_4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g39331c9436a_0_41: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331c9436a_0_48: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g39331c9436a_0_48: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331c9436a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9331c9436a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2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24: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15" name="Google Shape;21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9331c9436a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33" name="Google Shape;233;g39331c9436a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331c9436a_0_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9331c9436a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9331c9436a_0_73: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39331c9436a_0_73: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331c9436a_0_8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9331c9436a_0_8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9331c9436a_0_91: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39331c9436a_0_91: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76c59d471_0_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g3a76c59d471_0_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1467adb57_0_0: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g391467adb57_0_0: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57"/>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1" name="Shape 11"/>
        <p:cNvGrpSpPr/>
        <p:nvPr/>
      </p:nvGrpSpPr>
      <p:grpSpPr>
        <a:xfrm>
          <a:off x="0" y="0"/>
          <a:ext cx="0" cy="0"/>
          <a:chOff x="0" y="0"/>
          <a:chExt cx="0" cy="0"/>
        </a:xfrm>
      </p:grpSpPr>
      <p:sp>
        <p:nvSpPr>
          <p:cNvPr id="12" name="Google Shape;12;p56"/>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 name="Google Shape;13;p56"/>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56"/>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228600" lvl="0" marL="457200" marR="0" algn="ctr">
              <a:lnSpc>
                <a:spcPct val="115000"/>
              </a:lnSpc>
              <a:spcBef>
                <a:spcPts val="600"/>
              </a:spcBef>
              <a:spcAft>
                <a:spcPts val="0"/>
              </a:spcAft>
              <a:buClr>
                <a:srgbClr val="CCCCCC"/>
              </a:buClr>
              <a:buSzPts val="2400"/>
              <a:buFont typeface="Georgia"/>
              <a:buNone/>
              <a:defRPr b="0" i="1" sz="2400" u="none" cap="none" strike="noStrike">
                <a:solidFill>
                  <a:srgbClr val="666666"/>
                </a:solidFill>
                <a:latin typeface="Lato"/>
                <a:ea typeface="Lato"/>
                <a:cs typeface="Lato"/>
                <a:sym typeface="Lato"/>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pic>
        <p:nvPicPr>
          <p:cNvPr id="15" name="Google Shape;15;p56"/>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16" name="Google Shape;16;p56"/>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17" name="Shape 17"/>
        <p:cNvGrpSpPr/>
        <p:nvPr/>
      </p:nvGrpSpPr>
      <p:grpSpPr>
        <a:xfrm>
          <a:off x="0" y="0"/>
          <a:ext cx="0" cy="0"/>
          <a:chOff x="0" y="0"/>
          <a:chExt cx="0" cy="0"/>
        </a:xfrm>
      </p:grpSpPr>
      <p:sp>
        <p:nvSpPr>
          <p:cNvPr id="18" name="Google Shape;18;p58"/>
          <p:cNvSpPr/>
          <p:nvPr/>
        </p:nvSpPr>
        <p:spPr>
          <a:xfrm>
            <a:off x="0" y="4434879"/>
            <a:ext cx="9144000" cy="708660"/>
          </a:xfrm>
          <a:custGeom>
            <a:rect b="b" l="l" r="r" t="t"/>
            <a:pathLst>
              <a:path extrusionOk="0" h="708660" w="9144000">
                <a:moveTo>
                  <a:pt x="0" y="708619"/>
                </a:moveTo>
                <a:lnTo>
                  <a:pt x="9144000" y="708619"/>
                </a:lnTo>
                <a:lnTo>
                  <a:pt x="9144000" y="0"/>
                </a:lnTo>
                <a:lnTo>
                  <a:pt x="0" y="0"/>
                </a:lnTo>
                <a:lnTo>
                  <a:pt x="0" y="708619"/>
                </a:lnTo>
                <a:close/>
              </a:path>
            </a:pathLst>
          </a:custGeom>
          <a:solidFill>
            <a:srgbClr val="F1BB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 name="Google Shape;19;p58"/>
          <p:cNvSpPr/>
          <p:nvPr/>
        </p:nvSpPr>
        <p:spPr>
          <a:xfrm>
            <a:off x="0" y="0"/>
            <a:ext cx="9144635" cy="4435475"/>
          </a:xfrm>
          <a:custGeom>
            <a:rect b="b" l="l" r="r" t="t"/>
            <a:pathLst>
              <a:path extrusionOk="0" h="4435475" w="9144635">
                <a:moveTo>
                  <a:pt x="9144074" y="0"/>
                </a:moveTo>
                <a:lnTo>
                  <a:pt x="0" y="0"/>
                </a:lnTo>
                <a:lnTo>
                  <a:pt x="0" y="4434879"/>
                </a:lnTo>
                <a:lnTo>
                  <a:pt x="9144074" y="4434879"/>
                </a:lnTo>
                <a:lnTo>
                  <a:pt x="914407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0" name="Google Shape;20;p58"/>
          <p:cNvPicPr preferRelativeResize="0"/>
          <p:nvPr/>
        </p:nvPicPr>
        <p:blipFill rotWithShape="1">
          <a:blip r:embed="rId2">
            <a:alphaModFix/>
          </a:blip>
          <a:srcRect b="0" l="0" r="0" t="0"/>
          <a:stretch/>
        </p:blipFill>
        <p:spPr>
          <a:xfrm>
            <a:off x="0" y="4319015"/>
            <a:ext cx="9144000" cy="118871"/>
          </a:xfrm>
          <a:prstGeom prst="rect">
            <a:avLst/>
          </a:prstGeom>
          <a:noFill/>
          <a:ln>
            <a:noFill/>
          </a:ln>
        </p:spPr>
      </p:pic>
      <p:pic>
        <p:nvPicPr>
          <p:cNvPr id="21" name="Google Shape;21;p58"/>
          <p:cNvPicPr preferRelativeResize="0"/>
          <p:nvPr/>
        </p:nvPicPr>
        <p:blipFill rotWithShape="1">
          <a:blip r:embed="rId3">
            <a:alphaModFix/>
          </a:blip>
          <a:srcRect b="0" l="0" r="0" t="0"/>
          <a:stretch/>
        </p:blipFill>
        <p:spPr>
          <a:xfrm>
            <a:off x="341375" y="4520183"/>
            <a:ext cx="1301496" cy="457200"/>
          </a:xfrm>
          <a:prstGeom prst="rect">
            <a:avLst/>
          </a:prstGeom>
          <a:noFill/>
          <a:ln>
            <a:noFill/>
          </a:ln>
        </p:spPr>
      </p:pic>
      <p:pic>
        <p:nvPicPr>
          <p:cNvPr id="22" name="Google Shape;22;p58"/>
          <p:cNvPicPr preferRelativeResize="0"/>
          <p:nvPr/>
        </p:nvPicPr>
        <p:blipFill rotWithShape="1">
          <a:blip r:embed="rId4">
            <a:alphaModFix/>
          </a:blip>
          <a:srcRect b="0" l="0" r="0" t="0"/>
          <a:stretch/>
        </p:blipFill>
        <p:spPr>
          <a:xfrm>
            <a:off x="7835972" y="4451088"/>
            <a:ext cx="850850" cy="510511"/>
          </a:xfrm>
          <a:prstGeom prst="rect">
            <a:avLst/>
          </a:prstGeom>
          <a:noFill/>
          <a:ln>
            <a:noFill/>
          </a:ln>
        </p:spPr>
      </p:pic>
      <p:sp>
        <p:nvSpPr>
          <p:cNvPr id="23" name="Google Shape;23;p58"/>
          <p:cNvSpPr txBox="1"/>
          <p:nvPr>
            <p:ph type="title"/>
          </p:nvPr>
        </p:nvSpPr>
        <p:spPr>
          <a:xfrm>
            <a:off x="2879092" y="615188"/>
            <a:ext cx="3385800" cy="299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1" sz="1800">
                <a:solidFill>
                  <a:srgbClr val="F1C23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58"/>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58"/>
          <p:cNvSpPr txBox="1"/>
          <p:nvPr>
            <p:ph idx="2" type="body"/>
          </p:nvPr>
        </p:nvSpPr>
        <p:spPr>
          <a:xfrm>
            <a:off x="470916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58"/>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 name="Google Shape;27;p58"/>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 name="Google Shape;28;p5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solidFill>
          <a:srgbClr val="F1BB00"/>
        </a:solidFill>
      </p:bgPr>
    </p:bg>
    <p:spTree>
      <p:nvGrpSpPr>
        <p:cNvPr id="29" name="Shape 29"/>
        <p:cNvGrpSpPr/>
        <p:nvPr/>
      </p:nvGrpSpPr>
      <p:grpSpPr>
        <a:xfrm>
          <a:off x="0" y="0"/>
          <a:ext cx="0" cy="0"/>
          <a:chOff x="0" y="0"/>
          <a:chExt cx="0" cy="0"/>
        </a:xfrm>
      </p:grpSpPr>
      <p:sp>
        <p:nvSpPr>
          <p:cNvPr id="30" name="Google Shape;30;p96"/>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 name="Google Shape;31;p96"/>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96"/>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33" name="Google Shape;33;p96"/>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Lato"/>
                <a:ea typeface="Lato"/>
                <a:cs typeface="Lato"/>
                <a:sym typeface="Lato"/>
              </a:defRPr>
            </a:lvl1pPr>
            <a:lvl2pPr indent="-317500" lvl="1" marL="914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34" name="Google Shape;34;p96"/>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96"/>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36" name="Google Shape;36;p96"/>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37" name="Shape 37"/>
        <p:cNvGrpSpPr/>
        <p:nvPr/>
      </p:nvGrpSpPr>
      <p:grpSpPr>
        <a:xfrm>
          <a:off x="0" y="0"/>
          <a:ext cx="0" cy="0"/>
          <a:chOff x="0" y="0"/>
          <a:chExt cx="0" cy="0"/>
        </a:xfrm>
      </p:grpSpPr>
      <p:sp>
        <p:nvSpPr>
          <p:cNvPr id="38" name="Google Shape;38;p97"/>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97"/>
          <p:cNvSpPr txBox="1"/>
          <p:nvPr>
            <p:ph type="ctrTitle"/>
          </p:nvPr>
        </p:nvSpPr>
        <p:spPr>
          <a:xfrm>
            <a:off x="468925" y="2387250"/>
            <a:ext cx="3636600" cy="2259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67031"/>
              </a:buClr>
              <a:buSzPts val="3000"/>
              <a:buFont typeface="Nunito Sans"/>
              <a:buNone/>
              <a:defRPr b="1" i="0" sz="30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9pPr>
          </a:lstStyle>
          <a:p/>
        </p:txBody>
      </p:sp>
      <p:sp>
        <p:nvSpPr>
          <p:cNvPr id="40" name="Google Shape;40;p97"/>
          <p:cNvSpPr/>
          <p:nvPr/>
        </p:nvSpPr>
        <p:spPr>
          <a:xfrm>
            <a:off x="4574900" y="-150"/>
            <a:ext cx="185400" cy="5143500"/>
          </a:xfrm>
          <a:prstGeom prst="rect">
            <a:avLst/>
          </a:prstGeom>
          <a:gradFill>
            <a:gsLst>
              <a:gs pos="0">
                <a:srgbClr val="000014">
                  <a:alpha val="48235"/>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half">
  <p:cSld name="TITLE_AND_BODY_1_1_1">
    <p:spTree>
      <p:nvGrpSpPr>
        <p:cNvPr id="41" name="Shape 41"/>
        <p:cNvGrpSpPr/>
        <p:nvPr/>
      </p:nvGrpSpPr>
      <p:grpSpPr>
        <a:xfrm>
          <a:off x="0" y="0"/>
          <a:ext cx="0" cy="0"/>
          <a:chOff x="0" y="0"/>
          <a:chExt cx="0" cy="0"/>
        </a:xfrm>
      </p:grpSpPr>
      <p:sp>
        <p:nvSpPr>
          <p:cNvPr id="42" name="Google Shape;42;p98"/>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98"/>
          <p:cNvSpPr/>
          <p:nvPr/>
        </p:nvSpPr>
        <p:spPr>
          <a:xfrm>
            <a:off x="4574903"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4" name="Google Shape;44;p98"/>
          <p:cNvSpPr txBox="1"/>
          <p:nvPr>
            <p:ph type="title"/>
          </p:nvPr>
        </p:nvSpPr>
        <p:spPr>
          <a:xfrm>
            <a:off x="511425" y="575500"/>
            <a:ext cx="3517200" cy="9735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45" name="Google Shape;45;p9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98"/>
          <p:cNvSpPr txBox="1"/>
          <p:nvPr>
            <p:ph idx="1" type="body"/>
          </p:nvPr>
        </p:nvSpPr>
        <p:spPr>
          <a:xfrm>
            <a:off x="511425" y="1598600"/>
            <a:ext cx="3517200" cy="29577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1_2">
    <p:spTree>
      <p:nvGrpSpPr>
        <p:cNvPr id="47" name="Shape 47"/>
        <p:cNvGrpSpPr/>
        <p:nvPr/>
      </p:nvGrpSpPr>
      <p:grpSpPr>
        <a:xfrm>
          <a:off x="0" y="0"/>
          <a:ext cx="0" cy="0"/>
          <a:chOff x="0" y="0"/>
          <a:chExt cx="0" cy="0"/>
        </a:xfrm>
      </p:grpSpPr>
      <p:sp>
        <p:nvSpPr>
          <p:cNvPr id="48" name="Google Shape;48;p99"/>
          <p:cNvSpPr/>
          <p:nvPr/>
        </p:nvSpPr>
        <p:spPr>
          <a:xfrm flipH="1">
            <a:off x="4568412"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99"/>
          <p:cNvSpPr txBox="1"/>
          <p:nvPr>
            <p:ph idx="1" type="subTitle"/>
          </p:nvPr>
        </p:nvSpPr>
        <p:spPr>
          <a:xfrm>
            <a:off x="646550" y="1989500"/>
            <a:ext cx="3246900" cy="2126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Clr>
                <a:srgbClr val="FFFFFF"/>
              </a:buClr>
              <a:buSzPts val="1400"/>
              <a:buFont typeface="Georgia"/>
              <a:buNone/>
              <a:defRPr b="0" i="1" sz="1400" u="none" cap="none" strike="noStrike">
                <a:solidFill>
                  <a:srgbClr val="FFFFFF"/>
                </a:solidFill>
                <a:latin typeface="Lato"/>
                <a:ea typeface="Lato"/>
                <a:cs typeface="Lato"/>
                <a:sym typeface="Lato"/>
              </a:defRPr>
            </a:lvl1pPr>
            <a:lvl2pPr lvl="1"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2pPr>
            <a:lvl3pPr lvl="2"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3pPr>
            <a:lvl4pPr lvl="3"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4pPr>
            <a:lvl5pPr lvl="4"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5pPr>
            <a:lvl6pPr lvl="5"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6pPr>
            <a:lvl7pPr lvl="6"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7pPr>
            <a:lvl8pPr lvl="7"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8pPr>
            <a:lvl9pPr lvl="8"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9pPr>
          </a:lstStyle>
          <a:p/>
        </p:txBody>
      </p:sp>
      <p:sp>
        <p:nvSpPr>
          <p:cNvPr id="50" name="Google Shape;50;p9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99"/>
          <p:cNvSpPr/>
          <p:nvPr/>
        </p:nvSpPr>
        <p:spPr>
          <a:xfrm flipH="1">
            <a:off x="4455300"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2" name="Google Shape;52;p99"/>
          <p:cNvSpPr txBox="1"/>
          <p:nvPr>
            <p:ph idx="2" type="body"/>
          </p:nvPr>
        </p:nvSpPr>
        <p:spPr>
          <a:xfrm>
            <a:off x="5130225" y="1016000"/>
            <a:ext cx="3470700" cy="30999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F1BB00"/>
              </a:buClr>
              <a:buSzPts val="1800"/>
              <a:buFont typeface="Nunito Sans"/>
              <a:buAutoNum type="arabicPeriod"/>
              <a:defRPr b="0" i="0" sz="1800" u="none" cap="none" strike="noStrike">
                <a:solidFill>
                  <a:srgbClr val="666666"/>
                </a:solidFill>
                <a:latin typeface="Lato"/>
                <a:ea typeface="Lato"/>
                <a:cs typeface="Lato"/>
                <a:sym typeface="Lato"/>
              </a:defRPr>
            </a:lvl1pPr>
            <a:lvl2pPr indent="-317500" lvl="1" marL="914400" marR="0" algn="l">
              <a:lnSpc>
                <a:spcPct val="115000"/>
              </a:lnSpc>
              <a:spcBef>
                <a:spcPts val="1000"/>
              </a:spcBef>
              <a:spcAft>
                <a:spcPts val="0"/>
              </a:spcAft>
              <a:buClr>
                <a:srgbClr val="CCCCCC"/>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2pPr>
            <a:lvl3pPr indent="-317500" lvl="2" marL="1371600" marR="0" algn="l">
              <a:lnSpc>
                <a:spcPct val="115000"/>
              </a:lnSpc>
              <a:spcBef>
                <a:spcPts val="1000"/>
              </a:spcBef>
              <a:spcAft>
                <a:spcPts val="0"/>
              </a:spcAft>
              <a:buClr>
                <a:srgbClr val="CCCCCC"/>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3pPr>
            <a:lvl4pPr indent="-317500" lvl="3" marL="1828800" marR="0" algn="l">
              <a:lnSpc>
                <a:spcPct val="115000"/>
              </a:lnSpc>
              <a:spcBef>
                <a:spcPts val="1000"/>
              </a:spcBef>
              <a:spcAft>
                <a:spcPts val="0"/>
              </a:spcAft>
              <a:buClr>
                <a:srgbClr val="CCCCCC"/>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4pPr>
            <a:lvl5pPr indent="-317500" lvl="4" marL="22860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5pPr>
            <a:lvl6pPr indent="-317500" lvl="5" marL="2743200" marR="0" algn="l">
              <a:lnSpc>
                <a:spcPct val="115000"/>
              </a:lnSpc>
              <a:spcBef>
                <a:spcPts val="1000"/>
              </a:spcBef>
              <a:spcAft>
                <a:spcPts val="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6pPr>
            <a:lvl7pPr indent="-317500" lvl="6" marL="3200400" marR="0" algn="l">
              <a:lnSpc>
                <a:spcPct val="115000"/>
              </a:lnSpc>
              <a:spcBef>
                <a:spcPts val="1000"/>
              </a:spcBef>
              <a:spcAft>
                <a:spcPts val="0"/>
              </a:spcAft>
              <a:buClr>
                <a:srgbClr val="999999"/>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7pPr>
            <a:lvl8pPr indent="-317500" lvl="7" marL="36576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8pPr>
            <a:lvl9pPr indent="-317500" lvl="8" marL="4114800" marR="0" algn="l">
              <a:lnSpc>
                <a:spcPct val="115000"/>
              </a:lnSpc>
              <a:spcBef>
                <a:spcPts val="1000"/>
              </a:spcBef>
              <a:spcAft>
                <a:spcPts val="100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9pPr>
          </a:lstStyle>
          <a:p/>
        </p:txBody>
      </p:sp>
      <p:sp>
        <p:nvSpPr>
          <p:cNvPr id="53" name="Google Shape;53;p99"/>
          <p:cNvSpPr txBox="1"/>
          <p:nvPr>
            <p:ph type="title"/>
          </p:nvPr>
        </p:nvSpPr>
        <p:spPr>
          <a:xfrm>
            <a:off x="646573" y="1016000"/>
            <a:ext cx="3246900" cy="9735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 + 3 columns">
    <p:spTree>
      <p:nvGrpSpPr>
        <p:cNvPr id="54" name="Shape 54"/>
        <p:cNvGrpSpPr/>
        <p:nvPr/>
      </p:nvGrpSpPr>
      <p:grpSpPr>
        <a:xfrm>
          <a:off x="0" y="0"/>
          <a:ext cx="0" cy="0"/>
          <a:chOff x="0" y="0"/>
          <a:chExt cx="0" cy="0"/>
        </a:xfrm>
      </p:grpSpPr>
      <p:sp>
        <p:nvSpPr>
          <p:cNvPr id="55" name="Google Shape;55;p100"/>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 name="Google Shape;56;p100"/>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00"/>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1"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58" name="Google Shape;58;p100"/>
          <p:cNvSpPr txBox="1"/>
          <p:nvPr>
            <p:ph idx="1" type="body"/>
          </p:nvPr>
        </p:nvSpPr>
        <p:spPr>
          <a:xfrm>
            <a:off x="3069325"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59" name="Google Shape;59;p100"/>
          <p:cNvSpPr txBox="1"/>
          <p:nvPr>
            <p:ph idx="2" type="body"/>
          </p:nvPr>
        </p:nvSpPr>
        <p:spPr>
          <a:xfrm>
            <a:off x="495100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60" name="Google Shape;60;p100"/>
          <p:cNvSpPr txBox="1"/>
          <p:nvPr>
            <p:ph idx="3" type="body"/>
          </p:nvPr>
        </p:nvSpPr>
        <p:spPr>
          <a:xfrm>
            <a:off x="683268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61" name="Google Shape;61;p100"/>
          <p:cNvSpPr txBox="1"/>
          <p:nvPr>
            <p:ph idx="12" type="sldNum"/>
          </p:nvPr>
        </p:nvSpPr>
        <p:spPr>
          <a:xfrm>
            <a:off x="8556784" y="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62" name="Google Shape;62;p100"/>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63" name="Google Shape;63;p100"/>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left">
  <p:cSld name="TITLE_AND_BODY_1_1">
    <p:bg>
      <p:bgPr>
        <a:solidFill>
          <a:srgbClr val="F1BB00"/>
        </a:solidFill>
      </p:bgPr>
    </p:bg>
    <p:spTree>
      <p:nvGrpSpPr>
        <p:cNvPr id="64" name="Shape 64"/>
        <p:cNvGrpSpPr/>
        <p:nvPr/>
      </p:nvGrpSpPr>
      <p:grpSpPr>
        <a:xfrm>
          <a:off x="0" y="0"/>
          <a:ext cx="0" cy="0"/>
          <a:chOff x="0" y="0"/>
          <a:chExt cx="0" cy="0"/>
        </a:xfrm>
      </p:grpSpPr>
      <p:sp>
        <p:nvSpPr>
          <p:cNvPr id="65" name="Google Shape;65;p101"/>
          <p:cNvSpPr/>
          <p:nvPr/>
        </p:nvSpPr>
        <p:spPr>
          <a:xfrm flipH="1">
            <a:off x="-7125" y="0"/>
            <a:ext cx="2592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01"/>
          <p:cNvSpPr/>
          <p:nvPr/>
        </p:nvSpPr>
        <p:spPr>
          <a:xfrm>
            <a:off x="2585478"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7" name="Google Shape;67;p101"/>
          <p:cNvSpPr txBox="1"/>
          <p:nvPr>
            <p:ph type="title"/>
          </p:nvPr>
        </p:nvSpPr>
        <p:spPr>
          <a:xfrm>
            <a:off x="234450" y="575500"/>
            <a:ext cx="2046300" cy="13641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68" name="Google Shape;68;p10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69" name="Google Shape;69;p101"/>
          <p:cNvSpPr txBox="1"/>
          <p:nvPr>
            <p:ph idx="1" type="body"/>
          </p:nvPr>
        </p:nvSpPr>
        <p:spPr>
          <a:xfrm>
            <a:off x="234450" y="2004325"/>
            <a:ext cx="2046300" cy="25521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1_Quote">
    <p:spTree>
      <p:nvGrpSpPr>
        <p:cNvPr id="70" name="Shape 70"/>
        <p:cNvGrpSpPr/>
        <p:nvPr/>
      </p:nvGrpSpPr>
      <p:grpSpPr>
        <a:xfrm>
          <a:off x="0" y="0"/>
          <a:ext cx="0" cy="0"/>
          <a:chOff x="0" y="0"/>
          <a:chExt cx="0" cy="0"/>
        </a:xfrm>
      </p:grpSpPr>
      <p:sp>
        <p:nvSpPr>
          <p:cNvPr id="71" name="Google Shape;71;p102"/>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2" name="Google Shape;72;p102"/>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2"/>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381000" lvl="0" marL="457200" marR="0" algn="ctr">
              <a:lnSpc>
                <a:spcPct val="115000"/>
              </a:lnSpc>
              <a:spcBef>
                <a:spcPts val="60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sp>
        <p:nvSpPr>
          <p:cNvPr id="74" name="Google Shape;74;p10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75" name="Shape 75"/>
        <p:cNvGrpSpPr/>
        <p:nvPr/>
      </p:nvGrpSpPr>
      <p:grpSpPr>
        <a:xfrm>
          <a:off x="0" y="0"/>
          <a:ext cx="0" cy="0"/>
          <a:chOff x="0" y="0"/>
          <a:chExt cx="0" cy="0"/>
        </a:xfrm>
      </p:grpSpPr>
      <p:sp>
        <p:nvSpPr>
          <p:cNvPr id="76" name="Google Shape;76;p103"/>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7" name="Google Shape;77;p103"/>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03"/>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79" name="Google Shape;79;p103"/>
          <p:cNvSpPr txBox="1"/>
          <p:nvPr>
            <p:ph idx="1" type="body"/>
          </p:nvPr>
        </p:nvSpPr>
        <p:spPr>
          <a:xfrm>
            <a:off x="3062200"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80" name="Google Shape;80;p103"/>
          <p:cNvSpPr txBox="1"/>
          <p:nvPr>
            <p:ph idx="2" type="body"/>
          </p:nvPr>
        </p:nvSpPr>
        <p:spPr>
          <a:xfrm>
            <a:off x="5956701"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81" name="Google Shape;81;p10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5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88" name="Shape 88"/>
        <p:cNvGrpSpPr/>
        <p:nvPr/>
      </p:nvGrpSpPr>
      <p:grpSpPr>
        <a:xfrm>
          <a:off x="0" y="0"/>
          <a:ext cx="0" cy="0"/>
          <a:chOff x="0" y="0"/>
          <a:chExt cx="0" cy="0"/>
        </a:xfrm>
      </p:grpSpPr>
      <p:sp>
        <p:nvSpPr>
          <p:cNvPr id="89" name="Google Shape;89;p42"/>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0" name="Google Shape;90;p42"/>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2"/>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228600" lvl="0" marL="457200" marR="0" algn="ctr">
              <a:lnSpc>
                <a:spcPct val="115000"/>
              </a:lnSpc>
              <a:spcBef>
                <a:spcPts val="600"/>
              </a:spcBef>
              <a:spcAft>
                <a:spcPts val="0"/>
              </a:spcAft>
              <a:buClr>
                <a:srgbClr val="CCCCCC"/>
              </a:buClr>
              <a:buSzPts val="2400"/>
              <a:buFont typeface="Georgia"/>
              <a:buNone/>
              <a:defRPr b="0" i="1" sz="2400" u="none" cap="none" strike="noStrike">
                <a:solidFill>
                  <a:srgbClr val="666666"/>
                </a:solidFill>
                <a:latin typeface="Lato"/>
                <a:ea typeface="Lato"/>
                <a:cs typeface="Lato"/>
                <a:sym typeface="Lato"/>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pic>
        <p:nvPicPr>
          <p:cNvPr id="92" name="Google Shape;92;p42"/>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93" name="Google Shape;93;p42"/>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solidFill>
          <a:srgbClr val="F1BB00"/>
        </a:solidFill>
      </p:bgPr>
    </p:bg>
    <p:spTree>
      <p:nvGrpSpPr>
        <p:cNvPr id="94" name="Shape 94"/>
        <p:cNvGrpSpPr/>
        <p:nvPr/>
      </p:nvGrpSpPr>
      <p:grpSpPr>
        <a:xfrm>
          <a:off x="0" y="0"/>
          <a:ext cx="0" cy="0"/>
          <a:chOff x="0" y="0"/>
          <a:chExt cx="0" cy="0"/>
        </a:xfrm>
      </p:grpSpPr>
      <p:sp>
        <p:nvSpPr>
          <p:cNvPr id="95" name="Google Shape;95;p53"/>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6" name="Google Shape;96;p53"/>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53"/>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98" name="Google Shape;98;p53"/>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Lato"/>
                <a:ea typeface="Lato"/>
                <a:cs typeface="Lato"/>
                <a:sym typeface="Lato"/>
              </a:defRPr>
            </a:lvl1pPr>
            <a:lvl2pPr indent="-317500" lvl="1" marL="914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99" name="Google Shape;99;p5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100" name="Google Shape;100;p53"/>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101" name="Google Shape;101;p53"/>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half">
  <p:cSld name="TITLE_AND_BODY_1_1_1">
    <p:spTree>
      <p:nvGrpSpPr>
        <p:cNvPr id="102" name="Shape 102"/>
        <p:cNvGrpSpPr/>
        <p:nvPr/>
      </p:nvGrpSpPr>
      <p:grpSpPr>
        <a:xfrm>
          <a:off x="0" y="0"/>
          <a:ext cx="0" cy="0"/>
          <a:chOff x="0" y="0"/>
          <a:chExt cx="0" cy="0"/>
        </a:xfrm>
      </p:grpSpPr>
      <p:sp>
        <p:nvSpPr>
          <p:cNvPr id="103" name="Google Shape;103;p54"/>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54"/>
          <p:cNvSpPr/>
          <p:nvPr/>
        </p:nvSpPr>
        <p:spPr>
          <a:xfrm>
            <a:off x="4574903"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 name="Google Shape;105;p54"/>
          <p:cNvSpPr txBox="1"/>
          <p:nvPr>
            <p:ph type="title"/>
          </p:nvPr>
        </p:nvSpPr>
        <p:spPr>
          <a:xfrm>
            <a:off x="511425" y="575500"/>
            <a:ext cx="3517200" cy="9735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106" name="Google Shape;106;p54"/>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54"/>
          <p:cNvSpPr txBox="1"/>
          <p:nvPr>
            <p:ph idx="1" type="body"/>
          </p:nvPr>
        </p:nvSpPr>
        <p:spPr>
          <a:xfrm>
            <a:off x="511425" y="1598600"/>
            <a:ext cx="3517200" cy="29577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08" name="Shape 108"/>
        <p:cNvGrpSpPr/>
        <p:nvPr/>
      </p:nvGrpSpPr>
      <p:grpSpPr>
        <a:xfrm>
          <a:off x="0" y="0"/>
          <a:ext cx="0" cy="0"/>
          <a:chOff x="0" y="0"/>
          <a:chExt cx="0" cy="0"/>
        </a:xfrm>
      </p:grpSpPr>
      <p:sp>
        <p:nvSpPr>
          <p:cNvPr id="109" name="Google Shape;109;p104"/>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04"/>
          <p:cNvSpPr txBox="1"/>
          <p:nvPr>
            <p:ph type="ctrTitle"/>
          </p:nvPr>
        </p:nvSpPr>
        <p:spPr>
          <a:xfrm>
            <a:off x="468925" y="2387250"/>
            <a:ext cx="3636600" cy="2259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67031"/>
              </a:buClr>
              <a:buSzPts val="3000"/>
              <a:buFont typeface="Nunito Sans"/>
              <a:buNone/>
              <a:defRPr b="1" i="0" sz="30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9pPr>
          </a:lstStyle>
          <a:p/>
        </p:txBody>
      </p:sp>
      <p:sp>
        <p:nvSpPr>
          <p:cNvPr id="111" name="Google Shape;111;p104"/>
          <p:cNvSpPr/>
          <p:nvPr/>
        </p:nvSpPr>
        <p:spPr>
          <a:xfrm>
            <a:off x="4574900" y="-150"/>
            <a:ext cx="185400" cy="5143500"/>
          </a:xfrm>
          <a:prstGeom prst="rect">
            <a:avLst/>
          </a:prstGeom>
          <a:gradFill>
            <a:gsLst>
              <a:gs pos="0">
                <a:srgbClr val="000014">
                  <a:alpha val="48235"/>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1_2">
    <p:spTree>
      <p:nvGrpSpPr>
        <p:cNvPr id="112" name="Shape 112"/>
        <p:cNvGrpSpPr/>
        <p:nvPr/>
      </p:nvGrpSpPr>
      <p:grpSpPr>
        <a:xfrm>
          <a:off x="0" y="0"/>
          <a:ext cx="0" cy="0"/>
          <a:chOff x="0" y="0"/>
          <a:chExt cx="0" cy="0"/>
        </a:xfrm>
      </p:grpSpPr>
      <p:sp>
        <p:nvSpPr>
          <p:cNvPr id="113" name="Google Shape;113;p105"/>
          <p:cNvSpPr/>
          <p:nvPr/>
        </p:nvSpPr>
        <p:spPr>
          <a:xfrm flipH="1">
            <a:off x="4568412"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05"/>
          <p:cNvSpPr txBox="1"/>
          <p:nvPr>
            <p:ph idx="1" type="subTitle"/>
          </p:nvPr>
        </p:nvSpPr>
        <p:spPr>
          <a:xfrm>
            <a:off x="646550" y="1989500"/>
            <a:ext cx="3246900" cy="2126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Clr>
                <a:srgbClr val="FFFFFF"/>
              </a:buClr>
              <a:buSzPts val="1400"/>
              <a:buFont typeface="Georgia"/>
              <a:buNone/>
              <a:defRPr b="0" i="1" sz="1400" u="none" cap="none" strike="noStrike">
                <a:solidFill>
                  <a:srgbClr val="FFFFFF"/>
                </a:solidFill>
                <a:latin typeface="Lato"/>
                <a:ea typeface="Lato"/>
                <a:cs typeface="Lato"/>
                <a:sym typeface="Lato"/>
              </a:defRPr>
            </a:lvl1pPr>
            <a:lvl2pPr lvl="1"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2pPr>
            <a:lvl3pPr lvl="2"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3pPr>
            <a:lvl4pPr lvl="3"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4pPr>
            <a:lvl5pPr lvl="4"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5pPr>
            <a:lvl6pPr lvl="5"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6pPr>
            <a:lvl7pPr lvl="6"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7pPr>
            <a:lvl8pPr lvl="7"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8pPr>
            <a:lvl9pPr lvl="8"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9pPr>
          </a:lstStyle>
          <a:p/>
        </p:txBody>
      </p:sp>
      <p:sp>
        <p:nvSpPr>
          <p:cNvPr id="115" name="Google Shape;115;p10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16" name="Google Shape;116;p105"/>
          <p:cNvSpPr/>
          <p:nvPr/>
        </p:nvSpPr>
        <p:spPr>
          <a:xfrm flipH="1">
            <a:off x="4455300"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7" name="Google Shape;117;p105"/>
          <p:cNvSpPr txBox="1"/>
          <p:nvPr>
            <p:ph idx="2" type="body"/>
          </p:nvPr>
        </p:nvSpPr>
        <p:spPr>
          <a:xfrm>
            <a:off x="5130225" y="1016000"/>
            <a:ext cx="3470700" cy="30999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F1BB00"/>
              </a:buClr>
              <a:buSzPts val="1800"/>
              <a:buFont typeface="Nunito Sans"/>
              <a:buAutoNum type="arabicPeriod"/>
              <a:defRPr b="0" i="0" sz="1800" u="none" cap="none" strike="noStrike">
                <a:solidFill>
                  <a:srgbClr val="666666"/>
                </a:solidFill>
                <a:latin typeface="Lato"/>
                <a:ea typeface="Lato"/>
                <a:cs typeface="Lato"/>
                <a:sym typeface="Lato"/>
              </a:defRPr>
            </a:lvl1pPr>
            <a:lvl2pPr indent="-317500" lvl="1" marL="914400" marR="0" algn="l">
              <a:lnSpc>
                <a:spcPct val="115000"/>
              </a:lnSpc>
              <a:spcBef>
                <a:spcPts val="1000"/>
              </a:spcBef>
              <a:spcAft>
                <a:spcPts val="0"/>
              </a:spcAft>
              <a:buClr>
                <a:srgbClr val="CCCCCC"/>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2pPr>
            <a:lvl3pPr indent="-317500" lvl="2" marL="1371600" marR="0" algn="l">
              <a:lnSpc>
                <a:spcPct val="115000"/>
              </a:lnSpc>
              <a:spcBef>
                <a:spcPts val="1000"/>
              </a:spcBef>
              <a:spcAft>
                <a:spcPts val="0"/>
              </a:spcAft>
              <a:buClr>
                <a:srgbClr val="CCCCCC"/>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3pPr>
            <a:lvl4pPr indent="-317500" lvl="3" marL="1828800" marR="0" algn="l">
              <a:lnSpc>
                <a:spcPct val="115000"/>
              </a:lnSpc>
              <a:spcBef>
                <a:spcPts val="1000"/>
              </a:spcBef>
              <a:spcAft>
                <a:spcPts val="0"/>
              </a:spcAft>
              <a:buClr>
                <a:srgbClr val="CCCCCC"/>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4pPr>
            <a:lvl5pPr indent="-317500" lvl="4" marL="22860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5pPr>
            <a:lvl6pPr indent="-317500" lvl="5" marL="2743200" marR="0" algn="l">
              <a:lnSpc>
                <a:spcPct val="115000"/>
              </a:lnSpc>
              <a:spcBef>
                <a:spcPts val="1000"/>
              </a:spcBef>
              <a:spcAft>
                <a:spcPts val="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6pPr>
            <a:lvl7pPr indent="-317500" lvl="6" marL="3200400" marR="0" algn="l">
              <a:lnSpc>
                <a:spcPct val="115000"/>
              </a:lnSpc>
              <a:spcBef>
                <a:spcPts val="1000"/>
              </a:spcBef>
              <a:spcAft>
                <a:spcPts val="0"/>
              </a:spcAft>
              <a:buClr>
                <a:srgbClr val="999999"/>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7pPr>
            <a:lvl8pPr indent="-317500" lvl="7" marL="36576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8pPr>
            <a:lvl9pPr indent="-317500" lvl="8" marL="4114800" marR="0" algn="l">
              <a:lnSpc>
                <a:spcPct val="115000"/>
              </a:lnSpc>
              <a:spcBef>
                <a:spcPts val="1000"/>
              </a:spcBef>
              <a:spcAft>
                <a:spcPts val="100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9pPr>
          </a:lstStyle>
          <a:p/>
        </p:txBody>
      </p:sp>
      <p:sp>
        <p:nvSpPr>
          <p:cNvPr id="118" name="Google Shape;118;p105"/>
          <p:cNvSpPr txBox="1"/>
          <p:nvPr>
            <p:ph type="title"/>
          </p:nvPr>
        </p:nvSpPr>
        <p:spPr>
          <a:xfrm>
            <a:off x="646573" y="1016000"/>
            <a:ext cx="3246900" cy="9735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 + 3 columns">
    <p:spTree>
      <p:nvGrpSpPr>
        <p:cNvPr id="119" name="Shape 119"/>
        <p:cNvGrpSpPr/>
        <p:nvPr/>
      </p:nvGrpSpPr>
      <p:grpSpPr>
        <a:xfrm>
          <a:off x="0" y="0"/>
          <a:ext cx="0" cy="0"/>
          <a:chOff x="0" y="0"/>
          <a:chExt cx="0" cy="0"/>
        </a:xfrm>
      </p:grpSpPr>
      <p:sp>
        <p:nvSpPr>
          <p:cNvPr id="120" name="Google Shape;120;p106"/>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1" name="Google Shape;121;p106"/>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06"/>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1"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123" name="Google Shape;123;p106"/>
          <p:cNvSpPr txBox="1"/>
          <p:nvPr>
            <p:ph idx="1" type="body"/>
          </p:nvPr>
        </p:nvSpPr>
        <p:spPr>
          <a:xfrm>
            <a:off x="3069325"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124" name="Google Shape;124;p106"/>
          <p:cNvSpPr txBox="1"/>
          <p:nvPr>
            <p:ph idx="2" type="body"/>
          </p:nvPr>
        </p:nvSpPr>
        <p:spPr>
          <a:xfrm>
            <a:off x="495100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125" name="Google Shape;125;p106"/>
          <p:cNvSpPr txBox="1"/>
          <p:nvPr>
            <p:ph idx="3" type="body"/>
          </p:nvPr>
        </p:nvSpPr>
        <p:spPr>
          <a:xfrm>
            <a:off x="683268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126" name="Google Shape;126;p106"/>
          <p:cNvSpPr txBox="1"/>
          <p:nvPr>
            <p:ph idx="12" type="sldNum"/>
          </p:nvPr>
        </p:nvSpPr>
        <p:spPr>
          <a:xfrm>
            <a:off x="8556784" y="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127" name="Google Shape;127;p106"/>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128" name="Google Shape;128;p106"/>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left">
  <p:cSld name="TITLE_AND_BODY_1_1">
    <p:bg>
      <p:bgPr>
        <a:solidFill>
          <a:srgbClr val="F1BB00"/>
        </a:solidFill>
      </p:bgPr>
    </p:bg>
    <p:spTree>
      <p:nvGrpSpPr>
        <p:cNvPr id="129" name="Shape 129"/>
        <p:cNvGrpSpPr/>
        <p:nvPr/>
      </p:nvGrpSpPr>
      <p:grpSpPr>
        <a:xfrm>
          <a:off x="0" y="0"/>
          <a:ext cx="0" cy="0"/>
          <a:chOff x="0" y="0"/>
          <a:chExt cx="0" cy="0"/>
        </a:xfrm>
      </p:grpSpPr>
      <p:sp>
        <p:nvSpPr>
          <p:cNvPr id="130" name="Google Shape;130;p107"/>
          <p:cNvSpPr/>
          <p:nvPr/>
        </p:nvSpPr>
        <p:spPr>
          <a:xfrm flipH="1">
            <a:off x="-7125" y="0"/>
            <a:ext cx="2592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07"/>
          <p:cNvSpPr/>
          <p:nvPr/>
        </p:nvSpPr>
        <p:spPr>
          <a:xfrm>
            <a:off x="2585478"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2" name="Google Shape;132;p107"/>
          <p:cNvSpPr txBox="1"/>
          <p:nvPr>
            <p:ph type="title"/>
          </p:nvPr>
        </p:nvSpPr>
        <p:spPr>
          <a:xfrm>
            <a:off x="234450" y="575500"/>
            <a:ext cx="2046300" cy="13641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133" name="Google Shape;133;p107"/>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34" name="Google Shape;134;p107"/>
          <p:cNvSpPr txBox="1"/>
          <p:nvPr>
            <p:ph idx="1" type="body"/>
          </p:nvPr>
        </p:nvSpPr>
        <p:spPr>
          <a:xfrm>
            <a:off x="234450" y="2004325"/>
            <a:ext cx="2046300" cy="25521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1_Quote">
    <p:spTree>
      <p:nvGrpSpPr>
        <p:cNvPr id="135" name="Shape 135"/>
        <p:cNvGrpSpPr/>
        <p:nvPr/>
      </p:nvGrpSpPr>
      <p:grpSpPr>
        <a:xfrm>
          <a:off x="0" y="0"/>
          <a:ext cx="0" cy="0"/>
          <a:chOff x="0" y="0"/>
          <a:chExt cx="0" cy="0"/>
        </a:xfrm>
      </p:grpSpPr>
      <p:sp>
        <p:nvSpPr>
          <p:cNvPr id="136" name="Google Shape;136;p108"/>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108"/>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08"/>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381000" lvl="0" marL="457200" marR="0" algn="ctr">
              <a:lnSpc>
                <a:spcPct val="115000"/>
              </a:lnSpc>
              <a:spcBef>
                <a:spcPts val="60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sp>
        <p:nvSpPr>
          <p:cNvPr id="139" name="Google Shape;139;p10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40" name="Shape 140"/>
        <p:cNvGrpSpPr/>
        <p:nvPr/>
      </p:nvGrpSpPr>
      <p:grpSpPr>
        <a:xfrm>
          <a:off x="0" y="0"/>
          <a:ext cx="0" cy="0"/>
          <a:chOff x="0" y="0"/>
          <a:chExt cx="0" cy="0"/>
        </a:xfrm>
      </p:grpSpPr>
      <p:sp>
        <p:nvSpPr>
          <p:cNvPr id="141" name="Google Shape;141;p109"/>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42" name="Google Shape;142;p109"/>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09"/>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144" name="Google Shape;144;p109"/>
          <p:cNvSpPr txBox="1"/>
          <p:nvPr>
            <p:ph idx="1" type="body"/>
          </p:nvPr>
        </p:nvSpPr>
        <p:spPr>
          <a:xfrm>
            <a:off x="3062200"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145" name="Google Shape;145;p109"/>
          <p:cNvSpPr txBox="1"/>
          <p:nvPr>
            <p:ph idx="2" type="body"/>
          </p:nvPr>
        </p:nvSpPr>
        <p:spPr>
          <a:xfrm>
            <a:off x="5956701"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146" name="Google Shape;146;p10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3.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F1BB00"/>
        </a:solidFill>
      </p:bgPr>
    </p:bg>
    <p:spTree>
      <p:nvGrpSpPr>
        <p:cNvPr id="5" name="Shape 5"/>
        <p:cNvGrpSpPr/>
        <p:nvPr/>
      </p:nvGrpSpPr>
      <p:grpSpPr>
        <a:xfrm>
          <a:off x="0" y="0"/>
          <a:ext cx="0" cy="0"/>
          <a:chOff x="0" y="0"/>
          <a:chExt cx="0" cy="0"/>
        </a:xfrm>
      </p:grpSpPr>
      <p:sp>
        <p:nvSpPr>
          <p:cNvPr id="6" name="Google Shape;6;p55"/>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7" name="Google Shape;7;p55"/>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1pPr>
            <a:lvl2pPr indent="-317500" lvl="1" marL="9144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8" name="Google Shape;8;p5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F1BB00"/>
        </a:solidFill>
      </p:bgPr>
    </p:bg>
    <p:spTree>
      <p:nvGrpSpPr>
        <p:cNvPr id="82" name="Shape 82"/>
        <p:cNvGrpSpPr/>
        <p:nvPr/>
      </p:nvGrpSpPr>
      <p:grpSpPr>
        <a:xfrm>
          <a:off x="0" y="0"/>
          <a:ext cx="0" cy="0"/>
          <a:chOff x="0" y="0"/>
          <a:chExt cx="0" cy="0"/>
        </a:xfrm>
      </p:grpSpPr>
      <p:sp>
        <p:nvSpPr>
          <p:cNvPr id="83" name="Google Shape;83;p41"/>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rtl="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84" name="Google Shape;84;p41"/>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1pPr>
            <a:lvl2pPr indent="-317500" lvl="1" marL="9144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rtl="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85" name="Google Shape;85;p4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50" name="Shape 150"/>
        <p:cNvGrpSpPr/>
        <p:nvPr/>
      </p:nvGrpSpPr>
      <p:grpSpPr>
        <a:xfrm>
          <a:off x="0" y="0"/>
          <a:ext cx="0" cy="0"/>
          <a:chOff x="0" y="0"/>
          <a:chExt cx="0" cy="0"/>
        </a:xfrm>
      </p:grpSpPr>
      <p:sp>
        <p:nvSpPr>
          <p:cNvPr id="151" name="Google Shape;151;p21"/>
          <p:cNvSpPr txBox="1"/>
          <p:nvPr>
            <p:ph idx="4294967295" type="title"/>
          </p:nvPr>
        </p:nvSpPr>
        <p:spPr>
          <a:xfrm>
            <a:off x="617225" y="100"/>
            <a:ext cx="7909500" cy="5143500"/>
          </a:xfrm>
          <a:prstGeom prst="rect">
            <a:avLst/>
          </a:prstGeom>
          <a:no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Nunito Sans"/>
              <a:buNone/>
            </a:pPr>
            <a:r>
              <a:rPr b="1" i="1" lang="en-US" sz="5100">
                <a:latin typeface="Century Gothic"/>
                <a:ea typeface="Century Gothic"/>
                <a:cs typeface="Century Gothic"/>
                <a:sym typeface="Century Gothic"/>
              </a:rPr>
              <a:t>Contexto Actual</a:t>
            </a:r>
            <a:r>
              <a:rPr b="1" i="1" lang="en-US" sz="5100">
                <a:latin typeface="Century Gothic"/>
                <a:ea typeface="Century Gothic"/>
                <a:cs typeface="Century Gothic"/>
                <a:sym typeface="Century Gothic"/>
              </a:rPr>
              <a:t> -</a:t>
            </a:r>
            <a:endParaRPr b="1" i="1" sz="5100">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FFFFFF"/>
              </a:buClr>
              <a:buSzPts val="2400"/>
              <a:buFont typeface="Nunito Sans"/>
              <a:buNone/>
            </a:pPr>
            <a:r>
              <a:rPr b="1" i="1" lang="en-US" sz="5100">
                <a:latin typeface="Century Gothic"/>
                <a:ea typeface="Century Gothic"/>
                <a:cs typeface="Century Gothic"/>
                <a:sym typeface="Century Gothic"/>
              </a:rPr>
              <a:t>Don Hidalgo</a:t>
            </a:r>
            <a:endParaRPr b="1" i="1" sz="5100">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g39331c9436a_0_18"/>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157" name="Google Shape;157;g39331c9436a_0_18"/>
          <p:cNvSpPr txBox="1"/>
          <p:nvPr>
            <p:ph idx="4294967295" type="title"/>
          </p:nvPr>
        </p:nvSpPr>
        <p:spPr>
          <a:xfrm>
            <a:off x="324600" y="279475"/>
            <a:ext cx="8494800" cy="3822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Contexto general</a:t>
            </a:r>
            <a:endParaRPr>
              <a:solidFill>
                <a:schemeClr val="accent1"/>
              </a:solidFill>
              <a:latin typeface="Century Gothic"/>
              <a:ea typeface="Century Gothic"/>
              <a:cs typeface="Century Gothic"/>
              <a:sym typeface="Century Gothic"/>
            </a:endParaRPr>
          </a:p>
        </p:txBody>
      </p:sp>
      <p:sp>
        <p:nvSpPr>
          <p:cNvPr id="158" name="Google Shape;158;g39331c9436a_0_18"/>
          <p:cNvSpPr txBox="1"/>
          <p:nvPr>
            <p:ph idx="4294967295" type="body"/>
          </p:nvPr>
        </p:nvSpPr>
        <p:spPr>
          <a:xfrm>
            <a:off x="324600" y="1161875"/>
            <a:ext cx="7402800" cy="3206700"/>
          </a:xfrm>
          <a:prstGeom prst="rect">
            <a:avLst/>
          </a:prstGeom>
          <a:noFill/>
          <a:ln>
            <a:noFill/>
          </a:ln>
        </p:spPr>
        <p:txBody>
          <a:bodyPr anchorCtr="0" anchor="t" bIns="91425" lIns="91425" spcFirstLastPara="1" rIns="91425" wrap="square" tIns="91425">
            <a:spAutoFit/>
          </a:bodyPr>
          <a:lstStyle/>
          <a:p>
            <a:pPr indent="-368300" lvl="0" marL="457200" rtl="0" algn="just">
              <a:lnSpc>
                <a:spcPct val="100000"/>
              </a:lnSpc>
              <a:spcBef>
                <a:spcPts val="0"/>
              </a:spcBef>
              <a:spcAft>
                <a:spcPts val="0"/>
              </a:spcAft>
              <a:buClr>
                <a:schemeClr val="accent1"/>
              </a:buClr>
              <a:buSzPts val="2200"/>
              <a:buFont typeface="Century Gothic"/>
              <a:buChar char="o"/>
            </a:pPr>
            <a:r>
              <a:rPr b="1" lang="en-US">
                <a:solidFill>
                  <a:schemeClr val="dk2"/>
                </a:solidFill>
                <a:latin typeface="Century Gothic"/>
                <a:ea typeface="Century Gothic"/>
                <a:cs typeface="Century Gothic"/>
                <a:sym typeface="Century Gothic"/>
              </a:rPr>
              <a:t>Don Hidalgo </a:t>
            </a:r>
            <a:r>
              <a:rPr b="1" lang="en-US">
                <a:solidFill>
                  <a:schemeClr val="dk2"/>
                </a:solidFill>
                <a:latin typeface="Century Gothic"/>
                <a:ea typeface="Century Gothic"/>
                <a:cs typeface="Century Gothic"/>
                <a:sym typeface="Century Gothic"/>
              </a:rPr>
              <a:t>Restaurante</a:t>
            </a:r>
            <a:r>
              <a:rPr b="1" lang="en-US">
                <a:solidFill>
                  <a:schemeClr val="dk2"/>
                </a:solidFill>
                <a:latin typeface="Century Gothic"/>
                <a:ea typeface="Century Gothic"/>
                <a:cs typeface="Century Gothic"/>
                <a:sym typeface="Century Gothic"/>
              </a:rPr>
              <a:t> Show, </a:t>
            </a:r>
            <a:r>
              <a:rPr lang="en-US">
                <a:solidFill>
                  <a:schemeClr val="dk2"/>
                </a:solidFill>
                <a:latin typeface="Century Gothic"/>
                <a:ea typeface="Century Gothic"/>
                <a:cs typeface="Century Gothic"/>
                <a:sym typeface="Century Gothic"/>
              </a:rPr>
              <a:t>en la ciudad de Popayán, cuenta con una operación activa y una alta demanda de atención a través de canales digitales, principalmente WhatsApp, complementada por Instagram y llamadas telefónicas. </a:t>
            </a:r>
            <a:endParaRPr>
              <a:solidFill>
                <a:schemeClr val="dk2"/>
              </a:solidFill>
              <a:latin typeface="Century Gothic"/>
              <a:ea typeface="Century Gothic"/>
              <a:cs typeface="Century Gothic"/>
              <a:sym typeface="Century Gothic"/>
            </a:endParaRPr>
          </a:p>
          <a:p>
            <a:pPr indent="-368300" lvl="1" marL="914400" rtl="0" algn="just">
              <a:lnSpc>
                <a:spcPct val="100000"/>
              </a:lnSpc>
              <a:spcBef>
                <a:spcPts val="0"/>
              </a:spcBef>
              <a:spcAft>
                <a:spcPts val="0"/>
              </a:spcAft>
              <a:buClr>
                <a:schemeClr val="accent1"/>
              </a:buClr>
              <a:buSzPts val="2200"/>
              <a:buFont typeface="Century Gothic"/>
              <a:buChar char="-"/>
            </a:pPr>
            <a:r>
              <a:rPr lang="en-US">
                <a:solidFill>
                  <a:schemeClr val="dk2"/>
                </a:solidFill>
                <a:latin typeface="Century Gothic"/>
                <a:ea typeface="Century Gothic"/>
                <a:cs typeface="Century Gothic"/>
                <a:sym typeface="Century Gothic"/>
              </a:rPr>
              <a:t>La gestión de reservas y eventos se apoya en </a:t>
            </a:r>
            <a:r>
              <a:rPr b="1" i="1" lang="en-US">
                <a:solidFill>
                  <a:schemeClr val="dk2"/>
                </a:solidFill>
                <a:latin typeface="Century Gothic"/>
                <a:ea typeface="Century Gothic"/>
                <a:cs typeface="Century Gothic"/>
                <a:sym typeface="Century Gothic"/>
              </a:rPr>
              <a:t>Covermanager</a:t>
            </a:r>
            <a:r>
              <a:rPr lang="en-US">
                <a:solidFill>
                  <a:schemeClr val="dk2"/>
                </a:solidFill>
                <a:latin typeface="Century Gothic"/>
                <a:ea typeface="Century Gothic"/>
                <a:cs typeface="Century Gothic"/>
                <a:sym typeface="Century Gothic"/>
              </a:rPr>
              <a:t> como CRM y sistema central de información, con procesos parcialmente automatizados y una alta intervención humana.</a:t>
            </a:r>
            <a:endParaRPr>
              <a:solidFill>
                <a:schemeClr val="dk2"/>
              </a:solidFill>
              <a:latin typeface="Century Gothic"/>
              <a:ea typeface="Century Gothic"/>
              <a:cs typeface="Century Gothic"/>
              <a:sym typeface="Century Gothic"/>
            </a:endParaRPr>
          </a:p>
          <a:p>
            <a:pPr indent="-317500" lvl="0" marL="742950" marR="0" rtl="0" algn="just">
              <a:lnSpc>
                <a:spcPct val="100000"/>
              </a:lnSpc>
              <a:spcBef>
                <a:spcPts val="10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La operación actual funciona, pero presenta fricciones operativas que limitan la eficiencia del equipo y la captación total de la demanda existente.</a:t>
            </a:r>
            <a:endParaRPr>
              <a:solidFill>
                <a:schemeClr val="dk2"/>
              </a:solidFill>
              <a:latin typeface="Century Gothic"/>
              <a:ea typeface="Century Gothic"/>
              <a:cs typeface="Century Gothic"/>
              <a:sym typeface="Century Gothic"/>
            </a:endParaRPr>
          </a:p>
          <a:p>
            <a:pPr indent="0" lvl="0" marL="171450" rtl="0" algn="just">
              <a:lnSpc>
                <a:spcPct val="100000"/>
              </a:lnSpc>
              <a:spcBef>
                <a:spcPts val="600"/>
              </a:spcBef>
              <a:spcAft>
                <a:spcPts val="0"/>
              </a:spcAft>
              <a:buSzPts val="1400"/>
              <a:buNone/>
            </a:pPr>
            <a:r>
              <a:t/>
            </a:r>
            <a:endParaRPr b="1" i="1" sz="1500">
              <a:solidFill>
                <a:srgbClr val="F1BB00"/>
              </a:solidFill>
              <a:latin typeface="Century Gothic"/>
              <a:ea typeface="Century Gothic"/>
              <a:cs typeface="Century Gothic"/>
              <a:sym typeface="Century Gothic"/>
            </a:endParaRPr>
          </a:p>
          <a:p>
            <a:pPr indent="0" lvl="0" marL="0" rtl="0" algn="just">
              <a:lnSpc>
                <a:spcPct val="100000"/>
              </a:lnSpc>
              <a:spcBef>
                <a:spcPts val="0"/>
              </a:spcBef>
              <a:spcAft>
                <a:spcPts val="0"/>
              </a:spcAft>
              <a:buSzPts val="1400"/>
              <a:buNone/>
            </a:pPr>
            <a:r>
              <a:t/>
            </a:r>
            <a:endParaRPr sz="1200">
              <a:latin typeface="Century Gothic"/>
              <a:ea typeface="Century Gothic"/>
              <a:cs typeface="Century Gothic"/>
              <a:sym typeface="Century Gothic"/>
            </a:endParaRPr>
          </a:p>
        </p:txBody>
      </p:sp>
      <p:sp>
        <p:nvSpPr>
          <p:cNvPr id="159" name="Google Shape;159;g39331c9436a_0_1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57"/>
                                        </p:tgtEl>
                                        <p:attrNameLst>
                                          <p:attrName>style.visibility</p:attrName>
                                        </p:attrNameLst>
                                      </p:cBhvr>
                                      <p:to>
                                        <p:strVal val="visible"/>
                                      </p:to>
                                    </p:set>
                                    <p:anim calcmode="lin" valueType="num">
                                      <p:cBhvr additive="base">
                                        <p:cTn dur="1000"/>
                                        <p:tgtEl>
                                          <p:spTgt spid="15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500"/>
                                        <p:tgtEl>
                                          <p:spTgt spid="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500"/>
                                        <p:tgtEl>
                                          <p:spTgt spid="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animEffect filter="fade" transition="in">
                                      <p:cBhvr>
                                        <p:cTn dur="500"/>
                                        <p:tgtEl>
                                          <p:spTgt spid="1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animEffect filter="fade" transition="in">
                                      <p:cBhvr>
                                        <p:cTn dur="500"/>
                                        <p:tgtEl>
                                          <p:spTgt spid="1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animEffect filter="fade" transition="in">
                                      <p:cBhvr>
                                        <p:cTn dur="500"/>
                                        <p:tgtEl>
                                          <p:spTgt spid="15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g39331c9436a_0_31"/>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165" name="Google Shape;165;g39331c9436a_0_31"/>
          <p:cNvSpPr txBox="1"/>
          <p:nvPr>
            <p:ph idx="4294967295" type="title"/>
          </p:nvPr>
        </p:nvSpPr>
        <p:spPr>
          <a:xfrm>
            <a:off x="324600" y="279475"/>
            <a:ext cx="8494800" cy="3822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Fricciones del proceso</a:t>
            </a:r>
            <a:endParaRPr>
              <a:solidFill>
                <a:schemeClr val="accent1"/>
              </a:solidFill>
              <a:latin typeface="Century Gothic"/>
              <a:ea typeface="Century Gothic"/>
              <a:cs typeface="Century Gothic"/>
              <a:sym typeface="Century Gothic"/>
            </a:endParaRPr>
          </a:p>
        </p:txBody>
      </p:sp>
      <p:sp>
        <p:nvSpPr>
          <p:cNvPr id="166" name="Google Shape;166;g39331c9436a_0_31"/>
          <p:cNvSpPr txBox="1"/>
          <p:nvPr>
            <p:ph idx="4294967295" type="body"/>
          </p:nvPr>
        </p:nvSpPr>
        <p:spPr>
          <a:xfrm>
            <a:off x="324600" y="1161875"/>
            <a:ext cx="7402800" cy="4899900"/>
          </a:xfrm>
          <a:prstGeom prst="rect">
            <a:avLst/>
          </a:prstGeom>
          <a:noFill/>
          <a:ln>
            <a:noFill/>
          </a:ln>
        </p:spPr>
        <p:txBody>
          <a:bodyPr anchorCtr="0" anchor="t" bIns="91425" lIns="91425" spcFirstLastPara="1" rIns="91425" wrap="square" tIns="91425">
            <a:spAutoFit/>
          </a:bodyPr>
          <a:lstStyle/>
          <a:p>
            <a:pPr indent="-215900" lvl="0" marL="685800" marR="0" rtl="0" algn="just">
              <a:lnSpc>
                <a:spcPct val="100000"/>
              </a:lnSpc>
              <a:spcBef>
                <a:spcPts val="100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La atención digital depende de la carga operativa del restaurante</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En horas pico y shows, la respuesta digital pierde agilidad</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Solicitudes de último momento </a:t>
            </a:r>
            <a:r>
              <a:rPr lang="en-US">
                <a:solidFill>
                  <a:schemeClr val="dk2"/>
                </a:solidFill>
                <a:latin typeface="Century Gothic"/>
                <a:ea typeface="Century Gothic"/>
                <a:cs typeface="Century Gothic"/>
                <a:sym typeface="Century Gothic"/>
              </a:rPr>
              <a:t>r</a:t>
            </a:r>
            <a:r>
              <a:rPr lang="en-US">
                <a:solidFill>
                  <a:schemeClr val="dk2"/>
                </a:solidFill>
                <a:latin typeface="Century Gothic"/>
                <a:ea typeface="Century Gothic"/>
                <a:cs typeface="Century Gothic"/>
                <a:sym typeface="Century Gothic"/>
              </a:rPr>
              <a:t>equieren validación manual, aun cuando hay disponibilidad</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Ajustes manuales y duplicidad ocasional de información en el CRM</a:t>
            </a:r>
            <a:endParaRPr>
              <a:solidFill>
                <a:schemeClr val="dk2"/>
              </a:solidFill>
              <a:latin typeface="Century Gothic"/>
              <a:ea typeface="Century Gothic"/>
              <a:cs typeface="Century Gothic"/>
              <a:sym typeface="Century Gothic"/>
            </a:endParaRPr>
          </a:p>
          <a:p>
            <a:pPr indent="0" lvl="0" marL="457200" marR="0" rtl="0" algn="just">
              <a:lnSpc>
                <a:spcPct val="100000"/>
              </a:lnSpc>
              <a:spcBef>
                <a:spcPts val="1000"/>
              </a:spcBef>
              <a:spcAft>
                <a:spcPts val="0"/>
              </a:spcAft>
              <a:buNone/>
            </a:pPr>
            <a:r>
              <a:t/>
            </a:r>
            <a:endParaRPr>
              <a:solidFill>
                <a:schemeClr val="dk2"/>
              </a:solidFill>
              <a:latin typeface="Century Gothic"/>
              <a:ea typeface="Century Gothic"/>
              <a:cs typeface="Century Gothic"/>
              <a:sym typeface="Century Gothic"/>
            </a:endParaRPr>
          </a:p>
          <a:p>
            <a:pPr indent="0" lvl="0" marL="0" rtl="0" algn="just">
              <a:lnSpc>
                <a:spcPct val="100000"/>
              </a:lnSpc>
              <a:spcBef>
                <a:spcPts val="1000"/>
              </a:spcBef>
              <a:spcAft>
                <a:spcPts val="0"/>
              </a:spcAft>
              <a:buNone/>
            </a:pPr>
            <a:r>
              <a:rPr b="1" lang="en-US" sz="1600">
                <a:solidFill>
                  <a:schemeClr val="accent1"/>
                </a:solidFill>
                <a:latin typeface="Century Gothic"/>
                <a:ea typeface="Century Gothic"/>
                <a:cs typeface="Century Gothic"/>
                <a:sym typeface="Century Gothic"/>
              </a:rPr>
              <a:t>Impacto:</a:t>
            </a:r>
            <a:endParaRPr b="1" sz="1600">
              <a:solidFill>
                <a:schemeClr val="accent1"/>
              </a:solidFill>
              <a:latin typeface="Century Gothic"/>
              <a:ea typeface="Century Gothic"/>
              <a:cs typeface="Century Gothic"/>
              <a:sym typeface="Century Gothic"/>
            </a:endParaRPr>
          </a:p>
          <a:p>
            <a:pPr indent="0" lvl="0" marL="0" rtl="0" algn="just">
              <a:lnSpc>
                <a:spcPct val="100000"/>
              </a:lnSpc>
              <a:spcBef>
                <a:spcPts val="1000"/>
              </a:spcBef>
              <a:spcAft>
                <a:spcPts val="0"/>
              </a:spcAft>
              <a:buNone/>
            </a:pPr>
            <a:r>
              <a:t/>
            </a:r>
            <a:endParaRPr b="1" sz="1600">
              <a:solidFill>
                <a:schemeClr val="accent1"/>
              </a:solidFill>
              <a:latin typeface="Century Gothic"/>
              <a:ea typeface="Century Gothic"/>
              <a:cs typeface="Century Gothic"/>
              <a:sym typeface="Century Gothic"/>
            </a:endParaRPr>
          </a:p>
          <a:p>
            <a:pPr indent="-215900" lvl="0" marL="685800" rtl="0" algn="just">
              <a:lnSpc>
                <a:spcPct val="100000"/>
              </a:lnSpc>
              <a:spcBef>
                <a:spcPts val="100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Mayor carga operativa</a:t>
            </a:r>
            <a:endParaRPr>
              <a:solidFill>
                <a:schemeClr val="dk2"/>
              </a:solidFill>
              <a:latin typeface="Century Gothic"/>
              <a:ea typeface="Century Gothic"/>
              <a:cs typeface="Century Gothic"/>
              <a:sym typeface="Century Gothic"/>
            </a:endParaRPr>
          </a:p>
          <a:p>
            <a:pPr indent="-215900" lvl="0" marL="68580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Riesgo de errores por multitarea</a:t>
            </a:r>
            <a:endParaRPr>
              <a:solidFill>
                <a:schemeClr val="dk2"/>
              </a:solidFill>
              <a:latin typeface="Century Gothic"/>
              <a:ea typeface="Century Gothic"/>
              <a:cs typeface="Century Gothic"/>
              <a:sym typeface="Century Gothic"/>
            </a:endParaRPr>
          </a:p>
          <a:p>
            <a:pPr indent="-215900" lvl="0" marL="68580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Experiencia del cliente inconsistente en momentos críticos</a:t>
            </a:r>
            <a:endParaRPr>
              <a:solidFill>
                <a:schemeClr val="dk2"/>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None/>
            </a:pPr>
            <a:r>
              <a:t/>
            </a:r>
            <a:endParaRPr>
              <a:solidFill>
                <a:schemeClr val="dk2"/>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None/>
            </a:pPr>
            <a:r>
              <a:t/>
            </a:r>
            <a:endParaRPr b="1" sz="1600">
              <a:solidFill>
                <a:schemeClr val="accent1"/>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None/>
            </a:pPr>
            <a:r>
              <a:t/>
            </a:r>
            <a:endParaRPr>
              <a:solidFill>
                <a:schemeClr val="dk2"/>
              </a:solidFill>
              <a:latin typeface="Century Gothic"/>
              <a:ea typeface="Century Gothic"/>
              <a:cs typeface="Century Gothic"/>
              <a:sym typeface="Century Gothic"/>
            </a:endParaRPr>
          </a:p>
          <a:p>
            <a:pPr indent="0" lvl="0" marL="171450" rtl="0" algn="just">
              <a:lnSpc>
                <a:spcPct val="100000"/>
              </a:lnSpc>
              <a:spcBef>
                <a:spcPts val="600"/>
              </a:spcBef>
              <a:spcAft>
                <a:spcPts val="0"/>
              </a:spcAft>
              <a:buSzPts val="1400"/>
              <a:buNone/>
            </a:pPr>
            <a:r>
              <a:t/>
            </a:r>
            <a:endParaRPr b="1" i="1" sz="1500">
              <a:solidFill>
                <a:srgbClr val="F1BB00"/>
              </a:solidFill>
              <a:latin typeface="Century Gothic"/>
              <a:ea typeface="Century Gothic"/>
              <a:cs typeface="Century Gothic"/>
              <a:sym typeface="Century Gothic"/>
            </a:endParaRPr>
          </a:p>
          <a:p>
            <a:pPr indent="0" lvl="0" marL="0" rtl="0" algn="just">
              <a:lnSpc>
                <a:spcPct val="100000"/>
              </a:lnSpc>
              <a:spcBef>
                <a:spcPts val="0"/>
              </a:spcBef>
              <a:spcAft>
                <a:spcPts val="0"/>
              </a:spcAft>
              <a:buSzPts val="1400"/>
              <a:buNone/>
            </a:pPr>
            <a:r>
              <a:t/>
            </a:r>
            <a:endParaRPr sz="1200">
              <a:latin typeface="Century Gothic"/>
              <a:ea typeface="Century Gothic"/>
              <a:cs typeface="Century Gothic"/>
              <a:sym typeface="Century Gothic"/>
            </a:endParaRPr>
          </a:p>
        </p:txBody>
      </p:sp>
      <p:sp>
        <p:nvSpPr>
          <p:cNvPr id="167" name="Google Shape;167;g39331c9436a_0_3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1000"/>
                                        <p:tgtEl>
                                          <p:spTgt spid="16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animEffect filter="fade" transition="in">
                                      <p:cBhvr>
                                        <p:cTn dur="500"/>
                                        <p:tgtEl>
                                          <p:spTgt spid="1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animEffect filter="fade" transition="in">
                                      <p:cBhvr>
                                        <p:cTn dur="500"/>
                                        <p:tgtEl>
                                          <p:spTgt spid="1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animEffect filter="fade" transition="in">
                                      <p:cBhvr>
                                        <p:cTn dur="500"/>
                                        <p:tgtEl>
                                          <p:spTgt spid="1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animEffect filter="fade" transition="in">
                                      <p:cBhvr>
                                        <p:cTn dur="500"/>
                                        <p:tgtEl>
                                          <p:spTgt spid="1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4" st="4"/>
                                            </p:txEl>
                                          </p:spTgt>
                                        </p:tgtEl>
                                        <p:attrNameLst>
                                          <p:attrName>style.visibility</p:attrName>
                                        </p:attrNameLst>
                                      </p:cBhvr>
                                      <p:to>
                                        <p:strVal val="visible"/>
                                      </p:to>
                                    </p:set>
                                    <p:animEffect filter="fade" transition="in">
                                      <p:cBhvr>
                                        <p:cTn dur="500"/>
                                        <p:tgtEl>
                                          <p:spTgt spid="1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5" st="5"/>
                                            </p:txEl>
                                          </p:spTgt>
                                        </p:tgtEl>
                                        <p:attrNameLst>
                                          <p:attrName>style.visibility</p:attrName>
                                        </p:attrNameLst>
                                      </p:cBhvr>
                                      <p:to>
                                        <p:strVal val="visible"/>
                                      </p:to>
                                    </p:set>
                                    <p:animEffect filter="fade" transition="in">
                                      <p:cBhvr>
                                        <p:cTn dur="500"/>
                                        <p:tgtEl>
                                          <p:spTgt spid="16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6" st="6"/>
                                            </p:txEl>
                                          </p:spTgt>
                                        </p:tgtEl>
                                        <p:attrNameLst>
                                          <p:attrName>style.visibility</p:attrName>
                                        </p:attrNameLst>
                                      </p:cBhvr>
                                      <p:to>
                                        <p:strVal val="visible"/>
                                      </p:to>
                                    </p:set>
                                    <p:animEffect filter="fade" transition="in">
                                      <p:cBhvr>
                                        <p:cTn dur="500"/>
                                        <p:tgtEl>
                                          <p:spTgt spid="16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7" st="7"/>
                                            </p:txEl>
                                          </p:spTgt>
                                        </p:tgtEl>
                                        <p:attrNameLst>
                                          <p:attrName>style.visibility</p:attrName>
                                        </p:attrNameLst>
                                      </p:cBhvr>
                                      <p:to>
                                        <p:strVal val="visible"/>
                                      </p:to>
                                    </p:set>
                                    <p:animEffect filter="fade" transition="in">
                                      <p:cBhvr>
                                        <p:cTn dur="500"/>
                                        <p:tgtEl>
                                          <p:spTgt spid="16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8" st="8"/>
                                            </p:txEl>
                                          </p:spTgt>
                                        </p:tgtEl>
                                        <p:attrNameLst>
                                          <p:attrName>style.visibility</p:attrName>
                                        </p:attrNameLst>
                                      </p:cBhvr>
                                      <p:to>
                                        <p:strVal val="visible"/>
                                      </p:to>
                                    </p:set>
                                    <p:animEffect filter="fade" transition="in">
                                      <p:cBhvr>
                                        <p:cTn dur="500"/>
                                        <p:tgtEl>
                                          <p:spTgt spid="16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9" st="9"/>
                                            </p:txEl>
                                          </p:spTgt>
                                        </p:tgtEl>
                                        <p:attrNameLst>
                                          <p:attrName>style.visibility</p:attrName>
                                        </p:attrNameLst>
                                      </p:cBhvr>
                                      <p:to>
                                        <p:strVal val="visible"/>
                                      </p:to>
                                    </p:set>
                                    <p:animEffect filter="fade" transition="in">
                                      <p:cBhvr>
                                        <p:cTn dur="500"/>
                                        <p:tgtEl>
                                          <p:spTgt spid="16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0" st="10"/>
                                            </p:txEl>
                                          </p:spTgt>
                                        </p:tgtEl>
                                        <p:attrNameLst>
                                          <p:attrName>style.visibility</p:attrName>
                                        </p:attrNameLst>
                                      </p:cBhvr>
                                      <p:to>
                                        <p:strVal val="visible"/>
                                      </p:to>
                                    </p:set>
                                    <p:animEffect filter="fade" transition="in">
                                      <p:cBhvr>
                                        <p:cTn dur="500"/>
                                        <p:tgtEl>
                                          <p:spTgt spid="16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1" st="11"/>
                                            </p:txEl>
                                          </p:spTgt>
                                        </p:tgtEl>
                                        <p:attrNameLst>
                                          <p:attrName>style.visibility</p:attrName>
                                        </p:attrNameLst>
                                      </p:cBhvr>
                                      <p:to>
                                        <p:strVal val="visible"/>
                                      </p:to>
                                    </p:set>
                                    <p:animEffect filter="fade" transition="in">
                                      <p:cBhvr>
                                        <p:cTn dur="500"/>
                                        <p:tgtEl>
                                          <p:spTgt spid="16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2" st="12"/>
                                            </p:txEl>
                                          </p:spTgt>
                                        </p:tgtEl>
                                        <p:attrNameLst>
                                          <p:attrName>style.visibility</p:attrName>
                                        </p:attrNameLst>
                                      </p:cBhvr>
                                      <p:to>
                                        <p:strVal val="visible"/>
                                      </p:to>
                                    </p:set>
                                    <p:animEffect filter="fade" transition="in">
                                      <p:cBhvr>
                                        <p:cTn dur="500"/>
                                        <p:tgtEl>
                                          <p:spTgt spid="16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3" st="13"/>
                                            </p:txEl>
                                          </p:spTgt>
                                        </p:tgtEl>
                                        <p:attrNameLst>
                                          <p:attrName>style.visibility</p:attrName>
                                        </p:attrNameLst>
                                      </p:cBhvr>
                                      <p:to>
                                        <p:strVal val="visible"/>
                                      </p:to>
                                    </p:set>
                                    <p:animEffect filter="fade" transition="in">
                                      <p:cBhvr>
                                        <p:cTn dur="500"/>
                                        <p:tgtEl>
                                          <p:spTgt spid="16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14" st="14"/>
                                            </p:txEl>
                                          </p:spTgt>
                                        </p:tgtEl>
                                        <p:attrNameLst>
                                          <p:attrName>style.visibility</p:attrName>
                                        </p:attrNameLst>
                                      </p:cBhvr>
                                      <p:to>
                                        <p:strVal val="visible"/>
                                      </p:to>
                                    </p:set>
                                    <p:animEffect filter="fade" transition="in">
                                      <p:cBhvr>
                                        <p:cTn dur="500"/>
                                        <p:tgtEl>
                                          <p:spTgt spid="166">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g39331c9436a_0_41"/>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173" name="Google Shape;173;g39331c9436a_0_41"/>
          <p:cNvSpPr txBox="1"/>
          <p:nvPr>
            <p:ph idx="4294967295" type="title"/>
          </p:nvPr>
        </p:nvSpPr>
        <p:spPr>
          <a:xfrm>
            <a:off x="324600" y="279475"/>
            <a:ext cx="8494800" cy="3822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Oportunidad de mejora y prioridad estratégica</a:t>
            </a:r>
            <a:endParaRPr>
              <a:solidFill>
                <a:schemeClr val="accent1"/>
              </a:solidFill>
              <a:latin typeface="Century Gothic"/>
              <a:ea typeface="Century Gothic"/>
              <a:cs typeface="Century Gothic"/>
              <a:sym typeface="Century Gothic"/>
            </a:endParaRPr>
          </a:p>
        </p:txBody>
      </p:sp>
      <p:sp>
        <p:nvSpPr>
          <p:cNvPr id="174" name="Google Shape;174;g39331c9436a_0_41"/>
          <p:cNvSpPr txBox="1"/>
          <p:nvPr>
            <p:ph idx="4294967295" type="body"/>
          </p:nvPr>
        </p:nvSpPr>
        <p:spPr>
          <a:xfrm>
            <a:off x="324600" y="1161875"/>
            <a:ext cx="7402800" cy="4340700"/>
          </a:xfrm>
          <a:prstGeom prst="rect">
            <a:avLst/>
          </a:prstGeom>
          <a:noFill/>
          <a:ln>
            <a:noFill/>
          </a:ln>
        </p:spPr>
        <p:txBody>
          <a:bodyPr anchorCtr="0" anchor="t" bIns="91425" lIns="91425" spcFirstLastPara="1" rIns="91425" wrap="square" tIns="91425">
            <a:spAutoFit/>
          </a:bodyPr>
          <a:lstStyle/>
          <a:p>
            <a:pPr indent="-215900" lvl="0" marL="685800" marR="0" rtl="0" algn="just">
              <a:lnSpc>
                <a:spcPct val="100000"/>
              </a:lnSpc>
              <a:spcBef>
                <a:spcPts val="100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Separar la atención digital de la operación presencial</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Filtrar y clasificar solicitudes desde el primer contacto</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Asegurar información completa y validada antes de llegar al CRM</a:t>
            </a:r>
            <a:endParaRPr>
              <a:solidFill>
                <a:schemeClr val="dk2"/>
              </a:solidFill>
              <a:latin typeface="Century Gothic"/>
              <a:ea typeface="Century Gothic"/>
              <a:cs typeface="Century Gothic"/>
              <a:sym typeface="Century Gothic"/>
            </a:endParaRPr>
          </a:p>
          <a:p>
            <a:pPr indent="0" lvl="0" marL="685800" marR="0" rtl="0" algn="just">
              <a:lnSpc>
                <a:spcPct val="100000"/>
              </a:lnSpc>
              <a:spcBef>
                <a:spcPts val="1000"/>
              </a:spcBef>
              <a:spcAft>
                <a:spcPts val="0"/>
              </a:spcAft>
              <a:buNone/>
            </a:pPr>
            <a:r>
              <a:t/>
            </a:r>
            <a:endParaRPr>
              <a:solidFill>
                <a:schemeClr val="dk2"/>
              </a:solidFill>
              <a:latin typeface="Century Gothic"/>
              <a:ea typeface="Century Gothic"/>
              <a:cs typeface="Century Gothic"/>
              <a:sym typeface="Century Gothic"/>
            </a:endParaRPr>
          </a:p>
          <a:p>
            <a:pPr indent="0" lvl="0" marL="0" rtl="0" algn="just">
              <a:lnSpc>
                <a:spcPct val="100000"/>
              </a:lnSpc>
              <a:spcBef>
                <a:spcPts val="1000"/>
              </a:spcBef>
              <a:spcAft>
                <a:spcPts val="0"/>
              </a:spcAft>
              <a:buNone/>
            </a:pPr>
            <a:r>
              <a:rPr b="1" lang="en-US" sz="1600">
                <a:solidFill>
                  <a:schemeClr val="accent1"/>
                </a:solidFill>
                <a:latin typeface="Century Gothic"/>
                <a:ea typeface="Century Gothic"/>
                <a:cs typeface="Century Gothic"/>
                <a:sym typeface="Century Gothic"/>
              </a:rPr>
              <a:t>Impacto organizacional:</a:t>
            </a:r>
            <a:endParaRPr b="1" sz="1600">
              <a:solidFill>
                <a:schemeClr val="accent1"/>
              </a:solidFill>
              <a:latin typeface="Century Gothic"/>
              <a:ea typeface="Century Gothic"/>
              <a:cs typeface="Century Gothic"/>
              <a:sym typeface="Century Gothic"/>
            </a:endParaRPr>
          </a:p>
          <a:p>
            <a:pPr indent="0" lvl="0" marL="0" rtl="0" algn="just">
              <a:lnSpc>
                <a:spcPct val="100000"/>
              </a:lnSpc>
              <a:spcBef>
                <a:spcPts val="1000"/>
              </a:spcBef>
              <a:spcAft>
                <a:spcPts val="0"/>
              </a:spcAft>
              <a:buNone/>
            </a:pPr>
            <a:r>
              <a:t/>
            </a:r>
            <a:endParaRPr b="1" sz="1600">
              <a:solidFill>
                <a:schemeClr val="accent1"/>
              </a:solidFill>
              <a:latin typeface="Century Gothic"/>
              <a:ea typeface="Century Gothic"/>
              <a:cs typeface="Century Gothic"/>
              <a:sym typeface="Century Gothic"/>
            </a:endParaRPr>
          </a:p>
          <a:p>
            <a:pPr indent="-215900" lvl="0" marL="685800" rtl="0" algn="just">
              <a:lnSpc>
                <a:spcPct val="100000"/>
              </a:lnSpc>
              <a:spcBef>
                <a:spcPts val="100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Mayor control sobre la experiencia del cliente</a:t>
            </a:r>
            <a:endParaRPr>
              <a:solidFill>
                <a:schemeClr val="dk2"/>
              </a:solidFill>
              <a:latin typeface="Century Gothic"/>
              <a:ea typeface="Century Gothic"/>
              <a:cs typeface="Century Gothic"/>
              <a:sym typeface="Century Gothic"/>
            </a:endParaRPr>
          </a:p>
          <a:p>
            <a:pPr indent="-215900" lvl="0" marL="68580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Equipos enfocados en tareas de alto impacto</a:t>
            </a:r>
            <a:endParaRPr>
              <a:solidFill>
                <a:schemeClr val="dk2"/>
              </a:solidFill>
              <a:latin typeface="Century Gothic"/>
              <a:ea typeface="Century Gothic"/>
              <a:cs typeface="Century Gothic"/>
              <a:sym typeface="Century Gothic"/>
            </a:endParaRPr>
          </a:p>
          <a:p>
            <a:pPr indent="-215900" lvl="0" marL="68580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Operación más ordenada, medible y escalable</a:t>
            </a:r>
            <a:endParaRPr>
              <a:solidFill>
                <a:schemeClr val="dk2"/>
              </a:solidFill>
              <a:latin typeface="Century Gothic"/>
              <a:ea typeface="Century Gothic"/>
              <a:cs typeface="Century Gothic"/>
              <a:sym typeface="Century Gothic"/>
            </a:endParaRPr>
          </a:p>
          <a:p>
            <a:pPr indent="-215900" lvl="0" marL="68580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Base sólida para crecer sin aumentar complejidad ni estructura interna</a:t>
            </a:r>
            <a:endParaRPr>
              <a:solidFill>
                <a:schemeClr val="dk2"/>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None/>
            </a:pPr>
            <a:r>
              <a:t/>
            </a:r>
            <a:endParaRPr b="1" sz="1600">
              <a:solidFill>
                <a:schemeClr val="accent1"/>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None/>
            </a:pPr>
            <a:r>
              <a:t/>
            </a:r>
            <a:endParaRPr>
              <a:solidFill>
                <a:schemeClr val="dk2"/>
              </a:solidFill>
              <a:latin typeface="Century Gothic"/>
              <a:ea typeface="Century Gothic"/>
              <a:cs typeface="Century Gothic"/>
              <a:sym typeface="Century Gothic"/>
            </a:endParaRPr>
          </a:p>
          <a:p>
            <a:pPr indent="0" lvl="0" marL="171450" rtl="0" algn="just">
              <a:lnSpc>
                <a:spcPct val="100000"/>
              </a:lnSpc>
              <a:spcBef>
                <a:spcPts val="600"/>
              </a:spcBef>
              <a:spcAft>
                <a:spcPts val="0"/>
              </a:spcAft>
              <a:buSzPts val="1400"/>
              <a:buNone/>
            </a:pPr>
            <a:r>
              <a:t/>
            </a:r>
            <a:endParaRPr b="1" i="1" sz="1500">
              <a:solidFill>
                <a:srgbClr val="F1BB00"/>
              </a:solidFill>
              <a:latin typeface="Century Gothic"/>
              <a:ea typeface="Century Gothic"/>
              <a:cs typeface="Century Gothic"/>
              <a:sym typeface="Century Gothic"/>
            </a:endParaRPr>
          </a:p>
          <a:p>
            <a:pPr indent="0" lvl="0" marL="0" rtl="0" algn="just">
              <a:lnSpc>
                <a:spcPct val="100000"/>
              </a:lnSpc>
              <a:spcBef>
                <a:spcPts val="0"/>
              </a:spcBef>
              <a:spcAft>
                <a:spcPts val="0"/>
              </a:spcAft>
              <a:buSzPts val="1400"/>
              <a:buNone/>
            </a:pPr>
            <a:r>
              <a:t/>
            </a:r>
            <a:endParaRPr sz="1200">
              <a:latin typeface="Century Gothic"/>
              <a:ea typeface="Century Gothic"/>
              <a:cs typeface="Century Gothic"/>
              <a:sym typeface="Century Gothic"/>
            </a:endParaRPr>
          </a:p>
        </p:txBody>
      </p:sp>
      <p:sp>
        <p:nvSpPr>
          <p:cNvPr id="175" name="Google Shape;175;g39331c9436a_0_4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73"/>
                                        </p:tgtEl>
                                        <p:attrNameLst>
                                          <p:attrName>style.visibility</p:attrName>
                                        </p:attrNameLst>
                                      </p:cBhvr>
                                      <p:to>
                                        <p:strVal val="visible"/>
                                      </p:to>
                                    </p:set>
                                    <p:anim calcmode="lin" valueType="num">
                                      <p:cBhvr additive="base">
                                        <p:cTn dur="1000"/>
                                        <p:tgtEl>
                                          <p:spTgt spid="1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500"/>
                                        <p:tgtEl>
                                          <p:spTgt spid="1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animEffect filter="fade" transition="in">
                                      <p:cBhvr>
                                        <p:cTn dur="500"/>
                                        <p:tgtEl>
                                          <p:spTgt spid="1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animEffect filter="fade" transition="in">
                                      <p:cBhvr>
                                        <p:cTn dur="500"/>
                                        <p:tgtEl>
                                          <p:spTgt spid="1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3" st="3"/>
                                            </p:txEl>
                                          </p:spTgt>
                                        </p:tgtEl>
                                        <p:attrNameLst>
                                          <p:attrName>style.visibility</p:attrName>
                                        </p:attrNameLst>
                                      </p:cBhvr>
                                      <p:to>
                                        <p:strVal val="visible"/>
                                      </p:to>
                                    </p:set>
                                    <p:animEffect filter="fade" transition="in">
                                      <p:cBhvr>
                                        <p:cTn dur="500"/>
                                        <p:tgtEl>
                                          <p:spTgt spid="1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4" st="4"/>
                                            </p:txEl>
                                          </p:spTgt>
                                        </p:tgtEl>
                                        <p:attrNameLst>
                                          <p:attrName>style.visibility</p:attrName>
                                        </p:attrNameLst>
                                      </p:cBhvr>
                                      <p:to>
                                        <p:strVal val="visible"/>
                                      </p:to>
                                    </p:set>
                                    <p:animEffect filter="fade" transition="in">
                                      <p:cBhvr>
                                        <p:cTn dur="500"/>
                                        <p:tgtEl>
                                          <p:spTgt spid="1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5" st="5"/>
                                            </p:txEl>
                                          </p:spTgt>
                                        </p:tgtEl>
                                        <p:attrNameLst>
                                          <p:attrName>style.visibility</p:attrName>
                                        </p:attrNameLst>
                                      </p:cBhvr>
                                      <p:to>
                                        <p:strVal val="visible"/>
                                      </p:to>
                                    </p:set>
                                    <p:animEffect filter="fade" transition="in">
                                      <p:cBhvr>
                                        <p:cTn dur="500"/>
                                        <p:tgtEl>
                                          <p:spTgt spid="1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6" st="6"/>
                                            </p:txEl>
                                          </p:spTgt>
                                        </p:tgtEl>
                                        <p:attrNameLst>
                                          <p:attrName>style.visibility</p:attrName>
                                        </p:attrNameLst>
                                      </p:cBhvr>
                                      <p:to>
                                        <p:strVal val="visible"/>
                                      </p:to>
                                    </p:set>
                                    <p:animEffect filter="fade" transition="in">
                                      <p:cBhvr>
                                        <p:cTn dur="500"/>
                                        <p:tgtEl>
                                          <p:spTgt spid="1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7" st="7"/>
                                            </p:txEl>
                                          </p:spTgt>
                                        </p:tgtEl>
                                        <p:attrNameLst>
                                          <p:attrName>style.visibility</p:attrName>
                                        </p:attrNameLst>
                                      </p:cBhvr>
                                      <p:to>
                                        <p:strVal val="visible"/>
                                      </p:to>
                                    </p:set>
                                    <p:animEffect filter="fade" transition="in">
                                      <p:cBhvr>
                                        <p:cTn dur="500"/>
                                        <p:tgtEl>
                                          <p:spTgt spid="1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8" st="8"/>
                                            </p:txEl>
                                          </p:spTgt>
                                        </p:tgtEl>
                                        <p:attrNameLst>
                                          <p:attrName>style.visibility</p:attrName>
                                        </p:attrNameLst>
                                      </p:cBhvr>
                                      <p:to>
                                        <p:strVal val="visible"/>
                                      </p:to>
                                    </p:set>
                                    <p:animEffect filter="fade" transition="in">
                                      <p:cBhvr>
                                        <p:cTn dur="500"/>
                                        <p:tgtEl>
                                          <p:spTgt spid="17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9" st="9"/>
                                            </p:txEl>
                                          </p:spTgt>
                                        </p:tgtEl>
                                        <p:attrNameLst>
                                          <p:attrName>style.visibility</p:attrName>
                                        </p:attrNameLst>
                                      </p:cBhvr>
                                      <p:to>
                                        <p:strVal val="visible"/>
                                      </p:to>
                                    </p:set>
                                    <p:animEffect filter="fade" transition="in">
                                      <p:cBhvr>
                                        <p:cTn dur="500"/>
                                        <p:tgtEl>
                                          <p:spTgt spid="17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0" st="10"/>
                                            </p:txEl>
                                          </p:spTgt>
                                        </p:tgtEl>
                                        <p:attrNameLst>
                                          <p:attrName>style.visibility</p:attrName>
                                        </p:attrNameLst>
                                      </p:cBhvr>
                                      <p:to>
                                        <p:strVal val="visible"/>
                                      </p:to>
                                    </p:set>
                                    <p:animEffect filter="fade" transition="in">
                                      <p:cBhvr>
                                        <p:cTn dur="500"/>
                                        <p:tgtEl>
                                          <p:spTgt spid="17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1" st="11"/>
                                            </p:txEl>
                                          </p:spTgt>
                                        </p:tgtEl>
                                        <p:attrNameLst>
                                          <p:attrName>style.visibility</p:attrName>
                                        </p:attrNameLst>
                                      </p:cBhvr>
                                      <p:to>
                                        <p:strVal val="visible"/>
                                      </p:to>
                                    </p:set>
                                    <p:animEffect filter="fade" transition="in">
                                      <p:cBhvr>
                                        <p:cTn dur="500"/>
                                        <p:tgtEl>
                                          <p:spTgt spid="17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2" st="12"/>
                                            </p:txEl>
                                          </p:spTgt>
                                        </p:tgtEl>
                                        <p:attrNameLst>
                                          <p:attrName>style.visibility</p:attrName>
                                        </p:attrNameLst>
                                      </p:cBhvr>
                                      <p:to>
                                        <p:strVal val="visible"/>
                                      </p:to>
                                    </p:set>
                                    <p:animEffect filter="fade" transition="in">
                                      <p:cBhvr>
                                        <p:cTn dur="500"/>
                                        <p:tgtEl>
                                          <p:spTgt spid="17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3" st="13"/>
                                            </p:txEl>
                                          </p:spTgt>
                                        </p:tgtEl>
                                        <p:attrNameLst>
                                          <p:attrName>style.visibility</p:attrName>
                                        </p:attrNameLst>
                                      </p:cBhvr>
                                      <p:to>
                                        <p:strVal val="visible"/>
                                      </p:to>
                                    </p:set>
                                    <p:animEffect filter="fade" transition="in">
                                      <p:cBhvr>
                                        <p:cTn dur="500"/>
                                        <p:tgtEl>
                                          <p:spTgt spid="174">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sp>
        <p:nvSpPr>
          <p:cNvPr id="180" name="Google Shape;180;g39331c9436a_0_48"/>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181" name="Google Shape;181;g39331c9436a_0_48"/>
          <p:cNvSpPr txBox="1"/>
          <p:nvPr>
            <p:ph idx="4294967295" type="title"/>
          </p:nvPr>
        </p:nvSpPr>
        <p:spPr>
          <a:xfrm>
            <a:off x="324600" y="279475"/>
            <a:ext cx="8494800" cy="3822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Visión estratégica:</a:t>
            </a:r>
            <a:endParaRPr>
              <a:solidFill>
                <a:schemeClr val="accent1"/>
              </a:solidFill>
              <a:latin typeface="Century Gothic"/>
              <a:ea typeface="Century Gothic"/>
              <a:cs typeface="Century Gothic"/>
              <a:sym typeface="Century Gothic"/>
            </a:endParaRPr>
          </a:p>
        </p:txBody>
      </p:sp>
      <p:sp>
        <p:nvSpPr>
          <p:cNvPr id="182" name="Google Shape;182;g39331c9436a_0_48"/>
          <p:cNvSpPr txBox="1"/>
          <p:nvPr>
            <p:ph idx="4294967295" type="body"/>
          </p:nvPr>
        </p:nvSpPr>
        <p:spPr>
          <a:xfrm>
            <a:off x="324600" y="1986900"/>
            <a:ext cx="7402800" cy="1169700"/>
          </a:xfrm>
          <a:prstGeom prst="rect">
            <a:avLst/>
          </a:prstGeom>
          <a:noFill/>
          <a:ln>
            <a:noFill/>
          </a:ln>
        </p:spPr>
        <p:txBody>
          <a:bodyPr anchorCtr="0" anchor="t" bIns="91425" lIns="91425" spcFirstLastPara="1" rIns="91425" wrap="square" tIns="91425">
            <a:spAutoFit/>
          </a:bodyPr>
          <a:lstStyle/>
          <a:p>
            <a:pPr indent="-215900" lvl="0" marL="685800" marR="0" rtl="0" algn="just">
              <a:lnSpc>
                <a:spcPct val="100000"/>
              </a:lnSpc>
              <a:spcBef>
                <a:spcPts val="100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Atención digital estandarizada y predecible</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WhatsApp operando como canal estratégico, no como carga operativa</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Filtro automático de demanda antes de llegar al equipo humano</a:t>
            </a:r>
            <a:endParaRPr>
              <a:solidFill>
                <a:schemeClr val="dk2"/>
              </a:solidFill>
              <a:latin typeface="Century Gothic"/>
              <a:ea typeface="Century Gothic"/>
              <a:cs typeface="Century Gothic"/>
              <a:sym typeface="Century Gothic"/>
            </a:endParaRPr>
          </a:p>
          <a:p>
            <a:pPr indent="-215900" lvl="0" marL="685800" marR="0" rtl="0" algn="just">
              <a:lnSpc>
                <a:spcPct val="100000"/>
              </a:lnSpc>
              <a:spcBef>
                <a:spcPts val="0"/>
              </a:spcBef>
              <a:spcAft>
                <a:spcPts val="0"/>
              </a:spcAft>
              <a:buClr>
                <a:schemeClr val="accent1"/>
              </a:buClr>
              <a:buSzPts val="1600"/>
              <a:buFont typeface="Century Gothic"/>
              <a:buChar char="➔"/>
            </a:pPr>
            <a:r>
              <a:rPr lang="en-US">
                <a:solidFill>
                  <a:schemeClr val="dk2"/>
                </a:solidFill>
                <a:latin typeface="Century Gothic"/>
                <a:ea typeface="Century Gothic"/>
                <a:cs typeface="Century Gothic"/>
                <a:sym typeface="Century Gothic"/>
              </a:rPr>
              <a:t>Información estructurada desde el primer contacto</a:t>
            </a:r>
            <a:endParaRPr sz="1200">
              <a:latin typeface="Century Gothic"/>
              <a:ea typeface="Century Gothic"/>
              <a:cs typeface="Century Gothic"/>
              <a:sym typeface="Century Gothic"/>
            </a:endParaRPr>
          </a:p>
        </p:txBody>
      </p:sp>
      <p:sp>
        <p:nvSpPr>
          <p:cNvPr id="183" name="Google Shape;183;g39331c9436a_0_4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1000"/>
                                        <p:tgtEl>
                                          <p:spTgt spid="18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animEffect filter="fade" transition="in">
                                      <p:cBhvr>
                                        <p:cTn dur="500"/>
                                        <p:tgtEl>
                                          <p:spTgt spid="1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animEffect filter="fade" transition="in">
                                      <p:cBhvr>
                                        <p:cTn dur="500"/>
                                        <p:tgtEl>
                                          <p:spTgt spid="1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animEffect filter="fade" transition="in">
                                      <p:cBhvr>
                                        <p:cTn dur="500"/>
                                        <p:tgtEl>
                                          <p:spTgt spid="1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3" st="3"/>
                                            </p:txEl>
                                          </p:spTgt>
                                        </p:tgtEl>
                                        <p:attrNameLst>
                                          <p:attrName>style.visibility</p:attrName>
                                        </p:attrNameLst>
                                      </p:cBhvr>
                                      <p:to>
                                        <p:strVal val="visible"/>
                                      </p:to>
                                    </p:set>
                                    <p:animEffect filter="fade" transition="in">
                                      <p:cBhvr>
                                        <p:cTn dur="500"/>
                                        <p:tgtEl>
                                          <p:spTgt spid="18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87" name="Shape 187"/>
        <p:cNvGrpSpPr/>
        <p:nvPr/>
      </p:nvGrpSpPr>
      <p:grpSpPr>
        <a:xfrm>
          <a:off x="0" y="0"/>
          <a:ext cx="0" cy="0"/>
          <a:chOff x="0" y="0"/>
          <a:chExt cx="0" cy="0"/>
        </a:xfrm>
      </p:grpSpPr>
      <p:sp>
        <p:nvSpPr>
          <p:cNvPr id="188" name="Google Shape;188;g39331c9436a_0_27"/>
          <p:cNvSpPr txBox="1"/>
          <p:nvPr>
            <p:ph idx="4294967295" type="title"/>
          </p:nvPr>
        </p:nvSpPr>
        <p:spPr>
          <a:xfrm>
            <a:off x="617225" y="100"/>
            <a:ext cx="7909500" cy="5143500"/>
          </a:xfrm>
          <a:prstGeom prst="rect">
            <a:avLst/>
          </a:prstGeom>
          <a:no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Nunito Sans"/>
              <a:buNone/>
            </a:pPr>
            <a:r>
              <a:rPr b="1" i="1" lang="en-US" sz="5100">
                <a:latin typeface="Century Gothic"/>
                <a:ea typeface="Century Gothic"/>
                <a:cs typeface="Century Gothic"/>
                <a:sym typeface="Century Gothic"/>
              </a:rPr>
              <a:t>Agente de IA -</a:t>
            </a:r>
            <a:endParaRPr b="1" i="1" sz="5100">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FFFFFF"/>
              </a:buClr>
              <a:buSzPts val="2400"/>
              <a:buFont typeface="Nunito Sans"/>
              <a:buNone/>
            </a:pPr>
            <a:r>
              <a:rPr b="1" i="1" lang="en-US" sz="5100">
                <a:latin typeface="Century Gothic"/>
                <a:ea typeface="Century Gothic"/>
                <a:cs typeface="Century Gothic"/>
                <a:sym typeface="Century Gothic"/>
              </a:rPr>
              <a:t>Don Hidalgo</a:t>
            </a:r>
            <a:endParaRPr b="1" i="1" sz="5100">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p22"/>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194" name="Google Shape;194;p22"/>
          <p:cNvSpPr txBox="1"/>
          <p:nvPr>
            <p:ph idx="4294967295" type="title"/>
          </p:nvPr>
        </p:nvSpPr>
        <p:spPr>
          <a:xfrm>
            <a:off x="324600" y="279475"/>
            <a:ext cx="8494800" cy="7518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Atiende más rápido, vende más y sin contratar personal adicional.</a:t>
            </a:r>
            <a:endParaRPr sz="2000">
              <a:solidFill>
                <a:schemeClr val="accent1"/>
              </a:solidFill>
              <a:highlight>
                <a:srgbClr val="FFFFFF"/>
              </a:highlight>
              <a:latin typeface="Century Gothic"/>
              <a:ea typeface="Century Gothic"/>
              <a:cs typeface="Century Gothic"/>
              <a:sym typeface="Century Gothic"/>
            </a:endParaRPr>
          </a:p>
        </p:txBody>
      </p:sp>
      <p:sp>
        <p:nvSpPr>
          <p:cNvPr id="195" name="Google Shape;195;p22"/>
          <p:cNvSpPr txBox="1"/>
          <p:nvPr>
            <p:ph idx="4294967295" type="body"/>
          </p:nvPr>
        </p:nvSpPr>
        <p:spPr>
          <a:xfrm>
            <a:off x="324600" y="1405650"/>
            <a:ext cx="5733000" cy="3345300"/>
          </a:xfrm>
          <a:prstGeom prst="rect">
            <a:avLst/>
          </a:prstGeom>
          <a:noFill/>
          <a:ln>
            <a:noFill/>
          </a:ln>
        </p:spPr>
        <p:txBody>
          <a:bodyPr anchorCtr="0" anchor="t" bIns="91425" lIns="91425" spcFirstLastPara="1" rIns="91425" wrap="square" tIns="91425">
            <a:spAutoFit/>
          </a:bodyPr>
          <a:lstStyle/>
          <a:p>
            <a:pPr indent="-368300" lvl="0" marL="457200" rtl="0" algn="l">
              <a:lnSpc>
                <a:spcPct val="100000"/>
              </a:lnSpc>
              <a:spcBef>
                <a:spcPts val="0"/>
              </a:spcBef>
              <a:spcAft>
                <a:spcPts val="0"/>
              </a:spcAft>
              <a:buClr>
                <a:schemeClr val="accent1"/>
              </a:buClr>
              <a:buSzPts val="2200"/>
              <a:buFont typeface="Century Gothic"/>
              <a:buChar char="o"/>
            </a:pPr>
            <a:r>
              <a:rPr b="1" lang="en-US" sz="1500">
                <a:solidFill>
                  <a:schemeClr val="dk2"/>
                </a:solidFill>
                <a:latin typeface="Century Gothic"/>
                <a:ea typeface="Century Gothic"/>
                <a:cs typeface="Century Gothic"/>
                <a:sym typeface="Century Gothic"/>
              </a:rPr>
              <a:t>Es Ideal para empresas que dependen de la atención oportuna de sus canales digitales para vender más:</a:t>
            </a:r>
            <a:endParaRPr b="1" sz="1500">
              <a:solidFill>
                <a:schemeClr val="dk2"/>
              </a:solidFill>
              <a:latin typeface="Century Gothic"/>
              <a:ea typeface="Century Gothic"/>
              <a:cs typeface="Century Gothic"/>
              <a:sym typeface="Century Gothic"/>
            </a:endParaRPr>
          </a:p>
          <a:p>
            <a:pPr indent="0" lvl="0" marL="457200" rtl="0" algn="l">
              <a:lnSpc>
                <a:spcPct val="100000"/>
              </a:lnSpc>
              <a:spcBef>
                <a:spcPts val="0"/>
              </a:spcBef>
              <a:spcAft>
                <a:spcPts val="0"/>
              </a:spcAft>
              <a:buSzPts val="1400"/>
              <a:buNone/>
            </a:pPr>
            <a:r>
              <a:t/>
            </a:r>
            <a:endParaRPr b="1" sz="1500">
              <a:solidFill>
                <a:schemeClr val="dk2"/>
              </a:solidFill>
              <a:latin typeface="Century Gothic"/>
              <a:ea typeface="Century Gothic"/>
              <a:cs typeface="Century Gothic"/>
              <a:sym typeface="Century Gothic"/>
            </a:endParaRPr>
          </a:p>
          <a:p>
            <a:pPr indent="-317500" lvl="0" marL="742950" marR="0" rtl="0" algn="l">
              <a:lnSpc>
                <a:spcPct val="100000"/>
              </a:lnSpc>
              <a:spcBef>
                <a:spcPts val="10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Aumentar su capacidad de respuesta.</a:t>
            </a:r>
            <a:endParaRPr>
              <a:solidFill>
                <a:schemeClr val="dk2"/>
              </a:solidFill>
              <a:latin typeface="Century Gothic"/>
              <a:ea typeface="Century Gothic"/>
              <a:cs typeface="Century Gothic"/>
              <a:sym typeface="Century Gothic"/>
            </a:endParaRPr>
          </a:p>
          <a:p>
            <a:pPr indent="-317500" lvl="0" marL="742950" marR="0" rtl="0" algn="l">
              <a:lnSpc>
                <a:spcPct val="100000"/>
              </a:lnSpc>
              <a:spcBef>
                <a:spcPts val="6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Acelerar el ciclo de ventas.</a:t>
            </a:r>
            <a:endParaRPr>
              <a:solidFill>
                <a:schemeClr val="dk2"/>
              </a:solidFill>
              <a:latin typeface="Century Gothic"/>
              <a:ea typeface="Century Gothic"/>
              <a:cs typeface="Century Gothic"/>
              <a:sym typeface="Century Gothic"/>
            </a:endParaRPr>
          </a:p>
          <a:p>
            <a:pPr indent="-317500" lvl="0" marL="742950" marR="0" rtl="0" algn="l">
              <a:lnSpc>
                <a:spcPct val="100000"/>
              </a:lnSpc>
              <a:spcBef>
                <a:spcPts val="6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Mejorar la experiencia del cliente desde el primer contacto.</a:t>
            </a:r>
            <a:endParaRPr>
              <a:solidFill>
                <a:schemeClr val="dk2"/>
              </a:solidFill>
              <a:latin typeface="Century Gothic"/>
              <a:ea typeface="Century Gothic"/>
              <a:cs typeface="Century Gothic"/>
              <a:sym typeface="Century Gothic"/>
            </a:endParaRPr>
          </a:p>
          <a:p>
            <a:pPr indent="0" lvl="0" marL="171450" rtl="0" algn="l">
              <a:lnSpc>
                <a:spcPct val="100000"/>
              </a:lnSpc>
              <a:spcBef>
                <a:spcPts val="600"/>
              </a:spcBef>
              <a:spcAft>
                <a:spcPts val="0"/>
              </a:spcAft>
              <a:buSzPts val="1400"/>
              <a:buNone/>
            </a:pPr>
            <a:r>
              <a:t/>
            </a:r>
            <a:endParaRPr b="1" i="1" sz="1500">
              <a:solidFill>
                <a:srgbClr val="F1BB00"/>
              </a:solidFill>
              <a:latin typeface="Century Gothic"/>
              <a:ea typeface="Century Gothic"/>
              <a:cs typeface="Century Gothic"/>
              <a:sym typeface="Century Gothic"/>
            </a:endParaRPr>
          </a:p>
          <a:p>
            <a:pPr indent="0" lvl="0" marL="171450" rtl="0" algn="l">
              <a:lnSpc>
                <a:spcPct val="100000"/>
              </a:lnSpc>
              <a:spcBef>
                <a:spcPts val="0"/>
              </a:spcBef>
              <a:spcAft>
                <a:spcPts val="0"/>
              </a:spcAft>
              <a:buSzPts val="1400"/>
              <a:buNone/>
            </a:pPr>
            <a:r>
              <a:t/>
            </a:r>
            <a:endParaRPr b="1" i="1" sz="1300">
              <a:solidFill>
                <a:srgbClr val="F1BB00"/>
              </a:solidFill>
              <a:latin typeface="Century Gothic"/>
              <a:ea typeface="Century Gothic"/>
              <a:cs typeface="Century Gothic"/>
              <a:sym typeface="Century Gothic"/>
            </a:endParaRPr>
          </a:p>
          <a:p>
            <a:pPr indent="0" lvl="0" marL="0" rtl="0" algn="l">
              <a:lnSpc>
                <a:spcPct val="100000"/>
              </a:lnSpc>
              <a:spcBef>
                <a:spcPts val="0"/>
              </a:spcBef>
              <a:spcAft>
                <a:spcPts val="0"/>
              </a:spcAft>
              <a:buSzPts val="1400"/>
              <a:buNone/>
            </a:pPr>
            <a:r>
              <a:rPr b="1" i="1" lang="en-US" sz="1700">
                <a:solidFill>
                  <a:schemeClr val="accent1"/>
                </a:solidFill>
                <a:latin typeface="Century Gothic"/>
                <a:ea typeface="Century Gothic"/>
                <a:cs typeface="Century Gothic"/>
                <a:sym typeface="Century Gothic"/>
              </a:rPr>
              <a:t>¡Escala la atención de tus clientes de manera eficiente y personalizada!</a:t>
            </a:r>
            <a:endParaRPr i="1" sz="1300">
              <a:solidFill>
                <a:schemeClr val="accent1"/>
              </a:solidFill>
              <a:latin typeface="Century Gothic"/>
              <a:ea typeface="Century Gothic"/>
              <a:cs typeface="Century Gothic"/>
              <a:sym typeface="Century Gothic"/>
            </a:endParaRPr>
          </a:p>
          <a:p>
            <a:pPr indent="0" lvl="0" marL="0" rtl="0" algn="l">
              <a:lnSpc>
                <a:spcPct val="100000"/>
              </a:lnSpc>
              <a:spcBef>
                <a:spcPts val="0"/>
              </a:spcBef>
              <a:spcAft>
                <a:spcPts val="0"/>
              </a:spcAft>
              <a:buSzPts val="1400"/>
              <a:buNone/>
            </a:pPr>
            <a:r>
              <a:t/>
            </a:r>
            <a:endParaRPr sz="1200">
              <a:latin typeface="Century Gothic"/>
              <a:ea typeface="Century Gothic"/>
              <a:cs typeface="Century Gothic"/>
              <a:sym typeface="Century Gothic"/>
            </a:endParaRPr>
          </a:p>
        </p:txBody>
      </p:sp>
      <p:sp>
        <p:nvSpPr>
          <p:cNvPr id="196" name="Google Shape;196;p22"/>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Lato"/>
                <a:ea typeface="Lato"/>
                <a:cs typeface="Lato"/>
                <a:sym typeface="Lato"/>
              </a:rPr>
              <a:t>AI Agents | </a:t>
            </a:r>
            <a:r>
              <a:rPr b="1" i="1" lang="en-US" sz="2200" u="none" cap="none" strike="noStrike">
                <a:solidFill>
                  <a:srgbClr val="FFFFFF"/>
                </a:solidFill>
                <a:latin typeface="Lato"/>
                <a:ea typeface="Lato"/>
                <a:cs typeface="Lato"/>
                <a:sym typeface="Lato"/>
              </a:rPr>
              <a:t>nombrecliente</a:t>
            </a:r>
            <a:endParaRPr b="0" i="1" sz="2200" u="none" cap="none" strike="noStrike">
              <a:solidFill>
                <a:srgbClr val="000000"/>
              </a:solidFill>
              <a:latin typeface="Lato"/>
              <a:ea typeface="Lato"/>
              <a:cs typeface="Lato"/>
              <a:sym typeface="Lato"/>
            </a:endParaRPr>
          </a:p>
        </p:txBody>
      </p:sp>
      <p:sp>
        <p:nvSpPr>
          <p:cNvPr id="197" name="Google Shape;197;p2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98" name="Google Shape;198;p22"/>
          <p:cNvPicPr preferRelativeResize="0"/>
          <p:nvPr/>
        </p:nvPicPr>
        <p:blipFill rotWithShape="1">
          <a:blip r:embed="rId3">
            <a:alphaModFix/>
          </a:blip>
          <a:srcRect b="0" l="-6053" r="-6041" t="-12095"/>
          <a:stretch/>
        </p:blipFill>
        <p:spPr>
          <a:xfrm>
            <a:off x="5976850" y="1180950"/>
            <a:ext cx="2781600" cy="278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94"/>
                                        </p:tgtEl>
                                        <p:attrNameLst>
                                          <p:attrName>style.visibility</p:attrName>
                                        </p:attrNameLst>
                                      </p:cBhvr>
                                      <p:to>
                                        <p:strVal val="visible"/>
                                      </p:to>
                                    </p:set>
                                    <p:anim calcmode="lin" valueType="num">
                                      <p:cBhvr additive="base">
                                        <p:cTn dur="1000"/>
                                        <p:tgtEl>
                                          <p:spTgt spid="19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animEffect filter="fade" transition="in">
                                      <p:cBhvr>
                                        <p:cTn dur="500"/>
                                        <p:tgtEl>
                                          <p:spTgt spid="1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animEffect filter="fade" transition="in">
                                      <p:cBhvr>
                                        <p:cTn dur="500"/>
                                        <p:tgtEl>
                                          <p:spTgt spid="1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animEffect filter="fade" transition="in">
                                      <p:cBhvr>
                                        <p:cTn dur="500"/>
                                        <p:tgtEl>
                                          <p:spTgt spid="1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animEffect filter="fade" transition="in">
                                      <p:cBhvr>
                                        <p:cTn dur="500"/>
                                        <p:tgtEl>
                                          <p:spTgt spid="1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4" st="4"/>
                                            </p:txEl>
                                          </p:spTgt>
                                        </p:tgtEl>
                                        <p:attrNameLst>
                                          <p:attrName>style.visibility</p:attrName>
                                        </p:attrNameLst>
                                      </p:cBhvr>
                                      <p:to>
                                        <p:strVal val="visible"/>
                                      </p:to>
                                    </p:set>
                                    <p:animEffect filter="fade" transition="in">
                                      <p:cBhvr>
                                        <p:cTn dur="500"/>
                                        <p:tgtEl>
                                          <p:spTgt spid="1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5" st="5"/>
                                            </p:txEl>
                                          </p:spTgt>
                                        </p:tgtEl>
                                        <p:attrNameLst>
                                          <p:attrName>style.visibility</p:attrName>
                                        </p:attrNameLst>
                                      </p:cBhvr>
                                      <p:to>
                                        <p:strVal val="visible"/>
                                      </p:to>
                                    </p:set>
                                    <p:animEffect filter="fade" transition="in">
                                      <p:cBhvr>
                                        <p:cTn dur="500"/>
                                        <p:tgtEl>
                                          <p:spTgt spid="1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6" st="6"/>
                                            </p:txEl>
                                          </p:spTgt>
                                        </p:tgtEl>
                                        <p:attrNameLst>
                                          <p:attrName>style.visibility</p:attrName>
                                        </p:attrNameLst>
                                      </p:cBhvr>
                                      <p:to>
                                        <p:strVal val="visible"/>
                                      </p:to>
                                    </p:set>
                                    <p:animEffect filter="fade" transition="in">
                                      <p:cBhvr>
                                        <p:cTn dur="500"/>
                                        <p:tgtEl>
                                          <p:spTgt spid="1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7" st="7"/>
                                            </p:txEl>
                                          </p:spTgt>
                                        </p:tgtEl>
                                        <p:attrNameLst>
                                          <p:attrName>style.visibility</p:attrName>
                                        </p:attrNameLst>
                                      </p:cBhvr>
                                      <p:to>
                                        <p:strVal val="visible"/>
                                      </p:to>
                                    </p:set>
                                    <p:animEffect filter="fade" transition="in">
                                      <p:cBhvr>
                                        <p:cTn dur="500"/>
                                        <p:tgtEl>
                                          <p:spTgt spid="19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8" st="8"/>
                                            </p:txEl>
                                          </p:spTgt>
                                        </p:tgtEl>
                                        <p:attrNameLst>
                                          <p:attrName>style.visibility</p:attrName>
                                        </p:attrNameLst>
                                      </p:cBhvr>
                                      <p:to>
                                        <p:strVal val="visible"/>
                                      </p:to>
                                    </p:set>
                                    <p:animEffect filter="fade" transition="in">
                                      <p:cBhvr>
                                        <p:cTn dur="500"/>
                                        <p:tgtEl>
                                          <p:spTgt spid="19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sp>
        <p:nvSpPr>
          <p:cNvPr id="203" name="Google Shape;203;p24"/>
          <p:cNvSpPr txBox="1"/>
          <p:nvPr>
            <p:ph idx="4294967295" type="body"/>
          </p:nvPr>
        </p:nvSpPr>
        <p:spPr>
          <a:xfrm>
            <a:off x="471775" y="1241350"/>
            <a:ext cx="6048900" cy="2816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400"/>
              <a:buNone/>
            </a:pPr>
            <a:r>
              <a:rPr b="1" lang="en-US" sz="1300">
                <a:solidFill>
                  <a:schemeClr val="dk2"/>
                </a:solidFill>
                <a:latin typeface="Century Gothic"/>
                <a:ea typeface="Century Gothic"/>
                <a:cs typeface="Century Gothic"/>
                <a:sym typeface="Century Gothic"/>
              </a:rPr>
              <a:t>Nuestros agentes de IA están diseñados para:</a:t>
            </a:r>
            <a:endParaRPr b="1" sz="1300">
              <a:solidFill>
                <a:schemeClr val="dk2"/>
              </a:solidFill>
              <a:latin typeface="Century Gothic"/>
              <a:ea typeface="Century Gothic"/>
              <a:cs typeface="Century Gothic"/>
              <a:sym typeface="Century Gothic"/>
            </a:endParaRPr>
          </a:p>
          <a:p>
            <a:pPr indent="0" lvl="0" marL="0" rtl="0" algn="l">
              <a:lnSpc>
                <a:spcPct val="100000"/>
              </a:lnSpc>
              <a:spcBef>
                <a:spcPts val="0"/>
              </a:spcBef>
              <a:spcAft>
                <a:spcPts val="0"/>
              </a:spcAft>
              <a:buSzPts val="1400"/>
              <a:buNone/>
            </a:pPr>
            <a:r>
              <a:t/>
            </a:r>
            <a:endParaRPr b="1" sz="13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Responder de inmediato a consultas frecuentes.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Calificar prospectos en tiempo real usando tus propios criterios comerciales.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Agendar reservas automáticamente en los calendarios de tus representantes comerciales.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Enviar confirmaciones automáticas por WhatsApp y correo electrónico, tanto para clientes como para tu equipo comercial.</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60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Notificar a tu equipo comercial o de soporte sobre tareas, seguimientos o clientes calientes, para que nada se quede sin atender.</a:t>
            </a:r>
            <a:endParaRPr sz="1200">
              <a:solidFill>
                <a:schemeClr val="dk2"/>
              </a:solidFill>
              <a:latin typeface="Century Gothic"/>
              <a:ea typeface="Century Gothic"/>
              <a:cs typeface="Century Gothic"/>
              <a:sym typeface="Century Gothic"/>
            </a:endParaRPr>
          </a:p>
        </p:txBody>
      </p:sp>
      <p:sp>
        <p:nvSpPr>
          <p:cNvPr id="204" name="Google Shape;204;p24"/>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05" name="Google Shape;205;p24"/>
          <p:cNvSpPr txBox="1"/>
          <p:nvPr>
            <p:ph idx="4294967295" type="title"/>
          </p:nvPr>
        </p:nvSpPr>
        <p:spPr>
          <a:xfrm>
            <a:off x="340775" y="303850"/>
            <a:ext cx="8494800" cy="628500"/>
          </a:xfrm>
          <a:prstGeom prst="rect">
            <a:avLst/>
          </a:prstGeom>
          <a:noFill/>
          <a:ln>
            <a:noFill/>
          </a:ln>
        </p:spPr>
        <p:txBody>
          <a:bodyPr anchorCtr="0" anchor="t" bIns="0" lIns="0" spcFirstLastPara="1" rIns="0" wrap="square" tIns="12700">
            <a:spAutoFit/>
          </a:bodyPr>
          <a:lstStyle/>
          <a:p>
            <a:pPr indent="0" lvl="0" marL="241933"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Integración Omnicanal, atención inmediata y fluidez en tu operación comercial</a:t>
            </a:r>
            <a:endParaRPr sz="2000">
              <a:solidFill>
                <a:schemeClr val="accent1"/>
              </a:solidFill>
              <a:highlight>
                <a:srgbClr val="FFFFFF"/>
              </a:highlight>
              <a:latin typeface="Century Gothic"/>
              <a:ea typeface="Century Gothic"/>
              <a:cs typeface="Century Gothic"/>
              <a:sym typeface="Century Gothic"/>
            </a:endParaRPr>
          </a:p>
        </p:txBody>
      </p:sp>
      <p:sp>
        <p:nvSpPr>
          <p:cNvPr id="206" name="Google Shape;206;p24"/>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Century Gothic"/>
                <a:ea typeface="Century Gothic"/>
                <a:cs typeface="Century Gothic"/>
                <a:sym typeface="Century Gothic"/>
              </a:rPr>
              <a:t>Agentes de AI</a:t>
            </a:r>
            <a:endParaRPr b="0" i="1" sz="2200" u="none" cap="none" strike="noStrike">
              <a:solidFill>
                <a:schemeClr val="accent1"/>
              </a:solidFill>
              <a:latin typeface="Century Gothic"/>
              <a:ea typeface="Century Gothic"/>
              <a:cs typeface="Century Gothic"/>
              <a:sym typeface="Century Gothic"/>
            </a:endParaRPr>
          </a:p>
        </p:txBody>
      </p:sp>
      <p:sp>
        <p:nvSpPr>
          <p:cNvPr id="207" name="Google Shape;207;p24"/>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1000"/>
                                        <p:tgtEl>
                                          <p:spTgt spid="20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Effect filter="fade" transition="in">
                                      <p:cBhvr>
                                        <p:cTn dur="500"/>
                                        <p:tgtEl>
                                          <p:spTgt spid="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Effect filter="fade" transition="in">
                                      <p:cBhvr>
                                        <p:cTn dur="500"/>
                                        <p:tgtEl>
                                          <p:spTgt spid="2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animEffect filter="fade" transition="in">
                                      <p:cBhvr>
                                        <p:cTn dur="500"/>
                                        <p:tgtEl>
                                          <p:spTgt spid="2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animEffect filter="fade" transition="in">
                                      <p:cBhvr>
                                        <p:cTn dur="500"/>
                                        <p:tgtEl>
                                          <p:spTgt spid="2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animEffect filter="fade" transition="in">
                                      <p:cBhvr>
                                        <p:cTn dur="500"/>
                                        <p:tgtEl>
                                          <p:spTgt spid="2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5" st="5"/>
                                            </p:txEl>
                                          </p:spTgt>
                                        </p:tgtEl>
                                        <p:attrNameLst>
                                          <p:attrName>style.visibility</p:attrName>
                                        </p:attrNameLst>
                                      </p:cBhvr>
                                      <p:to>
                                        <p:strVal val="visible"/>
                                      </p:to>
                                    </p:set>
                                    <p:animEffect filter="fade" transition="in">
                                      <p:cBhvr>
                                        <p:cTn dur="500"/>
                                        <p:tgtEl>
                                          <p:spTgt spid="2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6" st="6"/>
                                            </p:txEl>
                                          </p:spTgt>
                                        </p:tgtEl>
                                        <p:attrNameLst>
                                          <p:attrName>style.visibility</p:attrName>
                                        </p:attrNameLst>
                                      </p:cBhvr>
                                      <p:to>
                                        <p:strVal val="visible"/>
                                      </p:to>
                                    </p:set>
                                    <p:animEffect filter="fade" transition="in">
                                      <p:cBhvr>
                                        <p:cTn dur="500"/>
                                        <p:tgtEl>
                                          <p:spTgt spid="20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11" name="Shape 211"/>
        <p:cNvGrpSpPr/>
        <p:nvPr/>
      </p:nvGrpSpPr>
      <p:grpSpPr>
        <a:xfrm>
          <a:off x="0" y="0"/>
          <a:ext cx="0" cy="0"/>
          <a:chOff x="0" y="0"/>
          <a:chExt cx="0" cy="0"/>
        </a:xfrm>
      </p:grpSpPr>
      <p:sp>
        <p:nvSpPr>
          <p:cNvPr id="212" name="Google Shape;212;p29"/>
          <p:cNvSpPr txBox="1"/>
          <p:nvPr>
            <p:ph idx="4294967295" type="ctrTitle"/>
          </p:nvPr>
        </p:nvSpPr>
        <p:spPr>
          <a:xfrm>
            <a:off x="685802" y="1991846"/>
            <a:ext cx="7772400" cy="115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2400"/>
              <a:buFont typeface="Nunito Sans"/>
              <a:buNone/>
            </a:pPr>
            <a:r>
              <a:rPr b="1" lang="en-US" sz="3000">
                <a:latin typeface="Century Gothic"/>
                <a:ea typeface="Century Gothic"/>
                <a:cs typeface="Century Gothic"/>
                <a:sym typeface="Century Gothic"/>
              </a:rPr>
              <a:t>Alcance de la propuesta -</a:t>
            </a:r>
            <a:endParaRPr b="1" sz="3000">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FFFFFF"/>
              </a:buClr>
              <a:buSzPts val="2400"/>
              <a:buFont typeface="Nunito Sans"/>
              <a:buNone/>
            </a:pPr>
            <a:r>
              <a:rPr b="1" i="1" lang="en-US" sz="3000" u="none" cap="none" strike="noStrike">
                <a:solidFill>
                  <a:srgbClr val="FFFFFF"/>
                </a:solidFill>
                <a:latin typeface="Century Gothic"/>
                <a:ea typeface="Century Gothic"/>
                <a:cs typeface="Century Gothic"/>
                <a:sym typeface="Century Gothic"/>
              </a:rPr>
              <a:t>Agentes de IA </a:t>
            </a:r>
            <a:endParaRPr b="0" i="0" sz="3000" u="none" cap="none" strike="noStrike">
              <a:solidFill>
                <a:srgbClr val="FFFFFF"/>
              </a:solidFill>
              <a:latin typeface="Century Gothic"/>
              <a:ea typeface="Century Gothic"/>
              <a:cs typeface="Century Gothic"/>
              <a:sym typeface="Century Gothic"/>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6" name="Shape 216"/>
        <p:cNvGrpSpPr/>
        <p:nvPr/>
      </p:nvGrpSpPr>
      <p:grpSpPr>
        <a:xfrm>
          <a:off x="0" y="0"/>
          <a:ext cx="0" cy="0"/>
          <a:chOff x="0" y="0"/>
          <a:chExt cx="0" cy="0"/>
        </a:xfrm>
      </p:grpSpPr>
      <p:graphicFrame>
        <p:nvGraphicFramePr>
          <p:cNvPr id="217" name="Google Shape;217;p31"/>
          <p:cNvGraphicFramePr/>
          <p:nvPr/>
        </p:nvGraphicFramePr>
        <p:xfrm>
          <a:off x="590700" y="1196222"/>
          <a:ext cx="3000000" cy="3000000"/>
        </p:xfrm>
        <a:graphic>
          <a:graphicData uri="http://schemas.openxmlformats.org/drawingml/2006/table">
            <a:tbl>
              <a:tblPr>
                <a:noFill/>
                <a:tableStyleId>{EFFA19D8-3AE0-40E6-8482-E8CE6FBBE91D}</a:tableStyleId>
              </a:tblPr>
              <a:tblGrid>
                <a:gridCol w="5445150"/>
                <a:gridCol w="839150"/>
                <a:gridCol w="839150"/>
                <a:gridCol w="839150"/>
              </a:tblGrid>
              <a:tr h="262875">
                <a:tc>
                  <a:txBody>
                    <a:bodyPr/>
                    <a:lstStyle/>
                    <a:p>
                      <a:pPr indent="0" lvl="0" marL="0" marR="0" rtl="0" algn="l">
                        <a:lnSpc>
                          <a:spcPct val="115000"/>
                        </a:lnSpc>
                        <a:spcBef>
                          <a:spcPts val="0"/>
                        </a:spcBef>
                        <a:spcAft>
                          <a:spcPts val="0"/>
                        </a:spcAft>
                        <a:buClr>
                          <a:srgbClr val="000000"/>
                        </a:buClr>
                        <a:buSzPts val="1200"/>
                        <a:buFont typeface="Arial"/>
                        <a:buNone/>
                      </a:pPr>
                      <a:r>
                        <a:rPr b="1" lang="en-US" sz="1200" u="none" cap="none" strike="noStrike">
                          <a:solidFill>
                            <a:srgbClr val="FFFFFF"/>
                          </a:solidFill>
                          <a:latin typeface="Century Gothic"/>
                          <a:ea typeface="Century Gothic"/>
                          <a:cs typeface="Century Gothic"/>
                          <a:sym typeface="Century Gothic"/>
                        </a:rPr>
                        <a:t>Plataforma integral de atención y automatización para empresas</a:t>
                      </a:r>
                      <a:endParaRPr b="1" sz="1200" u="none" cap="none" strike="noStrike">
                        <a:solidFill>
                          <a:srgbClr val="FFFFFF"/>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a:solidFill>
                            <a:srgbClr val="FFFFFF"/>
                          </a:solidFill>
                          <a:latin typeface="Lato"/>
                          <a:ea typeface="Lato"/>
                          <a:cs typeface="Lato"/>
                          <a:sym typeface="Lato"/>
                        </a:rPr>
                        <a:t>Piloto</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u="none" cap="none" strike="noStrike">
                          <a:solidFill>
                            <a:srgbClr val="FFFFFF"/>
                          </a:solidFill>
                          <a:latin typeface="Lato"/>
                          <a:ea typeface="Lato"/>
                          <a:cs typeface="Lato"/>
                          <a:sym typeface="Lato"/>
                        </a:rPr>
                        <a:t>Premium</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u="none" cap="none" strike="noStrike">
                          <a:solidFill>
                            <a:srgbClr val="FFFFFF"/>
                          </a:solidFill>
                          <a:latin typeface="Lato"/>
                          <a:ea typeface="Lato"/>
                          <a:cs typeface="Lato"/>
                          <a:sym typeface="Lato"/>
                        </a:rPr>
                        <a:t>Profesional</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r>
              <a:tr h="387350">
                <a:tc>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solidFill>
                            <a:srgbClr val="666666"/>
                          </a:solidFill>
                          <a:latin typeface="Century Gothic"/>
                          <a:ea typeface="Century Gothic"/>
                          <a:cs typeface="Century Gothic"/>
                          <a:sym typeface="Century Gothic"/>
                        </a:rPr>
                        <a:t>Acceso</a:t>
                      </a:r>
                      <a:endParaRPr b="1" sz="10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1 cuenta automatizada para la empresa con asesores ilimitados.CRM: categorización, métricas y reportes.</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Seguimiento y filtración de usuarios</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512075">
                <a:tc>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solidFill>
                            <a:srgbClr val="666666"/>
                          </a:solidFill>
                          <a:latin typeface="Century Gothic"/>
                          <a:ea typeface="Century Gothic"/>
                          <a:cs typeface="Century Gothic"/>
                          <a:sym typeface="Century Gothic"/>
                        </a:rPr>
                        <a:t>Integraciones de IA omnicanal</a:t>
                      </a:r>
                      <a:endParaRPr b="1" sz="10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chemeClr val="dk2"/>
                          </a:solidFill>
                          <a:latin typeface="Century Gothic"/>
                          <a:ea typeface="Century Gothic"/>
                          <a:cs typeface="Century Gothic"/>
                          <a:sym typeface="Century Gothic"/>
                        </a:rPr>
                        <a:t>Meta: </a:t>
                      </a:r>
                      <a:r>
                        <a:rPr lang="en-US" sz="800">
                          <a:solidFill>
                            <a:schemeClr val="dk2"/>
                          </a:solidFill>
                          <a:latin typeface="Century Gothic"/>
                          <a:ea typeface="Century Gothic"/>
                          <a:cs typeface="Century Gothic"/>
                          <a:sym typeface="Century Gothic"/>
                        </a:rPr>
                        <a:t>WhatsApp</a:t>
                      </a:r>
                      <a:endParaRPr sz="800" u="none" cap="none" strike="noStrike">
                        <a:solidFill>
                          <a:schemeClr val="dk2"/>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a:solidFill>
                            <a:srgbClr val="666666"/>
                          </a:solidFill>
                          <a:latin typeface="Century Gothic"/>
                          <a:ea typeface="Century Gothic"/>
                          <a:cs typeface="Century Gothic"/>
                          <a:sym typeface="Century Gothic"/>
                        </a:rPr>
                        <a:t>Meta: </a:t>
                      </a:r>
                      <a:r>
                        <a:rPr lang="en-US" sz="800" u="none" cap="none" strike="noStrike">
                          <a:solidFill>
                            <a:srgbClr val="666666"/>
                          </a:solidFill>
                          <a:latin typeface="Century Gothic"/>
                          <a:ea typeface="Century Gothic"/>
                          <a:cs typeface="Century Gothic"/>
                          <a:sym typeface="Century Gothic"/>
                        </a:rPr>
                        <a:t>Facebook</a:t>
                      </a:r>
                      <a:r>
                        <a:rPr lang="en-US" sz="800">
                          <a:solidFill>
                            <a:srgbClr val="666666"/>
                          </a:solidFill>
                          <a:latin typeface="Century Gothic"/>
                          <a:ea typeface="Century Gothic"/>
                          <a:cs typeface="Century Gothic"/>
                          <a:sym typeface="Century Gothic"/>
                        </a:rPr>
                        <a:t>,</a:t>
                      </a:r>
                      <a:r>
                        <a:rPr lang="en-US" sz="800" u="none" cap="none" strike="noStrike">
                          <a:solidFill>
                            <a:srgbClr val="666666"/>
                          </a:solidFill>
                          <a:latin typeface="Century Gothic"/>
                          <a:ea typeface="Century Gothic"/>
                          <a:cs typeface="Century Gothic"/>
                          <a:sym typeface="Century Gothic"/>
                        </a:rPr>
                        <a:t> </a:t>
                      </a:r>
                      <a:r>
                        <a:rPr lang="en-US" sz="800" u="none" cap="none" strike="noStrike">
                          <a:solidFill>
                            <a:schemeClr val="dk2"/>
                          </a:solidFill>
                          <a:latin typeface="Century Gothic"/>
                          <a:ea typeface="Century Gothic"/>
                          <a:cs typeface="Century Gothic"/>
                          <a:sym typeface="Century Gothic"/>
                        </a:rPr>
                        <a:t>Messenger &amp; </a:t>
                      </a:r>
                      <a:r>
                        <a:rPr lang="en-US" sz="800" u="none" cap="none" strike="noStrike">
                          <a:solidFill>
                            <a:srgbClr val="666666"/>
                          </a:solidFill>
                          <a:latin typeface="Century Gothic"/>
                          <a:ea typeface="Century Gothic"/>
                          <a:cs typeface="Century Gothic"/>
                          <a:sym typeface="Century Gothic"/>
                        </a:rPr>
                        <a:t>Instagram </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TikTok, Telegram, y otras (Aplicable para mensajes y co</a:t>
                      </a:r>
                      <a:r>
                        <a:rPr lang="en-US" sz="800">
                          <a:solidFill>
                            <a:srgbClr val="666666"/>
                          </a:solidFill>
                          <a:latin typeface="Century Gothic"/>
                          <a:ea typeface="Century Gothic"/>
                          <a:cs typeface="Century Gothic"/>
                          <a:sym typeface="Century Gothic"/>
                        </a:rPr>
                        <a:t>mentarios con excepciones</a:t>
                      </a:r>
                      <a:r>
                        <a:rPr lang="en-US" sz="800" u="none" cap="none" strike="noStrike">
                          <a:solidFill>
                            <a:srgbClr val="666666"/>
                          </a:solidFill>
                          <a:latin typeface="Century Gothic"/>
                          <a:ea typeface="Century Gothic"/>
                          <a:cs typeface="Century Gothic"/>
                          <a:sym typeface="Century Gothic"/>
                        </a:rPr>
                        <a:t>)</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512075">
                <a:tc>
                  <a:txBody>
                    <a:bodyPr/>
                    <a:lstStyle/>
                    <a:p>
                      <a:pPr indent="0" lvl="0" marL="0" marR="0" rtl="0" algn="l">
                        <a:lnSpc>
                          <a:spcPct val="150000"/>
                        </a:lnSpc>
                        <a:spcBef>
                          <a:spcPts val="0"/>
                        </a:spcBef>
                        <a:spcAft>
                          <a:spcPts val="0"/>
                        </a:spcAft>
                        <a:buClr>
                          <a:srgbClr val="000000"/>
                        </a:buClr>
                        <a:buSzPts val="1100"/>
                        <a:buFont typeface="Arial"/>
                        <a:buNone/>
                      </a:pPr>
                      <a:r>
                        <a:rPr b="1" lang="en-US" sz="1000" u="none" cap="none" strike="noStrike">
                          <a:solidFill>
                            <a:srgbClr val="666666"/>
                          </a:solidFill>
                          <a:latin typeface="Century Gothic"/>
                          <a:ea typeface="Century Gothic"/>
                          <a:cs typeface="Century Gothic"/>
                          <a:sym typeface="Century Gothic"/>
                        </a:rPr>
                        <a:t>Desarrollo e Implementación de Estrategia de Conversión</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1100"/>
                        <a:buFont typeface="Arial"/>
                        <a:buNone/>
                      </a:pPr>
                      <a:r>
                        <a:rPr lang="en-US" sz="800" u="none" cap="none" strike="noStrike">
                          <a:solidFill>
                            <a:srgbClr val="666666"/>
                          </a:solidFill>
                          <a:latin typeface="Century Gothic"/>
                          <a:ea typeface="Century Gothic"/>
                          <a:cs typeface="Century Gothic"/>
                          <a:sym typeface="Century Gothic"/>
                        </a:rPr>
                        <a:t>Atención inmediata de clientes potenciales vía WhatsApp</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25000"/>
                        </a:lnSpc>
                        <a:spcBef>
                          <a:spcPts val="0"/>
                        </a:spcBef>
                        <a:spcAft>
                          <a:spcPts val="0"/>
                        </a:spcAft>
                        <a:buClr>
                          <a:srgbClr val="000000"/>
                        </a:buClr>
                        <a:buSzPts val="1100"/>
                        <a:buFont typeface="Arial"/>
                        <a:buNone/>
                      </a:pPr>
                      <a:r>
                        <a:rPr lang="en-US" sz="800" u="none" cap="none" strike="noStrike">
                          <a:solidFill>
                            <a:srgbClr val="666666"/>
                          </a:solidFill>
                          <a:latin typeface="Century Gothic"/>
                          <a:ea typeface="Century Gothic"/>
                          <a:cs typeface="Century Gothic"/>
                          <a:sym typeface="Century Gothic"/>
                        </a:rPr>
                        <a:t>Implementación de proceso de calificación y agendamiento automático</a:t>
                      </a:r>
                      <a:r>
                        <a:rPr lang="en-US" sz="800">
                          <a:solidFill>
                            <a:srgbClr val="666666"/>
                          </a:solidFill>
                          <a:latin typeface="Century Gothic"/>
                          <a:ea typeface="Century Gothic"/>
                          <a:cs typeface="Century Gothic"/>
                          <a:sym typeface="Century Gothic"/>
                        </a:rPr>
                        <a:t>.</a:t>
                      </a:r>
                      <a:endParaRPr sz="800">
                        <a:solidFill>
                          <a:schemeClr val="dk2"/>
                        </a:solidFill>
                        <a:latin typeface="Century Gothic"/>
                        <a:ea typeface="Century Gothic"/>
                        <a:cs typeface="Century Gothic"/>
                        <a:sym typeface="Century Gothic"/>
                      </a:endParaRPr>
                    </a:p>
                    <a:p>
                      <a:pPr indent="0" lvl="0" marL="0" rtl="0" algn="l">
                        <a:lnSpc>
                          <a:spcPct val="150000"/>
                        </a:lnSpc>
                        <a:spcBef>
                          <a:spcPts val="0"/>
                        </a:spcBef>
                        <a:spcAft>
                          <a:spcPts val="0"/>
                        </a:spcAft>
                        <a:buClr>
                          <a:schemeClr val="dk1"/>
                        </a:buClr>
                        <a:buSzPts val="1100"/>
                        <a:buFont typeface="Arial"/>
                        <a:buNone/>
                      </a:pPr>
                      <a:r>
                        <a:rPr lang="en-US" sz="800">
                          <a:solidFill>
                            <a:schemeClr val="dk2"/>
                          </a:solidFill>
                          <a:latin typeface="Century Gothic"/>
                          <a:ea typeface="Century Gothic"/>
                          <a:cs typeface="Century Gothic"/>
                          <a:sym typeface="Century Gothic"/>
                        </a:rPr>
                        <a:t>Disponibilidad de minutos (Depende el paquete) en atención de solicitudes vía llamada</a:t>
                      </a:r>
                      <a:endParaRPr sz="800">
                        <a:solidFill>
                          <a:schemeClr val="dk2"/>
                        </a:solidFill>
                        <a:latin typeface="Century Gothic"/>
                        <a:ea typeface="Century Gothic"/>
                        <a:cs typeface="Century Gothic"/>
                        <a:sym typeface="Century Gothic"/>
                      </a:endParaRPr>
                    </a:p>
                    <a:p>
                      <a:pPr indent="0" lvl="0" marL="0" rtl="0" algn="l">
                        <a:lnSpc>
                          <a:spcPct val="150000"/>
                        </a:lnSpc>
                        <a:spcBef>
                          <a:spcPts val="0"/>
                        </a:spcBef>
                        <a:spcAft>
                          <a:spcPts val="0"/>
                        </a:spcAft>
                        <a:buClr>
                          <a:schemeClr val="dk1"/>
                        </a:buClr>
                        <a:buSzPts val="1100"/>
                        <a:buFont typeface="Arial"/>
                        <a:buNone/>
                      </a:pPr>
                      <a:r>
                        <a:rPr lang="en-US" sz="800">
                          <a:solidFill>
                            <a:schemeClr val="dk2"/>
                          </a:solidFill>
                          <a:latin typeface="Century Gothic"/>
                          <a:ea typeface="Century Gothic"/>
                          <a:cs typeface="Century Gothic"/>
                          <a:sym typeface="Century Gothic"/>
                        </a:rPr>
                        <a:t>Integración a CRM</a:t>
                      </a:r>
                      <a:endParaRPr sz="800">
                        <a:solidFill>
                          <a:schemeClr val="dk2"/>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u="none" cap="none" strike="noStrike">
                          <a:solidFill>
                            <a:srgbClr val="666666"/>
                          </a:solidFill>
                          <a:latin typeface="Lato"/>
                          <a:ea typeface="Lato"/>
                          <a:cs typeface="Lato"/>
                          <a:sym typeface="Lato"/>
                        </a:rPr>
                        <a:t>1,000</a:t>
                      </a:r>
                      <a:r>
                        <a:rPr lang="en-US" sz="800" u="none" cap="none" strike="noStrike">
                          <a:solidFill>
                            <a:srgbClr val="666666"/>
                          </a:solidFill>
                          <a:latin typeface="Lato"/>
                          <a:ea typeface="Lato"/>
                          <a:cs typeface="Lato"/>
                          <a:sym typeface="Lato"/>
                        </a:rPr>
                        <a:t> </a:t>
                      </a:r>
                      <a:endParaRPr sz="8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900">
                          <a:solidFill>
                            <a:srgbClr val="666666"/>
                          </a:solidFill>
                          <a:latin typeface="Lato"/>
                          <a:ea typeface="Lato"/>
                          <a:cs typeface="Lato"/>
                          <a:sym typeface="Lato"/>
                        </a:rPr>
                        <a:t>0</a:t>
                      </a:r>
                      <a:endParaRPr b="1"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u="none" cap="none" strike="noStrike">
                          <a:solidFill>
                            <a:srgbClr val="666666"/>
                          </a:solidFill>
                          <a:latin typeface="Lato"/>
                          <a:ea typeface="Lato"/>
                          <a:cs typeface="Lato"/>
                          <a:sym typeface="Lato"/>
                        </a:rPr>
                        <a:t>1,500 </a:t>
                      </a:r>
                      <a:endParaRPr sz="10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900">
                          <a:solidFill>
                            <a:srgbClr val="666666"/>
                          </a:solidFill>
                          <a:latin typeface="Lato"/>
                          <a:ea typeface="Lato"/>
                          <a:cs typeface="Lato"/>
                          <a:sym typeface="Lato"/>
                        </a:rPr>
                        <a:t>200</a:t>
                      </a:r>
                      <a:endParaRPr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u="none" cap="none" strike="noStrike">
                          <a:solidFill>
                            <a:srgbClr val="666666"/>
                          </a:solidFill>
                          <a:latin typeface="Lato"/>
                          <a:ea typeface="Lato"/>
                          <a:cs typeface="Lato"/>
                          <a:sym typeface="Lato"/>
                        </a:rPr>
                        <a:t>ilimitados</a:t>
                      </a:r>
                      <a:endParaRPr sz="10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900">
                          <a:solidFill>
                            <a:srgbClr val="666666"/>
                          </a:solidFill>
                          <a:latin typeface="Lato"/>
                          <a:ea typeface="Lato"/>
                          <a:cs typeface="Lato"/>
                          <a:sym typeface="Lato"/>
                        </a:rPr>
                        <a:t>500</a:t>
                      </a:r>
                      <a:endParaRPr sz="1000" u="none" cap="none" strike="noStrike">
                        <a:solidFill>
                          <a:srgbClr val="666666"/>
                        </a:solidFill>
                        <a:latin typeface="Lato"/>
                        <a:ea typeface="Lato"/>
                        <a:cs typeface="Lato"/>
                        <a:sym typeface="Lato"/>
                      </a:endParaRPr>
                    </a:p>
                    <a:p>
                      <a:pPr indent="0" lvl="0" marL="0" marR="0" rtl="0" algn="l">
                        <a:lnSpc>
                          <a:spcPct val="115000"/>
                        </a:lnSpc>
                        <a:spcBef>
                          <a:spcPts val="300"/>
                        </a:spcBef>
                        <a:spcAft>
                          <a:spcPts val="0"/>
                        </a:spcAft>
                        <a:buClr>
                          <a:srgbClr val="000000"/>
                        </a:buClr>
                        <a:buSzPts val="800"/>
                        <a:buFont typeface="Arial"/>
                        <a:buNone/>
                      </a:pPr>
                      <a:r>
                        <a:t/>
                      </a:r>
                      <a:endParaRPr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253150">
                <a:tc>
                  <a:txBody>
                    <a:bodyPr/>
                    <a:lstStyle/>
                    <a:p>
                      <a:pPr indent="0" lvl="0" marL="0" marR="0" rtl="0" algn="l">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t/>
                      </a:r>
                      <a:endParaRPr sz="600" u="none" cap="none" strike="noStrike">
                        <a:solidFill>
                          <a:schemeClr val="dk2"/>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bl>
          </a:graphicData>
        </a:graphic>
      </p:graphicFrame>
      <p:sp>
        <p:nvSpPr>
          <p:cNvPr id="218" name="Google Shape;218;p31"/>
          <p:cNvSpPr txBox="1"/>
          <p:nvPr/>
        </p:nvSpPr>
        <p:spPr>
          <a:xfrm>
            <a:off x="620900" y="661788"/>
            <a:ext cx="77769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200" u="none" cap="none" strike="noStrike">
                <a:solidFill>
                  <a:schemeClr val="accent1"/>
                </a:solidFill>
                <a:latin typeface="Century Gothic"/>
                <a:ea typeface="Century Gothic"/>
                <a:cs typeface="Century Gothic"/>
                <a:sym typeface="Century Gothic"/>
              </a:rPr>
              <a:t>Presupuesto | Agentes de </a:t>
            </a:r>
            <a:r>
              <a:rPr b="1" i="1" lang="en-US" sz="2200" u="none" cap="none" strike="noStrike">
                <a:solidFill>
                  <a:schemeClr val="accent1"/>
                </a:solidFill>
                <a:latin typeface="Century Gothic"/>
                <a:ea typeface="Century Gothic"/>
                <a:cs typeface="Century Gothic"/>
                <a:sym typeface="Century Gothic"/>
              </a:rPr>
              <a:t>IA </a:t>
            </a:r>
            <a:endParaRPr b="1" i="0" sz="2200" u="none" cap="none" strike="noStrike">
              <a:solidFill>
                <a:schemeClr val="accent1"/>
              </a:solidFill>
              <a:latin typeface="Century Gothic"/>
              <a:ea typeface="Century Gothic"/>
              <a:cs typeface="Century Gothic"/>
              <a:sym typeface="Century Gothic"/>
            </a:endParaRPr>
          </a:p>
        </p:txBody>
      </p:sp>
      <p:sp>
        <p:nvSpPr>
          <p:cNvPr id="219" name="Google Shape;219;p31"/>
          <p:cNvSpPr/>
          <p:nvPr/>
        </p:nvSpPr>
        <p:spPr>
          <a:xfrm>
            <a:off x="6359675" y="1599013"/>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
        <p:nvSpPr>
          <p:cNvPr id="220" name="Google Shape;220;p31"/>
          <p:cNvSpPr/>
          <p:nvPr/>
        </p:nvSpPr>
        <p:spPr>
          <a:xfrm>
            <a:off x="7276289" y="1599013"/>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4" u="none" cap="none" strike="noStrike">
              <a:solidFill>
                <a:srgbClr val="000000"/>
              </a:solidFill>
              <a:latin typeface="Nunito Sans"/>
              <a:ea typeface="Nunito Sans"/>
              <a:cs typeface="Nunito Sans"/>
              <a:sym typeface="Nunito Sans"/>
            </a:endParaRPr>
          </a:p>
        </p:txBody>
      </p:sp>
      <p:sp>
        <p:nvSpPr>
          <p:cNvPr id="221" name="Google Shape;221;p31"/>
          <p:cNvSpPr/>
          <p:nvPr/>
        </p:nvSpPr>
        <p:spPr>
          <a:xfrm>
            <a:off x="8156438" y="1599013"/>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4" u="none" cap="none" strike="noStrike">
              <a:solidFill>
                <a:srgbClr val="000000"/>
              </a:solidFill>
              <a:latin typeface="Nunito Sans"/>
              <a:ea typeface="Nunito Sans"/>
              <a:cs typeface="Nunito Sans"/>
              <a:sym typeface="Nunito Sans"/>
            </a:endParaRPr>
          </a:p>
        </p:txBody>
      </p:sp>
      <p:sp>
        <p:nvSpPr>
          <p:cNvPr id="222" name="Google Shape;222;p31"/>
          <p:cNvSpPr/>
          <p:nvPr/>
        </p:nvSpPr>
        <p:spPr>
          <a:xfrm>
            <a:off x="6359675" y="2096792"/>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
        <p:nvSpPr>
          <p:cNvPr id="223" name="Google Shape;223;p31"/>
          <p:cNvSpPr/>
          <p:nvPr/>
        </p:nvSpPr>
        <p:spPr>
          <a:xfrm>
            <a:off x="7268999" y="2096800"/>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4" u="none" cap="none" strike="noStrike">
              <a:solidFill>
                <a:srgbClr val="000000"/>
              </a:solidFill>
              <a:latin typeface="Nunito Sans"/>
              <a:ea typeface="Nunito Sans"/>
              <a:cs typeface="Nunito Sans"/>
              <a:sym typeface="Nunito Sans"/>
            </a:endParaRPr>
          </a:p>
        </p:txBody>
      </p:sp>
      <p:sp>
        <p:nvSpPr>
          <p:cNvPr id="224" name="Google Shape;224;p31"/>
          <p:cNvSpPr/>
          <p:nvPr/>
        </p:nvSpPr>
        <p:spPr>
          <a:xfrm>
            <a:off x="8178319" y="2096805"/>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4" u="none" cap="none" strike="noStrike">
              <a:solidFill>
                <a:srgbClr val="000000"/>
              </a:solidFill>
              <a:latin typeface="Nunito Sans"/>
              <a:ea typeface="Nunito Sans"/>
              <a:cs typeface="Nunito Sans"/>
              <a:sym typeface="Nunito Sans"/>
            </a:endParaRPr>
          </a:p>
        </p:txBody>
      </p:sp>
      <p:sp>
        <p:nvSpPr>
          <p:cNvPr id="225" name="Google Shape;225;p31"/>
          <p:cNvSpPr/>
          <p:nvPr/>
        </p:nvSpPr>
        <p:spPr>
          <a:xfrm>
            <a:off x="8178319" y="2272254"/>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4" u="none" cap="none" strike="noStrike">
              <a:solidFill>
                <a:srgbClr val="000000"/>
              </a:solidFill>
              <a:latin typeface="Nunito Sans"/>
              <a:ea typeface="Nunito Sans"/>
              <a:cs typeface="Nunito Sans"/>
              <a:sym typeface="Nunito Sans"/>
            </a:endParaRPr>
          </a:p>
        </p:txBody>
      </p:sp>
      <p:sp>
        <p:nvSpPr>
          <p:cNvPr id="226" name="Google Shape;226;p31"/>
          <p:cNvSpPr/>
          <p:nvPr/>
        </p:nvSpPr>
        <p:spPr>
          <a:xfrm>
            <a:off x="8178319" y="2433418"/>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4" u="none" cap="none" strike="noStrike">
              <a:solidFill>
                <a:srgbClr val="000000"/>
              </a:solidFill>
              <a:latin typeface="Nunito Sans"/>
              <a:ea typeface="Nunito Sans"/>
              <a:cs typeface="Nunito Sans"/>
              <a:sym typeface="Nunito Sans"/>
            </a:endParaRPr>
          </a:p>
        </p:txBody>
      </p:sp>
      <p:sp>
        <p:nvSpPr>
          <p:cNvPr id="227" name="Google Shape;227;p31"/>
          <p:cNvSpPr/>
          <p:nvPr/>
        </p:nvSpPr>
        <p:spPr>
          <a:xfrm>
            <a:off x="7276310" y="2272254"/>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
        <p:nvSpPr>
          <p:cNvPr id="228" name="Google Shape;228;p31"/>
          <p:cNvSpPr/>
          <p:nvPr/>
        </p:nvSpPr>
        <p:spPr>
          <a:xfrm>
            <a:off x="7276289" y="1760188"/>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4" u="none" cap="none" strike="noStrike">
              <a:solidFill>
                <a:srgbClr val="000000"/>
              </a:solidFill>
              <a:latin typeface="Nunito Sans"/>
              <a:ea typeface="Nunito Sans"/>
              <a:cs typeface="Nunito Sans"/>
              <a:sym typeface="Nunito Sans"/>
            </a:endParaRPr>
          </a:p>
        </p:txBody>
      </p:sp>
      <p:sp>
        <p:nvSpPr>
          <p:cNvPr id="229" name="Google Shape;229;p31"/>
          <p:cNvSpPr/>
          <p:nvPr/>
        </p:nvSpPr>
        <p:spPr>
          <a:xfrm>
            <a:off x="8156438" y="1760188"/>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844"/>
              <a:buFont typeface="Arial"/>
              <a:buNone/>
            </a:pPr>
            <a:r>
              <a:t/>
            </a:r>
            <a:endParaRPr b="0" i="0" sz="844" u="none" cap="none" strike="noStrike">
              <a:solidFill>
                <a:srgbClr val="000000"/>
              </a:solidFill>
              <a:latin typeface="Nunito Sans"/>
              <a:ea typeface="Nunito Sans"/>
              <a:cs typeface="Nunito Sans"/>
              <a:sym typeface="Nunito Sans"/>
            </a:endParaRPr>
          </a:p>
        </p:txBody>
      </p:sp>
      <p:sp>
        <p:nvSpPr>
          <p:cNvPr id="230" name="Google Shape;230;p31"/>
          <p:cNvSpPr/>
          <p:nvPr/>
        </p:nvSpPr>
        <p:spPr>
          <a:xfrm>
            <a:off x="2116075" y="3911650"/>
            <a:ext cx="1790700" cy="555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Ticket Promedio: $180,000,000  Apartamentos</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Tasa de atención actual: 53%</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Tasa de Cierre: 70%</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Margen Operativo: 3%</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Ciclo de Venta: 1 semana</a:t>
            </a:r>
            <a:endParaRPr b="1" i="0" sz="600" u="none" cap="none" strike="noStrike">
              <a:solidFill>
                <a:srgbClr val="FFFFFF"/>
              </a:solidFill>
              <a:latin typeface="Lato"/>
              <a:ea typeface="Lato"/>
              <a:cs typeface="Lato"/>
              <a:sym typeface="Lato"/>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graphicFrame>
        <p:nvGraphicFramePr>
          <p:cNvPr id="235" name="Google Shape;235;g39331c9436a_0_55"/>
          <p:cNvGraphicFramePr/>
          <p:nvPr/>
        </p:nvGraphicFramePr>
        <p:xfrm>
          <a:off x="590700" y="1196222"/>
          <a:ext cx="3000000" cy="3000000"/>
        </p:xfrm>
        <a:graphic>
          <a:graphicData uri="http://schemas.openxmlformats.org/drawingml/2006/table">
            <a:tbl>
              <a:tblPr>
                <a:noFill/>
                <a:tableStyleId>{EFFA19D8-3AE0-40E6-8482-E8CE6FBBE91D}</a:tableStyleId>
              </a:tblPr>
              <a:tblGrid>
                <a:gridCol w="5445150"/>
                <a:gridCol w="1216975"/>
              </a:tblGrid>
              <a:tr h="262875">
                <a:tc>
                  <a:txBody>
                    <a:bodyPr/>
                    <a:lstStyle/>
                    <a:p>
                      <a:pPr indent="0" lvl="0" marL="0" marR="0" rtl="0" algn="l">
                        <a:lnSpc>
                          <a:spcPct val="115000"/>
                        </a:lnSpc>
                        <a:spcBef>
                          <a:spcPts val="0"/>
                        </a:spcBef>
                        <a:spcAft>
                          <a:spcPts val="0"/>
                        </a:spcAft>
                        <a:buClr>
                          <a:srgbClr val="000000"/>
                        </a:buClr>
                        <a:buSzPts val="1200"/>
                        <a:buFont typeface="Arial"/>
                        <a:buNone/>
                      </a:pPr>
                      <a:r>
                        <a:rPr b="1" lang="en-US" sz="1200" u="none" cap="none" strike="noStrike">
                          <a:solidFill>
                            <a:srgbClr val="FFFFFF"/>
                          </a:solidFill>
                          <a:latin typeface="Century Gothic"/>
                          <a:ea typeface="Century Gothic"/>
                          <a:cs typeface="Century Gothic"/>
                          <a:sym typeface="Century Gothic"/>
                        </a:rPr>
                        <a:t>Plataforma integral de atención y automatización para empresas</a:t>
                      </a:r>
                      <a:endParaRPr b="1" sz="1200" u="none" cap="none" strike="noStrike">
                        <a:solidFill>
                          <a:srgbClr val="FFFFFF"/>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a:solidFill>
                            <a:srgbClr val="FFFFFF"/>
                          </a:solidFill>
                          <a:latin typeface="Lato"/>
                          <a:ea typeface="Lato"/>
                          <a:cs typeface="Lato"/>
                          <a:sym typeface="Lato"/>
                        </a:rPr>
                        <a:t>Piloto</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r>
              <a:tr h="387350">
                <a:tc>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solidFill>
                            <a:srgbClr val="666666"/>
                          </a:solidFill>
                          <a:latin typeface="Century Gothic"/>
                          <a:ea typeface="Century Gothic"/>
                          <a:cs typeface="Century Gothic"/>
                          <a:sym typeface="Century Gothic"/>
                        </a:rPr>
                        <a:t>Acceso</a:t>
                      </a:r>
                      <a:endParaRPr b="1" sz="10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1 cuenta automatizada para la empresa con asesores ilimitados.CRM: categorización, métricas y reportes.</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rgbClr val="666666"/>
                          </a:solidFill>
                          <a:latin typeface="Century Gothic"/>
                          <a:ea typeface="Century Gothic"/>
                          <a:cs typeface="Century Gothic"/>
                          <a:sym typeface="Century Gothic"/>
                        </a:rPr>
                        <a:t>Seguimiento y filtración de usuarios</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512075">
                <a:tc>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solidFill>
                            <a:srgbClr val="666666"/>
                          </a:solidFill>
                          <a:latin typeface="Century Gothic"/>
                          <a:ea typeface="Century Gothic"/>
                          <a:cs typeface="Century Gothic"/>
                          <a:sym typeface="Century Gothic"/>
                        </a:rPr>
                        <a:t>Integraciones de IA omnicanal</a:t>
                      </a:r>
                      <a:endParaRPr b="1" sz="10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u="none" cap="none" strike="noStrike">
                          <a:solidFill>
                            <a:schemeClr val="dk2"/>
                          </a:solidFill>
                          <a:latin typeface="Century Gothic"/>
                          <a:ea typeface="Century Gothic"/>
                          <a:cs typeface="Century Gothic"/>
                          <a:sym typeface="Century Gothic"/>
                        </a:rPr>
                        <a:t>Meta: </a:t>
                      </a:r>
                      <a:r>
                        <a:rPr lang="en-US" sz="800">
                          <a:solidFill>
                            <a:schemeClr val="dk2"/>
                          </a:solidFill>
                          <a:latin typeface="Century Gothic"/>
                          <a:ea typeface="Century Gothic"/>
                          <a:cs typeface="Century Gothic"/>
                          <a:sym typeface="Century Gothic"/>
                        </a:rPr>
                        <a:t>WhatsApp</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512075">
                <a:tc>
                  <a:txBody>
                    <a:bodyPr/>
                    <a:lstStyle/>
                    <a:p>
                      <a:pPr indent="0" lvl="0" marL="0" marR="0" rtl="0" algn="l">
                        <a:lnSpc>
                          <a:spcPct val="150000"/>
                        </a:lnSpc>
                        <a:spcBef>
                          <a:spcPts val="0"/>
                        </a:spcBef>
                        <a:spcAft>
                          <a:spcPts val="0"/>
                        </a:spcAft>
                        <a:buClr>
                          <a:srgbClr val="000000"/>
                        </a:buClr>
                        <a:buSzPts val="1100"/>
                        <a:buFont typeface="Arial"/>
                        <a:buNone/>
                      </a:pPr>
                      <a:r>
                        <a:rPr b="1" lang="en-US" sz="1000" u="none" cap="none" strike="noStrike">
                          <a:solidFill>
                            <a:srgbClr val="666666"/>
                          </a:solidFill>
                          <a:latin typeface="Century Gothic"/>
                          <a:ea typeface="Century Gothic"/>
                          <a:cs typeface="Century Gothic"/>
                          <a:sym typeface="Century Gothic"/>
                        </a:rPr>
                        <a:t>Desarrollo e Implementación de Estrategia de Conversión</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1100"/>
                        <a:buFont typeface="Arial"/>
                        <a:buNone/>
                      </a:pPr>
                      <a:r>
                        <a:rPr lang="en-US" sz="800" u="none" cap="none" strike="noStrike">
                          <a:solidFill>
                            <a:srgbClr val="666666"/>
                          </a:solidFill>
                          <a:latin typeface="Century Gothic"/>
                          <a:ea typeface="Century Gothic"/>
                          <a:cs typeface="Century Gothic"/>
                          <a:sym typeface="Century Gothic"/>
                        </a:rPr>
                        <a:t>Atención inmediata de clientes potenciales vía WhatsApp</a:t>
                      </a:r>
                      <a:endParaRPr sz="800" u="none" cap="none" strike="noStrike">
                        <a:solidFill>
                          <a:srgbClr val="666666"/>
                        </a:solidFill>
                        <a:latin typeface="Century Gothic"/>
                        <a:ea typeface="Century Gothic"/>
                        <a:cs typeface="Century Gothic"/>
                        <a:sym typeface="Century Gothic"/>
                      </a:endParaRPr>
                    </a:p>
                    <a:p>
                      <a:pPr indent="0" lvl="0" marL="0" marR="0" rtl="0" algn="l">
                        <a:lnSpc>
                          <a:spcPct val="125000"/>
                        </a:lnSpc>
                        <a:spcBef>
                          <a:spcPts val="0"/>
                        </a:spcBef>
                        <a:spcAft>
                          <a:spcPts val="0"/>
                        </a:spcAft>
                        <a:buClr>
                          <a:srgbClr val="000000"/>
                        </a:buClr>
                        <a:buSzPts val="1100"/>
                        <a:buFont typeface="Arial"/>
                        <a:buNone/>
                      </a:pPr>
                      <a:r>
                        <a:rPr lang="en-US" sz="800" u="none" cap="none" strike="noStrike">
                          <a:solidFill>
                            <a:srgbClr val="666666"/>
                          </a:solidFill>
                          <a:latin typeface="Century Gothic"/>
                          <a:ea typeface="Century Gothic"/>
                          <a:cs typeface="Century Gothic"/>
                          <a:sym typeface="Century Gothic"/>
                        </a:rPr>
                        <a:t>Implementación de proceso de calificación y agendamiento automático</a:t>
                      </a:r>
                      <a:r>
                        <a:rPr lang="en-US" sz="800">
                          <a:solidFill>
                            <a:srgbClr val="666666"/>
                          </a:solidFill>
                          <a:latin typeface="Century Gothic"/>
                          <a:ea typeface="Century Gothic"/>
                          <a:cs typeface="Century Gothic"/>
                          <a:sym typeface="Century Gothic"/>
                        </a:rPr>
                        <a:t>.</a:t>
                      </a:r>
                      <a:endParaRPr sz="800">
                        <a:solidFill>
                          <a:schemeClr val="dk2"/>
                        </a:solidFill>
                        <a:latin typeface="Century Gothic"/>
                        <a:ea typeface="Century Gothic"/>
                        <a:cs typeface="Century Gothic"/>
                        <a:sym typeface="Century Gothic"/>
                      </a:endParaRPr>
                    </a:p>
                    <a:p>
                      <a:pPr indent="0" lvl="0" marL="0" rtl="0" algn="l">
                        <a:lnSpc>
                          <a:spcPct val="150000"/>
                        </a:lnSpc>
                        <a:spcBef>
                          <a:spcPts val="0"/>
                        </a:spcBef>
                        <a:spcAft>
                          <a:spcPts val="0"/>
                        </a:spcAft>
                        <a:buClr>
                          <a:schemeClr val="dk1"/>
                        </a:buClr>
                        <a:buSzPts val="1100"/>
                        <a:buFont typeface="Arial"/>
                        <a:buNone/>
                      </a:pPr>
                      <a:r>
                        <a:rPr lang="en-US" sz="800">
                          <a:solidFill>
                            <a:schemeClr val="dk2"/>
                          </a:solidFill>
                          <a:latin typeface="Century Gothic"/>
                          <a:ea typeface="Century Gothic"/>
                          <a:cs typeface="Century Gothic"/>
                          <a:sym typeface="Century Gothic"/>
                        </a:rPr>
                        <a:t>Integración a CRM</a:t>
                      </a:r>
                      <a:endParaRPr sz="800">
                        <a:solidFill>
                          <a:schemeClr val="dk2"/>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u="none" cap="none" strike="noStrike">
                          <a:solidFill>
                            <a:srgbClr val="666666"/>
                          </a:solidFill>
                          <a:latin typeface="Lato"/>
                          <a:ea typeface="Lato"/>
                          <a:cs typeface="Lato"/>
                          <a:sym typeface="Lato"/>
                        </a:rPr>
                        <a:t>1,000</a:t>
                      </a:r>
                      <a:r>
                        <a:rPr lang="en-US" sz="800" u="none" cap="none" strike="noStrike">
                          <a:solidFill>
                            <a:srgbClr val="666666"/>
                          </a:solidFill>
                          <a:latin typeface="Lato"/>
                          <a:ea typeface="Lato"/>
                          <a:cs typeface="Lato"/>
                          <a:sym typeface="Lato"/>
                        </a:rPr>
                        <a:t> </a:t>
                      </a:r>
                      <a:endParaRPr sz="8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t/>
                      </a:r>
                      <a:endParaRPr b="1"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bl>
          </a:graphicData>
        </a:graphic>
      </p:graphicFrame>
      <p:sp>
        <p:nvSpPr>
          <p:cNvPr id="236" name="Google Shape;236;g39331c9436a_0_55"/>
          <p:cNvSpPr txBox="1"/>
          <p:nvPr/>
        </p:nvSpPr>
        <p:spPr>
          <a:xfrm>
            <a:off x="620900" y="661788"/>
            <a:ext cx="77769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200" u="none" cap="none" strike="noStrike">
                <a:solidFill>
                  <a:schemeClr val="accent1"/>
                </a:solidFill>
                <a:latin typeface="Century Gothic"/>
                <a:ea typeface="Century Gothic"/>
                <a:cs typeface="Century Gothic"/>
                <a:sym typeface="Century Gothic"/>
              </a:rPr>
              <a:t>Presupuesto | Agentes de </a:t>
            </a:r>
            <a:r>
              <a:rPr b="1" i="1" lang="en-US" sz="2200" u="none" cap="none" strike="noStrike">
                <a:solidFill>
                  <a:schemeClr val="accent1"/>
                </a:solidFill>
                <a:latin typeface="Century Gothic"/>
                <a:ea typeface="Century Gothic"/>
                <a:cs typeface="Century Gothic"/>
                <a:sym typeface="Century Gothic"/>
              </a:rPr>
              <a:t>IA </a:t>
            </a:r>
            <a:endParaRPr b="1" i="0" sz="2200" u="none" cap="none" strike="noStrike">
              <a:solidFill>
                <a:schemeClr val="accent1"/>
              </a:solidFill>
              <a:latin typeface="Century Gothic"/>
              <a:ea typeface="Century Gothic"/>
              <a:cs typeface="Century Gothic"/>
              <a:sym typeface="Century Gothic"/>
            </a:endParaRPr>
          </a:p>
        </p:txBody>
      </p:sp>
      <p:sp>
        <p:nvSpPr>
          <p:cNvPr id="237" name="Google Shape;237;g39331c9436a_0_55"/>
          <p:cNvSpPr/>
          <p:nvPr/>
        </p:nvSpPr>
        <p:spPr>
          <a:xfrm>
            <a:off x="6627825" y="1583138"/>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
        <p:nvSpPr>
          <p:cNvPr id="238" name="Google Shape;238;g39331c9436a_0_55"/>
          <p:cNvSpPr/>
          <p:nvPr/>
        </p:nvSpPr>
        <p:spPr>
          <a:xfrm>
            <a:off x="6627825" y="2106842"/>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
        <p:nvSpPr>
          <p:cNvPr id="239" name="Google Shape;239;g39331c9436a_0_55"/>
          <p:cNvSpPr/>
          <p:nvPr/>
        </p:nvSpPr>
        <p:spPr>
          <a:xfrm>
            <a:off x="2116075" y="3911650"/>
            <a:ext cx="1790700" cy="555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Ticket Promedio: $180,000,000  Apartamentos</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Tasa de atención actual: 53%</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Tasa de Cierre: 70%</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Margen Operativo: 3%</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Ciclo de Venta: 1 semana</a:t>
            </a:r>
            <a:endParaRPr b="1" i="0" sz="600" u="none" cap="none" strike="noStrike">
              <a:solidFill>
                <a:srgbClr val="FFFFFF"/>
              </a:solidFill>
              <a:latin typeface="Lato"/>
              <a:ea typeface="Lato"/>
              <a:cs typeface="Lato"/>
              <a:sym typeface="Lato"/>
            </a:endParaRPr>
          </a:p>
        </p:txBody>
      </p:sp>
      <p:graphicFrame>
        <p:nvGraphicFramePr>
          <p:cNvPr id="240" name="Google Shape;240;g39331c9436a_0_55"/>
          <p:cNvGraphicFramePr/>
          <p:nvPr/>
        </p:nvGraphicFramePr>
        <p:xfrm>
          <a:off x="590700" y="3262096"/>
          <a:ext cx="3000000" cy="3000000"/>
        </p:xfrm>
        <a:graphic>
          <a:graphicData uri="http://schemas.openxmlformats.org/drawingml/2006/table">
            <a:tbl>
              <a:tblPr>
                <a:noFill/>
                <a:tableStyleId>{EFFA19D8-3AE0-40E6-8482-E8CE6FBBE91D}</a:tableStyleId>
              </a:tblPr>
              <a:tblGrid>
                <a:gridCol w="5772525"/>
                <a:gridCol w="889600"/>
              </a:tblGrid>
              <a:tr h="244325">
                <a:tc>
                  <a:txBody>
                    <a:bodyPr/>
                    <a:lstStyle/>
                    <a:p>
                      <a:pPr indent="0" lvl="0" marL="0" marR="0" rtl="0" algn="r">
                        <a:lnSpc>
                          <a:spcPct val="115000"/>
                        </a:lnSpc>
                        <a:spcBef>
                          <a:spcPts val="0"/>
                        </a:spcBef>
                        <a:spcAft>
                          <a:spcPts val="0"/>
                        </a:spcAft>
                        <a:buClr>
                          <a:schemeClr val="dk1"/>
                        </a:buClr>
                        <a:buSzPts val="1400"/>
                        <a:buFont typeface="Arial"/>
                        <a:buNone/>
                      </a:pPr>
                      <a:r>
                        <a:rPr b="1" lang="en-US" sz="1200" u="none" cap="none" strike="noStrike">
                          <a:solidFill>
                            <a:schemeClr val="lt1"/>
                          </a:solidFill>
                          <a:latin typeface="Century Gothic"/>
                          <a:ea typeface="Century Gothic"/>
                          <a:cs typeface="Century Gothic"/>
                          <a:sym typeface="Century Gothic"/>
                        </a:rPr>
                        <a:t>TOTAL INVERSIÓN MENSUAL *</a:t>
                      </a:r>
                      <a:endParaRPr b="1" sz="900" u="none" cap="none" strike="noStrike">
                        <a:solidFill>
                          <a:schemeClr val="lt1"/>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chemeClr val="dk1"/>
                        </a:buClr>
                        <a:buSzPts val="1400"/>
                        <a:buFont typeface="Arial"/>
                        <a:buNone/>
                      </a:pPr>
                      <a:r>
                        <a:rPr b="1" lang="en-US" sz="1100" u="none" cap="none" strike="noStrike">
                          <a:solidFill>
                            <a:schemeClr val="lt1"/>
                          </a:solidFill>
                          <a:latin typeface="Century Gothic"/>
                          <a:ea typeface="Century Gothic"/>
                          <a:cs typeface="Century Gothic"/>
                          <a:sym typeface="Century Gothic"/>
                        </a:rPr>
                        <a:t>$</a:t>
                      </a:r>
                      <a:r>
                        <a:rPr b="1" lang="en-US" sz="1100">
                          <a:solidFill>
                            <a:schemeClr val="lt1"/>
                          </a:solidFill>
                          <a:latin typeface="Century Gothic"/>
                          <a:ea typeface="Century Gothic"/>
                          <a:cs typeface="Century Gothic"/>
                          <a:sym typeface="Century Gothic"/>
                        </a:rPr>
                        <a:t>1’12</a:t>
                      </a:r>
                      <a:r>
                        <a:rPr b="1" lang="en-US" sz="1100" u="none" cap="none" strike="noStrike">
                          <a:solidFill>
                            <a:schemeClr val="lt1"/>
                          </a:solidFill>
                          <a:latin typeface="Century Gothic"/>
                          <a:ea typeface="Century Gothic"/>
                          <a:cs typeface="Century Gothic"/>
                          <a:sym typeface="Century Gothic"/>
                        </a:rPr>
                        <a:t>0,000</a:t>
                      </a:r>
                      <a:endParaRPr b="1" sz="800" u="none" cap="none" strike="noStrike">
                        <a:solidFill>
                          <a:schemeClr val="lt1"/>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r>
            </a:tbl>
          </a:graphicData>
        </a:graphic>
      </p:graphicFrame>
      <p:sp>
        <p:nvSpPr>
          <p:cNvPr id="241" name="Google Shape;241;g39331c9436a_0_55"/>
          <p:cNvSpPr/>
          <p:nvPr/>
        </p:nvSpPr>
        <p:spPr>
          <a:xfrm>
            <a:off x="6627825" y="2933592"/>
            <a:ext cx="106800" cy="110400"/>
          </a:xfrm>
          <a:prstGeom prst="diamond">
            <a:avLst/>
          </a:prstGeom>
          <a:solidFill>
            <a:schemeClr val="accent1"/>
          </a:solidFill>
          <a:ln cap="flat" cmpd="sng" w="9525">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marR="0" rtl="0" algn="ctr">
              <a:lnSpc>
                <a:spcPct val="100000"/>
              </a:lnSpc>
              <a:spcBef>
                <a:spcPts val="0"/>
              </a:spcBef>
              <a:spcAft>
                <a:spcPts val="0"/>
              </a:spcAft>
              <a:buClr>
                <a:srgbClr val="000000"/>
              </a:buClr>
              <a:buSzPts val="784"/>
              <a:buFont typeface="Arial"/>
              <a:buNone/>
            </a:pPr>
            <a:r>
              <a:t/>
            </a:r>
            <a:endParaRPr b="0" i="0" sz="784" u="none" cap="none" strike="noStrike">
              <a:solidFill>
                <a:srgbClr val="000000"/>
              </a:solidFill>
              <a:latin typeface="Nunito Sans"/>
              <a:ea typeface="Nunito Sans"/>
              <a:cs typeface="Nunito Sans"/>
              <a:sym typeface="Nunito Sans"/>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45" name="Shape 245"/>
        <p:cNvGrpSpPr/>
        <p:nvPr/>
      </p:nvGrpSpPr>
      <p:grpSpPr>
        <a:xfrm>
          <a:off x="0" y="0"/>
          <a:ext cx="0" cy="0"/>
          <a:chOff x="0" y="0"/>
          <a:chExt cx="0" cy="0"/>
        </a:xfrm>
      </p:grpSpPr>
      <p:sp>
        <p:nvSpPr>
          <p:cNvPr id="246" name="Google Shape;246;g39331c9436a_0_177"/>
          <p:cNvSpPr txBox="1"/>
          <p:nvPr>
            <p:ph idx="4294967295" type="ctrTitle"/>
          </p:nvPr>
        </p:nvSpPr>
        <p:spPr>
          <a:xfrm>
            <a:off x="685802" y="1991846"/>
            <a:ext cx="7772400" cy="115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2400"/>
              <a:buFont typeface="Nunito Sans"/>
              <a:buNone/>
            </a:pPr>
            <a:r>
              <a:rPr b="1" lang="en-US" sz="3000">
                <a:latin typeface="Century Gothic"/>
                <a:ea typeface="Century Gothic"/>
                <a:cs typeface="Century Gothic"/>
                <a:sym typeface="Century Gothic"/>
              </a:rPr>
              <a:t>Métricas de éxito</a:t>
            </a:r>
            <a:r>
              <a:rPr b="1" i="1" lang="en-US" sz="3000" u="none" cap="none" strike="noStrike">
                <a:solidFill>
                  <a:srgbClr val="FFFFFF"/>
                </a:solidFill>
                <a:latin typeface="Century Gothic"/>
                <a:ea typeface="Century Gothic"/>
                <a:cs typeface="Century Gothic"/>
                <a:sym typeface="Century Gothic"/>
              </a:rPr>
              <a:t> </a:t>
            </a:r>
            <a:endParaRPr b="0" i="0" sz="3000" u="none" cap="none" strike="noStrike">
              <a:solidFill>
                <a:srgbClr val="FFFFFF"/>
              </a:solidFill>
              <a:latin typeface="Century Gothic"/>
              <a:ea typeface="Century Gothic"/>
              <a:cs typeface="Century Gothic"/>
              <a:sym typeface="Century Gothic"/>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g39331c9436a_0_73"/>
          <p:cNvSpPr txBox="1"/>
          <p:nvPr>
            <p:ph idx="4294967295" type="body"/>
          </p:nvPr>
        </p:nvSpPr>
        <p:spPr>
          <a:xfrm>
            <a:off x="340775" y="1083975"/>
            <a:ext cx="4100100" cy="3078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 Eficiencia de Atención</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 de conversaciones atendidas</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70%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Operación descargada, IA absorbe la demanda estándar.</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50% – 69%</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Buen avance, ajustes de flujos y respuestas.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&lt; 50%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Dependencia excesiva del equipo humano.</a:t>
            </a:r>
            <a:endParaRPr sz="1200">
              <a:solidFill>
                <a:schemeClr val="dk2"/>
              </a:solidFill>
              <a:latin typeface="Century Gothic"/>
              <a:ea typeface="Century Gothic"/>
              <a:cs typeface="Century Gothic"/>
              <a:sym typeface="Century Gothic"/>
            </a:endParaRPr>
          </a:p>
        </p:txBody>
      </p:sp>
      <p:sp>
        <p:nvSpPr>
          <p:cNvPr id="252" name="Google Shape;252;g39331c9436a_0_73"/>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53" name="Google Shape;253;g39331c9436a_0_73"/>
          <p:cNvSpPr txBox="1"/>
          <p:nvPr>
            <p:ph idx="4294967295" type="title"/>
          </p:nvPr>
        </p:nvSpPr>
        <p:spPr>
          <a:xfrm>
            <a:off x="340775" y="303850"/>
            <a:ext cx="8494800" cy="320700"/>
          </a:xfrm>
          <a:prstGeom prst="rect">
            <a:avLst/>
          </a:prstGeom>
          <a:noFill/>
          <a:ln>
            <a:noFill/>
          </a:ln>
        </p:spPr>
        <p:txBody>
          <a:bodyPr anchorCtr="0" anchor="t" bIns="0" lIns="0" spcFirstLastPara="1" rIns="0" wrap="square" tIns="12700">
            <a:spAutoFit/>
          </a:bodyPr>
          <a:lstStyle/>
          <a:p>
            <a:pPr indent="0" lvl="0" marL="241932"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Métricas de éxito</a:t>
            </a:r>
            <a:endParaRPr sz="2000">
              <a:solidFill>
                <a:schemeClr val="accent1"/>
              </a:solidFill>
              <a:highlight>
                <a:srgbClr val="FFFFFF"/>
              </a:highlight>
              <a:latin typeface="Century Gothic"/>
              <a:ea typeface="Century Gothic"/>
              <a:cs typeface="Century Gothic"/>
              <a:sym typeface="Century Gothic"/>
            </a:endParaRPr>
          </a:p>
        </p:txBody>
      </p:sp>
      <p:sp>
        <p:nvSpPr>
          <p:cNvPr id="254" name="Google Shape;254;g39331c9436a_0_73"/>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lang="en-US" sz="2200">
                <a:solidFill>
                  <a:schemeClr val="accent1"/>
                </a:solidFill>
                <a:latin typeface="Century Gothic"/>
                <a:ea typeface="Century Gothic"/>
                <a:cs typeface="Century Gothic"/>
                <a:sym typeface="Century Gothic"/>
              </a:rPr>
              <a:t>Agentes de </a:t>
            </a:r>
            <a:r>
              <a:rPr b="1" i="0" lang="en-US" sz="2200" u="none" cap="none" strike="noStrike">
                <a:solidFill>
                  <a:schemeClr val="accent1"/>
                </a:solidFill>
                <a:latin typeface="Century Gothic"/>
                <a:ea typeface="Century Gothic"/>
                <a:cs typeface="Century Gothic"/>
                <a:sym typeface="Century Gothic"/>
              </a:rPr>
              <a:t>AI</a:t>
            </a:r>
            <a:endParaRPr i="1" sz="2200" u="none" cap="none" strike="noStrike">
              <a:solidFill>
                <a:schemeClr val="accent1"/>
              </a:solidFill>
              <a:latin typeface="Century Gothic"/>
              <a:ea typeface="Century Gothic"/>
              <a:cs typeface="Century Gothic"/>
              <a:sym typeface="Century Gothic"/>
            </a:endParaRPr>
          </a:p>
        </p:txBody>
      </p:sp>
      <p:sp>
        <p:nvSpPr>
          <p:cNvPr id="255" name="Google Shape;255;g39331c9436a_0_73"/>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6" name="Google Shape;256;g39331c9436a_0_73"/>
          <p:cNvSpPr txBox="1"/>
          <p:nvPr>
            <p:ph idx="4294967295" type="body"/>
          </p:nvPr>
        </p:nvSpPr>
        <p:spPr>
          <a:xfrm>
            <a:off x="4735475" y="1083975"/>
            <a:ext cx="4100100" cy="289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Velocidad de Respuesta</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Tiempo promedio de primera respuesta</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b="1" lang="en-US" sz="1200">
                <a:solidFill>
                  <a:schemeClr val="dk2"/>
                </a:solidFill>
                <a:latin typeface="Century Gothic"/>
                <a:ea typeface="Century Gothic"/>
                <a:cs typeface="Century Gothic"/>
                <a:sym typeface="Century Gothic"/>
              </a:rPr>
              <a:t>🟢</a:t>
            </a:r>
            <a:r>
              <a:rPr lang="en-US" sz="1200">
                <a:solidFill>
                  <a:schemeClr val="dk2"/>
                </a:solidFill>
                <a:latin typeface="Century Gothic"/>
                <a:ea typeface="Century Gothic"/>
                <a:cs typeface="Century Gothic"/>
                <a:sym typeface="Century Gothic"/>
              </a:rPr>
              <a:t>: &lt; 1 minuto</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Experiencia inmediata y diferencial.</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b="1" lang="en-US" sz="1200">
                <a:solidFill>
                  <a:schemeClr val="dk2"/>
                </a:solidFill>
                <a:latin typeface="Century Gothic"/>
                <a:ea typeface="Century Gothic"/>
                <a:cs typeface="Century Gothic"/>
                <a:sym typeface="Century Gothic"/>
              </a:rPr>
              <a:t>🟡</a:t>
            </a:r>
            <a:r>
              <a:rPr lang="en-US" sz="1200">
                <a:solidFill>
                  <a:schemeClr val="dk2"/>
                </a:solidFill>
                <a:latin typeface="Century Gothic"/>
                <a:ea typeface="Century Gothic"/>
                <a:cs typeface="Century Gothic"/>
                <a:sym typeface="Century Gothic"/>
              </a:rPr>
              <a:t>: 1 – 3 minutos</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Aceptable, pero aún dependiente de carga operativa.</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b="1" lang="en-US" sz="1200">
                <a:solidFill>
                  <a:schemeClr val="dk2"/>
                </a:solidFill>
                <a:latin typeface="Century Gothic"/>
                <a:ea typeface="Century Gothic"/>
                <a:cs typeface="Century Gothic"/>
                <a:sym typeface="Century Gothic"/>
              </a:rPr>
              <a:t>🔴</a:t>
            </a:r>
            <a:r>
              <a:rPr lang="en-US" sz="1200">
                <a:solidFill>
                  <a:schemeClr val="dk2"/>
                </a:solidFill>
                <a:latin typeface="Century Gothic"/>
                <a:ea typeface="Century Gothic"/>
                <a:cs typeface="Century Gothic"/>
                <a:sym typeface="Century Gothic"/>
              </a:rPr>
              <a:t>: &gt; 3 minutos</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Riesgo directo a experiencia y conversión.</a:t>
            </a:r>
            <a:endParaRPr sz="1200">
              <a:solidFill>
                <a:schemeClr val="dk2"/>
              </a:solidFill>
              <a:latin typeface="Century Gothic"/>
              <a:ea typeface="Century Gothic"/>
              <a:cs typeface="Century Gothic"/>
              <a:sym typeface="Century Gothic"/>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53"/>
                                        </p:tgtEl>
                                        <p:attrNameLst>
                                          <p:attrName>style.visibility</p:attrName>
                                        </p:attrNameLst>
                                      </p:cBhvr>
                                      <p:to>
                                        <p:strVal val="visible"/>
                                      </p:to>
                                    </p:set>
                                    <p:anim calcmode="lin" valueType="num">
                                      <p:cBhvr additive="base">
                                        <p:cTn dur="1000"/>
                                        <p:tgtEl>
                                          <p:spTgt spid="25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5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5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5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500"/>
                                        <p:tgtEl>
                                          <p:spTgt spid="2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4" st="4"/>
                                            </p:txEl>
                                          </p:spTgt>
                                        </p:tgtEl>
                                        <p:attrNameLst>
                                          <p:attrName>style.visibility</p:attrName>
                                        </p:attrNameLst>
                                      </p:cBhvr>
                                      <p:to>
                                        <p:strVal val="visible"/>
                                      </p:to>
                                    </p:set>
                                    <p:animEffect filter="fade" transition="in">
                                      <p:cBhvr>
                                        <p:cTn dur="500"/>
                                        <p:tgtEl>
                                          <p:spTgt spid="2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5" st="5"/>
                                            </p:txEl>
                                          </p:spTgt>
                                        </p:tgtEl>
                                        <p:attrNameLst>
                                          <p:attrName>style.visibility</p:attrName>
                                        </p:attrNameLst>
                                      </p:cBhvr>
                                      <p:to>
                                        <p:strVal val="visible"/>
                                      </p:to>
                                    </p:set>
                                    <p:animEffect filter="fade" transition="in">
                                      <p:cBhvr>
                                        <p:cTn dur="500"/>
                                        <p:tgtEl>
                                          <p:spTgt spid="2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6" st="6"/>
                                            </p:txEl>
                                          </p:spTgt>
                                        </p:tgtEl>
                                        <p:attrNameLst>
                                          <p:attrName>style.visibility</p:attrName>
                                        </p:attrNameLst>
                                      </p:cBhvr>
                                      <p:to>
                                        <p:strVal val="visible"/>
                                      </p:to>
                                    </p:set>
                                    <p:animEffect filter="fade" transition="in">
                                      <p:cBhvr>
                                        <p:cTn dur="500"/>
                                        <p:tgtEl>
                                          <p:spTgt spid="2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7" st="7"/>
                                            </p:txEl>
                                          </p:spTgt>
                                        </p:tgtEl>
                                        <p:attrNameLst>
                                          <p:attrName>style.visibility</p:attrName>
                                        </p:attrNameLst>
                                      </p:cBhvr>
                                      <p:to>
                                        <p:strVal val="visible"/>
                                      </p:to>
                                    </p:set>
                                    <p:animEffect filter="fade" transition="in">
                                      <p:cBhvr>
                                        <p:cTn dur="500"/>
                                        <p:tgtEl>
                                          <p:spTgt spid="2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8" st="8"/>
                                            </p:txEl>
                                          </p:spTgt>
                                        </p:tgtEl>
                                        <p:attrNameLst>
                                          <p:attrName>style.visibility</p:attrName>
                                        </p:attrNameLst>
                                      </p:cBhvr>
                                      <p:to>
                                        <p:strVal val="visible"/>
                                      </p:to>
                                    </p:set>
                                    <p:animEffect filter="fade" transition="in">
                                      <p:cBhvr>
                                        <p:cTn dur="500"/>
                                        <p:tgtEl>
                                          <p:spTgt spid="25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g39331c9436a_0_82"/>
          <p:cNvSpPr txBox="1"/>
          <p:nvPr>
            <p:ph idx="4294967295" type="body"/>
          </p:nvPr>
        </p:nvSpPr>
        <p:spPr>
          <a:xfrm>
            <a:off x="340775" y="1083975"/>
            <a:ext cx="4100100" cy="289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 </a:t>
            </a:r>
            <a:r>
              <a:rPr b="1" lang="en-US" sz="1600">
                <a:solidFill>
                  <a:schemeClr val="accent1"/>
                </a:solidFill>
                <a:latin typeface="Century Gothic"/>
                <a:ea typeface="Century Gothic"/>
                <a:cs typeface="Century Gothic"/>
                <a:sym typeface="Century Gothic"/>
              </a:rPr>
              <a:t>Calidad de Información</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 de reservas con datos completos y correctos</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95%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Información confiable para la operación.</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85% – 94%</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Requiere afinación de preguntas y validaciones.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&lt; 85%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Genera reprocesos y fricción interna.</a:t>
            </a:r>
            <a:endParaRPr sz="1200">
              <a:solidFill>
                <a:schemeClr val="dk2"/>
              </a:solidFill>
              <a:latin typeface="Century Gothic"/>
              <a:ea typeface="Century Gothic"/>
              <a:cs typeface="Century Gothic"/>
              <a:sym typeface="Century Gothic"/>
            </a:endParaRPr>
          </a:p>
        </p:txBody>
      </p:sp>
      <p:sp>
        <p:nvSpPr>
          <p:cNvPr id="262" name="Google Shape;262;g39331c9436a_0_82"/>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63" name="Google Shape;263;g39331c9436a_0_82"/>
          <p:cNvSpPr txBox="1"/>
          <p:nvPr>
            <p:ph idx="4294967295" type="title"/>
          </p:nvPr>
        </p:nvSpPr>
        <p:spPr>
          <a:xfrm>
            <a:off x="340775" y="303850"/>
            <a:ext cx="8494800" cy="320700"/>
          </a:xfrm>
          <a:prstGeom prst="rect">
            <a:avLst/>
          </a:prstGeom>
          <a:noFill/>
          <a:ln>
            <a:noFill/>
          </a:ln>
        </p:spPr>
        <p:txBody>
          <a:bodyPr anchorCtr="0" anchor="t" bIns="0" lIns="0" spcFirstLastPara="1" rIns="0" wrap="square" tIns="12700">
            <a:spAutoFit/>
          </a:bodyPr>
          <a:lstStyle/>
          <a:p>
            <a:pPr indent="0" lvl="0" marL="241932"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Métricas de éxito</a:t>
            </a:r>
            <a:endParaRPr sz="2000">
              <a:solidFill>
                <a:schemeClr val="accent1"/>
              </a:solidFill>
              <a:highlight>
                <a:srgbClr val="FFFFFF"/>
              </a:highlight>
              <a:latin typeface="Century Gothic"/>
              <a:ea typeface="Century Gothic"/>
              <a:cs typeface="Century Gothic"/>
              <a:sym typeface="Century Gothic"/>
            </a:endParaRPr>
          </a:p>
        </p:txBody>
      </p:sp>
      <p:sp>
        <p:nvSpPr>
          <p:cNvPr id="264" name="Google Shape;264;g39331c9436a_0_82"/>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lang="en-US" sz="2200">
                <a:solidFill>
                  <a:schemeClr val="accent1"/>
                </a:solidFill>
                <a:latin typeface="Century Gothic"/>
                <a:ea typeface="Century Gothic"/>
                <a:cs typeface="Century Gothic"/>
                <a:sym typeface="Century Gothic"/>
              </a:rPr>
              <a:t>Agentes de </a:t>
            </a:r>
            <a:r>
              <a:rPr b="1" i="0" lang="en-US" sz="2200" u="none" cap="none" strike="noStrike">
                <a:solidFill>
                  <a:schemeClr val="accent1"/>
                </a:solidFill>
                <a:latin typeface="Century Gothic"/>
                <a:ea typeface="Century Gothic"/>
                <a:cs typeface="Century Gothic"/>
                <a:sym typeface="Century Gothic"/>
              </a:rPr>
              <a:t>AI</a:t>
            </a:r>
            <a:endParaRPr i="1" sz="2200" u="none" cap="none" strike="noStrike">
              <a:solidFill>
                <a:schemeClr val="accent1"/>
              </a:solidFill>
              <a:latin typeface="Century Gothic"/>
              <a:ea typeface="Century Gothic"/>
              <a:cs typeface="Century Gothic"/>
              <a:sym typeface="Century Gothic"/>
            </a:endParaRPr>
          </a:p>
        </p:txBody>
      </p:sp>
      <p:sp>
        <p:nvSpPr>
          <p:cNvPr id="265" name="Google Shape;265;g39331c9436a_0_82"/>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66" name="Google Shape;266;g39331c9436a_0_82"/>
          <p:cNvSpPr txBox="1"/>
          <p:nvPr>
            <p:ph idx="4294967295" type="body"/>
          </p:nvPr>
        </p:nvSpPr>
        <p:spPr>
          <a:xfrm>
            <a:off x="4735475" y="1083975"/>
            <a:ext cx="4100100" cy="2709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Foco del Equipo Humano</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 de conversaciones derivadas a humano</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Verde: 15% – 25%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Derivaciones estratégicas y de alto valor.</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26% – 40%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Aún hay ruido operativo.</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&gt; 40%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La IA no está filtrando correctamente.</a:t>
            </a:r>
            <a:endParaRPr sz="1200">
              <a:solidFill>
                <a:schemeClr val="dk2"/>
              </a:solidFill>
              <a:latin typeface="Century Gothic"/>
              <a:ea typeface="Century Gothic"/>
              <a:cs typeface="Century Gothic"/>
              <a:sym typeface="Century Gothic"/>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1000"/>
                                        <p:tgtEl>
                                          <p:spTgt spid="26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animEffect filter="fade" transition="in">
                                      <p:cBhvr>
                                        <p:cTn dur="500"/>
                                        <p:tgtEl>
                                          <p:spTgt spid="2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animEffect filter="fade" transition="in">
                                      <p:cBhvr>
                                        <p:cTn dur="500"/>
                                        <p:tgtEl>
                                          <p:spTgt spid="2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animEffect filter="fade" transition="in">
                                      <p:cBhvr>
                                        <p:cTn dur="500"/>
                                        <p:tgtEl>
                                          <p:spTgt spid="2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animEffect filter="fade" transition="in">
                                      <p:cBhvr>
                                        <p:cTn dur="500"/>
                                        <p:tgtEl>
                                          <p:spTgt spid="2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4" st="4"/>
                                            </p:txEl>
                                          </p:spTgt>
                                        </p:tgtEl>
                                        <p:attrNameLst>
                                          <p:attrName>style.visibility</p:attrName>
                                        </p:attrNameLst>
                                      </p:cBhvr>
                                      <p:to>
                                        <p:strVal val="visible"/>
                                      </p:to>
                                    </p:set>
                                    <p:animEffect filter="fade" transition="in">
                                      <p:cBhvr>
                                        <p:cTn dur="500"/>
                                        <p:tgtEl>
                                          <p:spTgt spid="2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5" st="5"/>
                                            </p:txEl>
                                          </p:spTgt>
                                        </p:tgtEl>
                                        <p:attrNameLst>
                                          <p:attrName>style.visibility</p:attrName>
                                        </p:attrNameLst>
                                      </p:cBhvr>
                                      <p:to>
                                        <p:strVal val="visible"/>
                                      </p:to>
                                    </p:set>
                                    <p:animEffect filter="fade" transition="in">
                                      <p:cBhvr>
                                        <p:cTn dur="500"/>
                                        <p:tgtEl>
                                          <p:spTgt spid="2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6" st="6"/>
                                            </p:txEl>
                                          </p:spTgt>
                                        </p:tgtEl>
                                        <p:attrNameLst>
                                          <p:attrName>style.visibility</p:attrName>
                                        </p:attrNameLst>
                                      </p:cBhvr>
                                      <p:to>
                                        <p:strVal val="visible"/>
                                      </p:to>
                                    </p:set>
                                    <p:animEffect filter="fade" transition="in">
                                      <p:cBhvr>
                                        <p:cTn dur="500"/>
                                        <p:tgtEl>
                                          <p:spTgt spid="2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7" st="7"/>
                                            </p:txEl>
                                          </p:spTgt>
                                        </p:tgtEl>
                                        <p:attrNameLst>
                                          <p:attrName>style.visibility</p:attrName>
                                        </p:attrNameLst>
                                      </p:cBhvr>
                                      <p:to>
                                        <p:strVal val="visible"/>
                                      </p:to>
                                    </p:set>
                                    <p:animEffect filter="fade" transition="in">
                                      <p:cBhvr>
                                        <p:cTn dur="500"/>
                                        <p:tgtEl>
                                          <p:spTgt spid="2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8" st="8"/>
                                            </p:txEl>
                                          </p:spTgt>
                                        </p:tgtEl>
                                        <p:attrNameLst>
                                          <p:attrName>style.visibility</p:attrName>
                                        </p:attrNameLst>
                                      </p:cBhvr>
                                      <p:to>
                                        <p:strVal val="visible"/>
                                      </p:to>
                                    </p:set>
                                    <p:animEffect filter="fade" transition="in">
                                      <p:cBhvr>
                                        <p:cTn dur="500"/>
                                        <p:tgtEl>
                                          <p:spTgt spid="26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 name="Shape 270"/>
        <p:cNvGrpSpPr/>
        <p:nvPr/>
      </p:nvGrpSpPr>
      <p:grpSpPr>
        <a:xfrm>
          <a:off x="0" y="0"/>
          <a:ext cx="0" cy="0"/>
          <a:chOff x="0" y="0"/>
          <a:chExt cx="0" cy="0"/>
        </a:xfrm>
      </p:grpSpPr>
      <p:sp>
        <p:nvSpPr>
          <p:cNvPr id="271" name="Google Shape;271;g39331c9436a_0_91"/>
          <p:cNvSpPr txBox="1"/>
          <p:nvPr>
            <p:ph idx="4294967295" type="body"/>
          </p:nvPr>
        </p:nvSpPr>
        <p:spPr>
          <a:xfrm>
            <a:off x="340775" y="1083975"/>
            <a:ext cx="4100100" cy="297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 Gestión de Reservas Especiales</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 de reservas especiales bien calificadas</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Eventos, celebraciones, +30 personas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90%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Equipo comercial recibe oportunidades listas.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75% – 89%</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Mejora incremental necesaria.</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&lt; 75%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Pérdida de valor comercial.</a:t>
            </a:r>
            <a:endParaRPr sz="1200">
              <a:solidFill>
                <a:schemeClr val="dk2"/>
              </a:solidFill>
              <a:latin typeface="Century Gothic"/>
              <a:ea typeface="Century Gothic"/>
              <a:cs typeface="Century Gothic"/>
              <a:sym typeface="Century Gothic"/>
            </a:endParaRPr>
          </a:p>
        </p:txBody>
      </p:sp>
      <p:sp>
        <p:nvSpPr>
          <p:cNvPr id="272" name="Google Shape;272;g39331c9436a_0_91"/>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73" name="Google Shape;273;g39331c9436a_0_91"/>
          <p:cNvSpPr txBox="1"/>
          <p:nvPr>
            <p:ph idx="4294967295" type="title"/>
          </p:nvPr>
        </p:nvSpPr>
        <p:spPr>
          <a:xfrm>
            <a:off x="340775" y="303850"/>
            <a:ext cx="8494800" cy="320700"/>
          </a:xfrm>
          <a:prstGeom prst="rect">
            <a:avLst/>
          </a:prstGeom>
          <a:noFill/>
          <a:ln>
            <a:noFill/>
          </a:ln>
        </p:spPr>
        <p:txBody>
          <a:bodyPr anchorCtr="0" anchor="t" bIns="0" lIns="0" spcFirstLastPara="1" rIns="0" wrap="square" tIns="12700">
            <a:spAutoFit/>
          </a:bodyPr>
          <a:lstStyle/>
          <a:p>
            <a:pPr indent="0" lvl="0" marL="241932"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Métricas de éxito</a:t>
            </a:r>
            <a:endParaRPr sz="2000">
              <a:solidFill>
                <a:schemeClr val="accent1"/>
              </a:solidFill>
              <a:highlight>
                <a:srgbClr val="FFFFFF"/>
              </a:highlight>
              <a:latin typeface="Century Gothic"/>
              <a:ea typeface="Century Gothic"/>
              <a:cs typeface="Century Gothic"/>
              <a:sym typeface="Century Gothic"/>
            </a:endParaRPr>
          </a:p>
        </p:txBody>
      </p:sp>
      <p:sp>
        <p:nvSpPr>
          <p:cNvPr id="274" name="Google Shape;274;g39331c9436a_0_91"/>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lang="en-US" sz="2200">
                <a:solidFill>
                  <a:schemeClr val="accent1"/>
                </a:solidFill>
                <a:latin typeface="Century Gothic"/>
                <a:ea typeface="Century Gothic"/>
                <a:cs typeface="Century Gothic"/>
                <a:sym typeface="Century Gothic"/>
              </a:rPr>
              <a:t>Agentes de </a:t>
            </a:r>
            <a:r>
              <a:rPr b="1" i="0" lang="en-US" sz="2200" u="none" cap="none" strike="noStrike">
                <a:solidFill>
                  <a:schemeClr val="accent1"/>
                </a:solidFill>
                <a:latin typeface="Century Gothic"/>
                <a:ea typeface="Century Gothic"/>
                <a:cs typeface="Century Gothic"/>
                <a:sym typeface="Century Gothic"/>
              </a:rPr>
              <a:t>AI</a:t>
            </a:r>
            <a:endParaRPr i="1" sz="2200" u="none" cap="none" strike="noStrike">
              <a:solidFill>
                <a:schemeClr val="accent1"/>
              </a:solidFill>
              <a:latin typeface="Century Gothic"/>
              <a:ea typeface="Century Gothic"/>
              <a:cs typeface="Century Gothic"/>
              <a:sym typeface="Century Gothic"/>
            </a:endParaRPr>
          </a:p>
        </p:txBody>
      </p:sp>
      <p:sp>
        <p:nvSpPr>
          <p:cNvPr id="275" name="Google Shape;275;g39331c9436a_0_91"/>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76" name="Google Shape;276;g39331c9436a_0_91"/>
          <p:cNvSpPr txBox="1"/>
          <p:nvPr>
            <p:ph idx="4294967295" type="body"/>
          </p:nvPr>
        </p:nvSpPr>
        <p:spPr>
          <a:xfrm>
            <a:off x="4735475" y="1607325"/>
            <a:ext cx="4100100" cy="192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Impacto Organizacional</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Percepción del equipo operativo (Interno)</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Ahorro claro de tiempo + menor estrés operativo</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Ahorro parcial, aún ajustes necesarios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60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No se percibe mejora real</a:t>
            </a:r>
            <a:endParaRPr sz="1200">
              <a:solidFill>
                <a:schemeClr val="dk2"/>
              </a:solidFill>
              <a:latin typeface="Century Gothic"/>
              <a:ea typeface="Century Gothic"/>
              <a:cs typeface="Century Gothic"/>
              <a:sym typeface="Century Gothic"/>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1000"/>
                                        <p:tgtEl>
                                          <p:spTgt spid="2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500"/>
                                        <p:tgtEl>
                                          <p:spTgt spid="2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animEffect filter="fade" transition="in">
                                      <p:cBhvr>
                                        <p:cTn dur="500"/>
                                        <p:tgtEl>
                                          <p:spTgt spid="2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animEffect filter="fade" transition="in">
                                      <p:cBhvr>
                                        <p:cTn dur="500"/>
                                        <p:tgtEl>
                                          <p:spTgt spid="2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animEffect filter="fade" transition="in">
                                      <p:cBhvr>
                                        <p:cTn dur="500"/>
                                        <p:tgtEl>
                                          <p:spTgt spid="2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4" st="4"/>
                                            </p:txEl>
                                          </p:spTgt>
                                        </p:tgtEl>
                                        <p:attrNameLst>
                                          <p:attrName>style.visibility</p:attrName>
                                        </p:attrNameLst>
                                      </p:cBhvr>
                                      <p:to>
                                        <p:strVal val="visible"/>
                                      </p:to>
                                    </p:set>
                                    <p:animEffect filter="fade" transition="in">
                                      <p:cBhvr>
                                        <p:cTn dur="500"/>
                                        <p:tgtEl>
                                          <p:spTgt spid="2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5" st="5"/>
                                            </p:txEl>
                                          </p:spTgt>
                                        </p:tgtEl>
                                        <p:attrNameLst>
                                          <p:attrName>style.visibility</p:attrName>
                                        </p:attrNameLst>
                                      </p:cBhvr>
                                      <p:to>
                                        <p:strVal val="visible"/>
                                      </p:to>
                                    </p:set>
                                    <p:animEffect filter="fade" transition="in">
                                      <p:cBhvr>
                                        <p:cTn dur="500"/>
                                        <p:tgtEl>
                                          <p:spTgt spid="2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6" st="6"/>
                                            </p:txEl>
                                          </p:spTgt>
                                        </p:tgtEl>
                                        <p:attrNameLst>
                                          <p:attrName>style.visibility</p:attrName>
                                        </p:attrNameLst>
                                      </p:cBhvr>
                                      <p:to>
                                        <p:strVal val="visible"/>
                                      </p:to>
                                    </p:set>
                                    <p:animEffect filter="fade" transition="in">
                                      <p:cBhvr>
                                        <p:cTn dur="500"/>
                                        <p:tgtEl>
                                          <p:spTgt spid="27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7" st="7"/>
                                            </p:txEl>
                                          </p:spTgt>
                                        </p:tgtEl>
                                        <p:attrNameLst>
                                          <p:attrName>style.visibility</p:attrName>
                                        </p:attrNameLst>
                                      </p:cBhvr>
                                      <p:to>
                                        <p:strVal val="visible"/>
                                      </p:to>
                                    </p:set>
                                    <p:animEffect filter="fade" transition="in">
                                      <p:cBhvr>
                                        <p:cTn dur="500"/>
                                        <p:tgtEl>
                                          <p:spTgt spid="27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8" st="8"/>
                                            </p:txEl>
                                          </p:spTgt>
                                        </p:tgtEl>
                                        <p:attrNameLst>
                                          <p:attrName>style.visibility</p:attrName>
                                        </p:attrNameLst>
                                      </p:cBhvr>
                                      <p:to>
                                        <p:strVal val="visible"/>
                                      </p:to>
                                    </p:set>
                                    <p:animEffect filter="fade" transition="in">
                                      <p:cBhvr>
                                        <p:cTn dur="500"/>
                                        <p:tgtEl>
                                          <p:spTgt spid="27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9" st="9"/>
                                            </p:txEl>
                                          </p:spTgt>
                                        </p:tgtEl>
                                        <p:attrNameLst>
                                          <p:attrName>style.visibility</p:attrName>
                                        </p:attrNameLst>
                                      </p:cBhvr>
                                      <p:to>
                                        <p:strVal val="visible"/>
                                      </p:to>
                                    </p:set>
                                    <p:animEffect filter="fade" transition="in">
                                      <p:cBhvr>
                                        <p:cTn dur="500"/>
                                        <p:tgtEl>
                                          <p:spTgt spid="27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sp>
        <p:nvSpPr>
          <p:cNvPr id="281" name="Google Shape;281;g3a76c59d471_0_2"/>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82" name="Google Shape;282;g3a76c59d471_0_2"/>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Century Gothic"/>
                <a:ea typeface="Century Gothic"/>
                <a:cs typeface="Century Gothic"/>
                <a:sym typeface="Century Gothic"/>
              </a:rPr>
              <a:t>Agentes de AI |</a:t>
            </a:r>
            <a:r>
              <a:rPr b="1" i="1" lang="en-US" sz="2200" u="none" cap="none" strike="noStrike">
                <a:solidFill>
                  <a:schemeClr val="accent1"/>
                </a:solidFill>
                <a:latin typeface="Century Gothic"/>
                <a:ea typeface="Century Gothic"/>
                <a:cs typeface="Century Gothic"/>
                <a:sym typeface="Century Gothic"/>
              </a:rPr>
              <a:t>Don Hidalgo</a:t>
            </a:r>
            <a:endParaRPr b="0" i="1" sz="2200" u="none" cap="none" strike="noStrike">
              <a:solidFill>
                <a:schemeClr val="accent1"/>
              </a:solidFill>
              <a:latin typeface="Century Gothic"/>
              <a:ea typeface="Century Gothic"/>
              <a:cs typeface="Century Gothic"/>
              <a:sym typeface="Century Gothic"/>
            </a:endParaRPr>
          </a:p>
        </p:txBody>
      </p:sp>
      <p:sp>
        <p:nvSpPr>
          <p:cNvPr id="283" name="Google Shape;283;g3a76c59d471_0_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284" name="Google Shape;284;g3a76c59d471_0_2"/>
          <p:cNvSpPr txBox="1"/>
          <p:nvPr/>
        </p:nvSpPr>
        <p:spPr>
          <a:xfrm>
            <a:off x="814950" y="304350"/>
            <a:ext cx="63234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Lato"/>
                <a:ea typeface="Lato"/>
                <a:cs typeface="Lato"/>
                <a:sym typeface="Lato"/>
              </a:rPr>
              <a:t>Condiciones de Servicios de Agentes de IA</a:t>
            </a:r>
            <a:endParaRPr b="1" i="0" sz="2200" u="none" cap="none" strike="noStrike">
              <a:solidFill>
                <a:schemeClr val="accent1"/>
              </a:solidFill>
              <a:latin typeface="Lato"/>
              <a:ea typeface="Lato"/>
              <a:cs typeface="Lato"/>
              <a:sym typeface="Lato"/>
            </a:endParaRPr>
          </a:p>
        </p:txBody>
      </p:sp>
      <p:graphicFrame>
        <p:nvGraphicFramePr>
          <p:cNvPr id="285" name="Google Shape;285;g3a76c59d471_0_2"/>
          <p:cNvGraphicFramePr/>
          <p:nvPr/>
        </p:nvGraphicFramePr>
        <p:xfrm>
          <a:off x="1282650" y="1060088"/>
          <a:ext cx="3000000" cy="3000000"/>
        </p:xfrm>
        <a:graphic>
          <a:graphicData uri="http://schemas.openxmlformats.org/drawingml/2006/table">
            <a:tbl>
              <a:tblPr>
                <a:noFill/>
                <a:tableStyleId>{EFFA19D8-3AE0-40E6-8482-E8CE6FBBE91D}</a:tableStyleId>
              </a:tblPr>
              <a:tblGrid>
                <a:gridCol w="1738975"/>
                <a:gridCol w="5478175"/>
              </a:tblGrid>
              <a:tr h="12326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Precios:</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El precio dispuesto podrá variar tanto por aumento de requerimientos mensuales, así como por aumentos anuales de inflación, situación que se comunicará con antelación para mediar nuevas condiciones. Todos los precios en este documento son en pesos colombianos (COP). </a:t>
                      </a:r>
                      <a:endParaRPr sz="1100" u="none" cap="none" strike="noStrike">
                        <a:solidFill>
                          <a:srgbClr val="666666"/>
                        </a:solidFill>
                        <a:latin typeface="Lato"/>
                        <a:ea typeface="Lato"/>
                        <a:cs typeface="Lato"/>
                        <a:sym typeface="Lato"/>
                      </a:endParaRPr>
                    </a:p>
                  </a:txBody>
                  <a:tcPr marT="91425" marB="91425" marR="68575" marL="68575"/>
                </a:tc>
              </a:tr>
              <a:tr h="594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Forma de Pago: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Mensual anticipada.</a:t>
                      </a:r>
                      <a:endParaRPr sz="1100" u="none" cap="none" strike="noStrike">
                        <a:solidFill>
                          <a:srgbClr val="666666"/>
                        </a:solidFill>
                        <a:latin typeface="Lato"/>
                        <a:ea typeface="Lato"/>
                        <a:cs typeface="Lato"/>
                        <a:sym typeface="Lato"/>
                      </a:endParaRPr>
                    </a:p>
                  </a:txBody>
                  <a:tcPr marT="91425" marB="91425" marR="68575" marL="68575"/>
                </a:tc>
              </a:tr>
              <a:tr h="4022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Plazo de Contrato: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Trimestral. El servicio podrá cancelarse con 30 días de antelación, por medio de notificación escrita por correo electrónico. Una vez enviada la notificación, el cliente no queda exonerado del pago de los gastos incurridos hasta la finalización del contrato. Para el ejercicio de este piloto</a:t>
                      </a:r>
                      <a:r>
                        <a:rPr lang="en-US" sz="1100">
                          <a:solidFill>
                            <a:srgbClr val="666666"/>
                          </a:solidFill>
                          <a:latin typeface="Lato"/>
                          <a:ea typeface="Lato"/>
                          <a:cs typeface="Lato"/>
                          <a:sym typeface="Lato"/>
                        </a:rPr>
                        <a:t>, el periodo de operación es de 2 meses mínimo a partir de la firma del contrato y podrá ser cancelado dentro los primeros 30 días.</a:t>
                      </a:r>
                      <a:endParaRPr sz="1100">
                        <a:solidFill>
                          <a:srgbClr val="666666"/>
                        </a:solidFill>
                        <a:latin typeface="Lato"/>
                        <a:ea typeface="Lato"/>
                        <a:cs typeface="Lato"/>
                        <a:sym typeface="Lato"/>
                      </a:endParaRPr>
                    </a:p>
                    <a:p>
                      <a:pPr indent="0" lvl="0" marL="0" marR="0" rtl="0" algn="just">
                        <a:lnSpc>
                          <a:spcPct val="115000"/>
                        </a:lnSpc>
                        <a:spcBef>
                          <a:spcPts val="0"/>
                        </a:spcBef>
                        <a:spcAft>
                          <a:spcPts val="0"/>
                        </a:spcAft>
                        <a:buClr>
                          <a:srgbClr val="000000"/>
                        </a:buClr>
                        <a:buSzPts val="1100"/>
                        <a:buFont typeface="Arial"/>
                        <a:buNone/>
                      </a:pPr>
                      <a:r>
                        <a:t/>
                      </a:r>
                      <a:endParaRPr sz="1100">
                        <a:solidFill>
                          <a:srgbClr val="666666"/>
                        </a:solidFill>
                        <a:latin typeface="Lato"/>
                        <a:ea typeface="Lato"/>
                        <a:cs typeface="Lato"/>
                        <a:sym typeface="Lato"/>
                      </a:endParaRPr>
                    </a:p>
                  </a:txBody>
                  <a:tcPr marT="91425" marB="91425" marR="68575" marL="68575"/>
                </a:tc>
              </a:tr>
              <a:tr h="3540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Vigencia de oferta:</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15 días a partir de la fecha de este documento.</a:t>
                      </a:r>
                      <a:endParaRPr sz="1100" u="none" cap="none" strike="noStrike">
                        <a:solidFill>
                          <a:srgbClr val="666666"/>
                        </a:solidFill>
                        <a:latin typeface="Lato"/>
                        <a:ea typeface="Lato"/>
                        <a:cs typeface="Lato"/>
                        <a:sym typeface="Lato"/>
                      </a:endParaRPr>
                    </a:p>
                  </a:txBody>
                  <a:tcPr marT="91425" marB="91425" marR="68575" marL="68575"/>
                </a:tc>
              </a:tr>
            </a:tbl>
          </a:graphicData>
        </a:graphic>
      </p:graphicFrame>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g391467adb57_0_0"/>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91" name="Google Shape;291;g391467adb57_0_0"/>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Century Gothic"/>
                <a:ea typeface="Century Gothic"/>
                <a:cs typeface="Century Gothic"/>
                <a:sym typeface="Century Gothic"/>
              </a:rPr>
              <a:t>Agentes de AI |Llamadas</a:t>
            </a:r>
            <a:endParaRPr b="0" i="1" sz="2200" u="none" cap="none" strike="noStrike">
              <a:solidFill>
                <a:schemeClr val="accent1"/>
              </a:solidFill>
              <a:latin typeface="Century Gothic"/>
              <a:ea typeface="Century Gothic"/>
              <a:cs typeface="Century Gothic"/>
              <a:sym typeface="Century Gothic"/>
            </a:endParaRPr>
          </a:p>
        </p:txBody>
      </p:sp>
      <p:sp>
        <p:nvSpPr>
          <p:cNvPr id="292" name="Google Shape;292;g391467adb57_0_0"/>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293" name="Google Shape;293;g391467adb57_0_0"/>
          <p:cNvSpPr txBox="1"/>
          <p:nvPr/>
        </p:nvSpPr>
        <p:spPr>
          <a:xfrm>
            <a:off x="814950" y="304350"/>
            <a:ext cx="63234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Lato"/>
                <a:ea typeface="Lato"/>
                <a:cs typeface="Lato"/>
                <a:sym typeface="Lato"/>
              </a:rPr>
              <a:t>Llamadas salientes con IA</a:t>
            </a:r>
            <a:endParaRPr b="1" i="0" sz="2200" u="none" cap="none" strike="noStrike">
              <a:solidFill>
                <a:schemeClr val="accent1"/>
              </a:solidFill>
              <a:latin typeface="Lato"/>
              <a:ea typeface="Lato"/>
              <a:cs typeface="Lato"/>
              <a:sym typeface="Lato"/>
            </a:endParaRPr>
          </a:p>
        </p:txBody>
      </p:sp>
      <p:graphicFrame>
        <p:nvGraphicFramePr>
          <p:cNvPr id="294" name="Google Shape;294;g391467adb57_0_0"/>
          <p:cNvGraphicFramePr/>
          <p:nvPr/>
        </p:nvGraphicFramePr>
        <p:xfrm>
          <a:off x="1282650" y="1060088"/>
          <a:ext cx="3000000" cy="3000000"/>
        </p:xfrm>
        <a:graphic>
          <a:graphicData uri="http://schemas.openxmlformats.org/drawingml/2006/table">
            <a:tbl>
              <a:tblPr>
                <a:noFill/>
                <a:tableStyleId>{EFFA19D8-3AE0-40E6-8482-E8CE6FBBE91D}</a:tableStyleId>
              </a:tblPr>
              <a:tblGrid>
                <a:gridCol w="1738975"/>
                <a:gridCol w="5478175"/>
              </a:tblGrid>
              <a:tr h="12326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Precios:</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El precio dispuesto podrá variar tanto por aumento de requerimientos mensuales, así como por aumentos anuales de inflación, situación que se comunicará con antelación para mediar nuevas condiciones. Todos los precios en este documento son en pesos colombianos (COP). </a:t>
                      </a:r>
                      <a:endParaRPr sz="1100" u="none" cap="none" strike="noStrike">
                        <a:solidFill>
                          <a:srgbClr val="666666"/>
                        </a:solidFill>
                        <a:latin typeface="Lato"/>
                        <a:ea typeface="Lato"/>
                        <a:cs typeface="Lato"/>
                        <a:sym typeface="Lato"/>
                      </a:endParaRPr>
                    </a:p>
                  </a:txBody>
                  <a:tcPr marT="91425" marB="91425" marR="68575" marL="68575"/>
                </a:tc>
              </a:tr>
              <a:tr h="594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Forma de Pago: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l">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Costo por minuto - modelo “Pay as you go”, donde pagas por lo que uses, llama a tus clientes para ofrecer nuevos productos, recibir opiniones, informar sobre novedades sobre sus pedidos,  y todo lo que tu empresa quiera comunicar.</a:t>
                      </a:r>
                      <a:endParaRPr sz="1100" u="none" cap="none" strike="noStrike">
                        <a:solidFill>
                          <a:srgbClr val="666666"/>
                        </a:solidFill>
                        <a:latin typeface="Lato"/>
                        <a:ea typeface="Lato"/>
                        <a:cs typeface="Lato"/>
                        <a:sym typeface="Lato"/>
                      </a:endParaRPr>
                    </a:p>
                  </a:txBody>
                  <a:tcPr marT="91425" marB="91425" marR="68575" marL="68575"/>
                </a:tc>
              </a:tr>
              <a:tr h="4022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Plazo de Contrato: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700 pesos el minuto. Incluye IA GPT 5, Transcripción, Grabación de llamada, extracción de información de la llamada, voz realista y humana o clonación de voz si así lo desean (1 sola clonación de voz, voces posteriores a 50.000 la modificación)</a:t>
                      </a:r>
                      <a:endParaRPr sz="1100" u="none" cap="none" strike="noStrike">
                        <a:solidFill>
                          <a:srgbClr val="666666"/>
                        </a:solidFill>
                        <a:latin typeface="Lato"/>
                        <a:ea typeface="Lato"/>
                        <a:cs typeface="Lato"/>
                        <a:sym typeface="Lato"/>
                      </a:endParaRPr>
                    </a:p>
                  </a:txBody>
                  <a:tcPr marT="91425" marB="91425" marR="68575" marL="68575"/>
                </a:tc>
              </a:tr>
              <a:tr h="3540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Vigencia de oferta:</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15 días a partir de la fecha de este documento.</a:t>
                      </a:r>
                      <a:endParaRPr sz="1100" u="none" cap="none" strike="noStrike">
                        <a:solidFill>
                          <a:srgbClr val="666666"/>
                        </a:solidFill>
                        <a:latin typeface="Lato"/>
                        <a:ea typeface="Lato"/>
                        <a:cs typeface="Lato"/>
                        <a:sym typeface="Lato"/>
                      </a:endParaRPr>
                    </a:p>
                  </a:txBody>
                  <a:tcPr marT="91425" marB="91425" marR="68575" marL="68575"/>
                </a:tc>
              </a:tr>
            </a:tbl>
          </a:graphicData>
        </a:graphic>
      </p:graphicFrame>
    </p:spTree>
  </p:cSld>
  <p:clrMapOvr>
    <a:masterClrMapping/>
  </p:clrMapOvr>
  <p:transition spd="slow">
    <p:fade/>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lysses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lysses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